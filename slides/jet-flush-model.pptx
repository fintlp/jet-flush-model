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dade064d-2fe7-ccc6-dc9d-29183c0dbf25}">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a real optimiser run: the AI lab was asked for a design with at most 4.0 L that still cleans at least 90 % and removes 95 % of solids and 80 % of paper.
Speed figures: the physics model is measured in the browser; the surrogate figure is measured after training; the PreonLab range is a rough estimate extrapolated from FIFTY2 published GPU runtimes, not a benchmark.
Hybrid calibration: the reference data comes from a hidden model with different coefficients and extra effects, standing in for PreonLab. With real PreonLab runs the steps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is a screen recording of the Demo me walkthrough, about 75 seconds.
Opening the link with #demo at the end starts the same walkthrough live; it needs internet. The visitor can stop it at any time with Esc and gets their own design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
        <p:nvSpPr>
          <p:cNvPr id="3" name="Shape 0"/>
          <p:cNvSpPr/>
          <p:nvPr/>
        </p:nvSpPr>
        <p:spPr>
          <a:xfrm>
            <a:off x="457200" y="6400800"/>
            <a:ext cx="11274552" cy="0"/>
          </a:xfrm>
          <a:prstGeom prst="line">
            <a:avLst/>
          </a:prstGeom>
          <a:noFill/>
          <a:ln w="9525">
            <a:solidFill>
              <a:srgbClr val="D3DCDF"/>
            </a:solidFill>
            <a:prstDash val="solid"/>
          </a:ln>
        </p:spPr>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 TargetMode="External"/><Relationship Id="rId2" Type="http://schemas.openxmlformats.org/officeDocument/2006/relationships/video" Target="../media/media-1-1.mp4"/><Relationship Id="rId3" Type="http://schemas.microsoft.com/office/2007/relationships/media" Target="../media/media-1-1.mp4"/><Relationship Id="rId4"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demo" TargetMode="External"/><Relationship Id="rId2" Type="http://schemas.openxmlformats.org/officeDocument/2006/relationships/video" Target="../media/media-3-1.mp4"/><Relationship Id="rId3" Type="http://schemas.microsoft.com/office/2007/relationships/media" Target="../media/media-3-1.mp4"/><Relationship Id="rId4" Type="http://schemas.openxmlformats.org/officeDocument/2006/relationships/image" Target="../media/image-3-3.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v1.1.0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in milliseconds: compare designs quickly, then check the best ones with CFD</a:t>
            </a:r>
            <a:endParaRPr lang="en-US" sz="1600" dirty="0"/>
          </a:p>
        </p:txBody>
      </p:sp>
      <p:pic>
        <p:nvPicPr>
          <p:cNvPr id="4" name="Flush playback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6675120" cy="4543514"/>
          </a:xfrm>
          <a:prstGeom prst="rect">
            <a:avLst/>
          </a:prstGeom>
        </p:spPr>
      </p:pic>
      <p:sp>
        <p:nvSpPr>
          <p:cNvPr id="6" name="Estimate label"/>
          <p:cNvSpPr txBox="1"/>
          <p:nvPr/>
        </p:nvSpPr>
        <p:spPr>
          <a:xfrm>
            <a:off x="7955280" y="1371600"/>
            <a:ext cx="3776472" cy="201168"/>
          </a:xfrm>
          <a:prstGeom prst="rect">
            <a:avLst/>
          </a:prstGeom>
          <a:noFill/>
          <a:ln/>
        </p:spPr>
        <p:txBody>
          <a:bodyPr wrap="square" lIns="0" tIns="0" rIns="0" bIns="0" rtlCol="0" anchor="ctr"/>
          <a:lstStyle/>
          <a:p>
            <a:pPr indent="0" marL="0">
              <a:buNone/>
            </a:pPr>
            <a:r>
              <a:rPr lang="en-US" sz="1000" b="1" spc="100" kern="0" dirty="0">
                <a:solidFill>
                  <a:schemeClr val="accent5"/>
                </a:solidFill>
              </a:rPr>
              <a:t>ILLUSTRATIVE ESTIMATES, DEFAULT DESIGN</a:t>
            </a:r>
            <a:endParaRPr lang="en-US" sz="1000" dirty="0"/>
          </a:p>
        </p:txBody>
      </p:sp>
      <p:sp>
        <p:nvSpPr>
          <p:cNvPr id="7" name="Stat 1 value"/>
          <p:cNvSpPr txBox="1"/>
          <p:nvPr/>
        </p:nvSpPr>
        <p:spPr>
          <a:xfrm>
            <a:off x="7955280" y="164592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88 %</a:t>
            </a:r>
            <a:endParaRPr lang="en-US" sz="4400" dirty="0"/>
          </a:p>
        </p:txBody>
      </p:sp>
      <p:sp>
        <p:nvSpPr>
          <p:cNvPr id="8" name="Stat 1 label"/>
          <p:cNvSpPr txBox="1"/>
          <p:nvPr/>
        </p:nvSpPr>
        <p:spPr>
          <a:xfrm>
            <a:off x="7955280" y="228600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9" name="Stat 2 value"/>
          <p:cNvSpPr txBox="1"/>
          <p:nvPr/>
        </p:nvSpPr>
        <p:spPr>
          <a:xfrm>
            <a:off x="7955280" y="2743200"/>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10" name="Stat 2 label"/>
          <p:cNvSpPr txBox="1"/>
          <p:nvPr/>
        </p:nvSpPr>
        <p:spPr>
          <a:xfrm>
            <a:off x="7955280" y="338328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11" name="Stat 3 value"/>
          <p:cNvSpPr txBox="1"/>
          <p:nvPr/>
        </p:nvSpPr>
        <p:spPr>
          <a:xfrm>
            <a:off x="7955280" y="3840480"/>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2" name="Stat 3 label"/>
          <p:cNvSpPr txBox="1"/>
          <p:nvPr/>
        </p:nvSpPr>
        <p:spPr>
          <a:xfrm>
            <a:off x="7955280" y="448056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3" name="Live link card"/>
          <p:cNvSpPr/>
          <p:nvPr/>
        </p:nvSpPr>
        <p:spPr>
          <a:xfrm>
            <a:off x="7955280" y="4937760"/>
            <a:ext cx="3776472" cy="1033272"/>
          </a:xfrm>
          <a:prstGeom prst="roundRect">
            <a:avLst>
              <a:gd name="adj" fmla="val 7080"/>
            </a:avLst>
          </a:prstGeom>
          <a:solidFill>
            <a:schemeClr val="bg2"/>
          </a:solidFill>
          <a:ln w="12700">
            <a:solidFill>
              <a:schemeClr val="bg2"/>
            </a:solidFill>
            <a:prstDash val="solid"/>
          </a:ln>
        </p:spPr>
      </p:sp>
      <p:sp>
        <p:nvSpPr>
          <p:cNvPr id="14" name="Live link"/>
          <p:cNvSpPr txBox="1"/>
          <p:nvPr/>
        </p:nvSpPr>
        <p:spPr>
          <a:xfrm>
            <a:off x="8138160" y="504748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5"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5" name="Model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Illustrative estimates from a reduced-order model. Coefficients are not yet calibrated against CFD or rig data, so results show trends between designs, not validated values.</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AI lab: let the model search</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v1.1.0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Three ways AI works with the physics model, all running in the browser</a:t>
            </a:r>
            <a:endParaRPr lang="en-US" sz="1600" dirty="0"/>
          </a:p>
        </p:txBody>
      </p:sp>
      <p:pic>
        <p:nvPicPr>
          <p:cNvPr id="5" name="Optimiser chart" descr="Optimiser result: every simulated design as a dot, water per flush against score, best trade-off curve and the best design meeting the targets">    </p:cNvPr>
          <p:cNvPicPr>
            <a:picLocks noChangeAspect="1"/>
          </p:cNvPicPr>
          <p:nvPr/>
        </p:nvPicPr>
        <p:blipFill>
          <a:blip r:embed="rId2"/>
          <a:stretch>
            <a:fillRect/>
          </a:stretch>
        </p:blipFill>
        <p:spPr>
          <a:xfrm>
            <a:off x="457200" y="1508760"/>
            <a:ext cx="6949440" cy="3130758"/>
          </a:xfrm>
          <a:prstGeom prst="rect">
            <a:avLst/>
          </a:prstGeom>
        </p:spPr>
      </p:pic>
      <p:sp>
        <p:nvSpPr>
          <p:cNvPr id="6" name="Chart caption"/>
          <p:cNvSpPr txBox="1"/>
          <p:nvPr/>
        </p:nvSpPr>
        <p:spPr>
          <a:xfrm>
            <a:off x="457200" y="4730958"/>
            <a:ext cx="6949440" cy="502920"/>
          </a:xfrm>
          <a:prstGeom prst="rect">
            <a:avLst/>
          </a:prstGeom>
          <a:noFill/>
          <a:ln/>
        </p:spPr>
        <p:txBody>
          <a:bodyPr wrap="square" lIns="0" tIns="0" rIns="0" bIns="0" rtlCol="0" anchor="t"/>
          <a:lstStyle/>
          <a:p>
            <a:pPr indent="0" marL="0">
              <a:buNone/>
            </a:pPr>
            <a:r>
              <a:rPr lang="en-US" sz="1200" dirty="0">
                <a:solidFill>
                  <a:schemeClr val="accent5"/>
                </a:solidFill>
              </a:rPr>
              <a:t>Each dot is one simulated flush; red rings miss a target. The blue curve is the best trade-off between score and water, and the green star is the best design that meets all targets.</a:t>
            </a:r>
            <a:endParaRPr lang="en-US" sz="1200" dirty="0"/>
          </a:p>
        </p:txBody>
      </p:sp>
      <p:sp>
        <p:nvSpPr>
          <p:cNvPr id="7" name="Speed 1 value"/>
          <p:cNvSpPr txBox="1"/>
          <p:nvPr/>
        </p:nvSpPr>
        <p:spPr>
          <a:xfrm>
            <a:off x="45720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5–20 ms</a:t>
            </a:r>
            <a:endParaRPr lang="en-US" sz="2000" dirty="0"/>
          </a:p>
        </p:txBody>
      </p:sp>
      <p:sp>
        <p:nvSpPr>
          <p:cNvPr id="8" name="Speed 1 label"/>
          <p:cNvSpPr txBox="1"/>
          <p:nvPr/>
        </p:nvSpPr>
        <p:spPr>
          <a:xfrm>
            <a:off x="45720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physics model, per flush</a:t>
            </a:r>
            <a:endParaRPr lang="en-US" sz="1200" dirty="0"/>
          </a:p>
        </p:txBody>
      </p:sp>
      <p:sp>
        <p:nvSpPr>
          <p:cNvPr id="9" name="Speed 2 value"/>
          <p:cNvSpPr txBox="1"/>
          <p:nvPr/>
        </p:nvSpPr>
        <p:spPr>
          <a:xfrm>
            <a:off x="277368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 5 µs</a:t>
            </a:r>
            <a:endParaRPr lang="en-US" sz="2000" dirty="0"/>
          </a:p>
        </p:txBody>
      </p:sp>
      <p:sp>
        <p:nvSpPr>
          <p:cNvPr id="10" name="Speed 2 label"/>
          <p:cNvSpPr txBox="1"/>
          <p:nvPr/>
        </p:nvSpPr>
        <p:spPr>
          <a:xfrm>
            <a:off x="277368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neural surrogate, per design</a:t>
            </a:r>
            <a:endParaRPr lang="en-US" sz="1200" dirty="0"/>
          </a:p>
        </p:txBody>
      </p:sp>
      <p:sp>
        <p:nvSpPr>
          <p:cNvPr id="11" name="Speed 3 value"/>
          <p:cNvSpPr txBox="1"/>
          <p:nvPr/>
        </p:nvSpPr>
        <p:spPr>
          <a:xfrm>
            <a:off x="5090160" y="5257800"/>
            <a:ext cx="2225040" cy="457200"/>
          </a:xfrm>
          <a:prstGeom prst="rect">
            <a:avLst/>
          </a:prstGeom>
          <a:noFill/>
          <a:ln/>
        </p:spPr>
        <p:txBody>
          <a:bodyPr wrap="square" lIns="0" tIns="0" rIns="0" bIns="0" rtlCol="0" anchor="b"/>
          <a:lstStyle/>
          <a:p>
            <a:pPr indent="0" marL="0">
              <a:buNone/>
            </a:pPr>
            <a:r>
              <a:rPr lang="en-US" sz="2000" b="1" dirty="0">
                <a:solidFill>
                  <a:schemeClr val="accent5"/>
                </a:solidFill>
              </a:rPr>
              <a:t>minutes to hours</a:t>
            </a:r>
            <a:endParaRPr lang="en-US" sz="2000" dirty="0"/>
          </a:p>
        </p:txBody>
      </p:sp>
      <p:sp>
        <p:nvSpPr>
          <p:cNvPr id="12" name="Speed 3 label"/>
          <p:cNvSpPr txBox="1"/>
          <p:nvPr/>
        </p:nvSpPr>
        <p:spPr>
          <a:xfrm>
            <a:off x="509016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PreonLab or CFD, rough estimate</a:t>
            </a:r>
            <a:endParaRPr lang="en-US" sz="1200" dirty="0"/>
          </a:p>
        </p:txBody>
      </p:sp>
      <p:sp>
        <p:nvSpPr>
          <p:cNvPr id="13" name="Tool 1 badge"/>
          <p:cNvSpPr/>
          <p:nvPr/>
        </p:nvSpPr>
        <p:spPr>
          <a:xfrm>
            <a:off x="7955280" y="1527048"/>
            <a:ext cx="384048" cy="384048"/>
          </a:xfrm>
          <a:prstGeom prst="ellipse">
            <a:avLst/>
          </a:prstGeom>
          <a:solidFill>
            <a:schemeClr val="accent3"/>
          </a:solidFill>
          <a:ln w="12700">
            <a:solidFill>
              <a:schemeClr val="accent3"/>
            </a:solidFill>
            <a:prstDash val="solid"/>
          </a:ln>
        </p:spPr>
      </p:sp>
      <p:sp>
        <p:nvSpPr>
          <p:cNvPr id="14" name="Tool 1 number"/>
          <p:cNvSpPr txBox="1"/>
          <p:nvPr/>
        </p:nvSpPr>
        <p:spPr>
          <a:xfrm>
            <a:off x="7955280" y="1527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ool 1 title"/>
          <p:cNvSpPr txBox="1"/>
          <p:nvPr/>
        </p:nvSpPr>
        <p:spPr>
          <a:xfrm>
            <a:off x="8485632" y="1508760"/>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Design optimiser</a:t>
            </a:r>
            <a:endParaRPr lang="en-US" sz="1800" dirty="0"/>
          </a:p>
        </p:txBody>
      </p:sp>
      <p:sp>
        <p:nvSpPr>
          <p:cNvPr id="16" name="Tool 1 text"/>
          <p:cNvSpPr txBox="1"/>
          <p:nvPr/>
        </p:nvSpPr>
        <p:spPr>
          <a:xfrm>
            <a:off x="8485632" y="1965960"/>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Finds the best settings you allow, or a design that meets targets such as at most 4.0 L and at least 90 % cleaned. About 540 flushes in 4 seconds.</a:t>
            </a:r>
            <a:endParaRPr lang="en-US" sz="1400" dirty="0"/>
          </a:p>
        </p:txBody>
      </p:sp>
      <p:sp>
        <p:nvSpPr>
          <p:cNvPr id="17" name="Tool 2 badge"/>
          <p:cNvSpPr/>
          <p:nvPr/>
        </p:nvSpPr>
        <p:spPr>
          <a:xfrm>
            <a:off x="7955280" y="3099816"/>
            <a:ext cx="384048" cy="384048"/>
          </a:xfrm>
          <a:prstGeom prst="ellipse">
            <a:avLst/>
          </a:prstGeom>
          <a:solidFill>
            <a:schemeClr val="accent3"/>
          </a:solidFill>
          <a:ln w="12700">
            <a:solidFill>
              <a:schemeClr val="accent3"/>
            </a:solidFill>
            <a:prstDash val="solid"/>
          </a:ln>
        </p:spPr>
      </p:sp>
      <p:sp>
        <p:nvSpPr>
          <p:cNvPr id="18" name="Tool 2 number"/>
          <p:cNvSpPr txBox="1"/>
          <p:nvPr/>
        </p:nvSpPr>
        <p:spPr>
          <a:xfrm>
            <a:off x="7955280" y="30998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ool 2 title"/>
          <p:cNvSpPr txBox="1"/>
          <p:nvPr/>
        </p:nvSpPr>
        <p:spPr>
          <a:xfrm>
            <a:off x="8485632" y="3081528"/>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Neural surrogate</a:t>
            </a:r>
            <a:endParaRPr lang="en-US" sz="1800" dirty="0"/>
          </a:p>
        </p:txBody>
      </p:sp>
      <p:sp>
        <p:nvSpPr>
          <p:cNvPr id="20" name="Tool 2 text"/>
          <p:cNvSpPr txBox="1"/>
          <p:nvPr/>
        </p:nvSpPr>
        <p:spPr>
          <a:xfrm>
            <a:off x="8485632" y="3538728"/>
            <a:ext cx="3246120" cy="960120"/>
          </a:xfrm>
          <a:prstGeom prst="rect">
            <a:avLst/>
          </a:prstGeom>
          <a:noFill/>
          <a:ln/>
        </p:spPr>
        <p:txBody>
          <a:bodyPr wrap="square" lIns="0" tIns="0" rIns="0" bIns="0" rtlCol="0" anchor="t"/>
          <a:lstStyle/>
          <a:p>
            <a:pPr indent="0" marL="0">
              <a:buNone/>
            </a:pPr>
            <a:r>
              <a:rPr lang="en-US" sz="1400" dirty="0">
                <a:solidFill>
                  <a:schemeClr val="accent5"/>
                </a:solidFill>
              </a:rPr>
              <a:t>Learns the model from 300 flushes and answers roughly a thousand times faster. In practice it would be trained on PreonLab runs.</a:t>
            </a:r>
            <a:endParaRPr lang="en-US" sz="1400" dirty="0"/>
          </a:p>
        </p:txBody>
      </p:sp>
      <p:sp>
        <p:nvSpPr>
          <p:cNvPr id="21" name="Tool 3 badge"/>
          <p:cNvSpPr/>
          <p:nvPr/>
        </p:nvSpPr>
        <p:spPr>
          <a:xfrm>
            <a:off x="7955280" y="4672584"/>
            <a:ext cx="384048" cy="384048"/>
          </a:xfrm>
          <a:prstGeom prst="ellipse">
            <a:avLst/>
          </a:prstGeom>
          <a:solidFill>
            <a:schemeClr val="accent3"/>
          </a:solidFill>
          <a:ln w="12700">
            <a:solidFill>
              <a:schemeClr val="accent3"/>
            </a:solidFill>
            <a:prstDash val="solid"/>
          </a:ln>
        </p:spPr>
      </p:sp>
      <p:sp>
        <p:nvSpPr>
          <p:cNvPr id="22" name="Tool 3 number"/>
          <p:cNvSpPr txBox="1"/>
          <p:nvPr/>
        </p:nvSpPr>
        <p:spPr>
          <a:xfrm>
            <a:off x="7955280" y="467258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ool 3 title"/>
          <p:cNvSpPr txBox="1"/>
          <p:nvPr/>
        </p:nvSpPr>
        <p:spPr>
          <a:xfrm>
            <a:off x="8485632" y="4654296"/>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Hybrid calibration</a:t>
            </a:r>
            <a:endParaRPr lang="en-US" sz="1800" dirty="0"/>
          </a:p>
        </p:txBody>
      </p:sp>
      <p:sp>
        <p:nvSpPr>
          <p:cNvPr id="24" name="Tool 3 text"/>
          <p:cNvSpPr txBox="1"/>
          <p:nvPr/>
        </p:nvSpPr>
        <p:spPr>
          <a:xfrm>
            <a:off x="8485632" y="5111496"/>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Fits the model to reference runs and corrects the rest with data. On synthetic test data it cuts the error on unseen designs by about two to eight times.</a:t>
            </a:r>
            <a:endParaRPr lang="en-US" sz="1400" dirty="0"/>
          </a:p>
        </p:txBody>
      </p:sp>
      <p:sp>
        <p:nvSpPr>
          <p:cNvPr id="25" name="AI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Results come from the uncalibrated model: suggestions are candidates for a CFD or rig check, not final answers. The calibration demo uses synthetic reference data.</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Guided demo in one minute</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v1.1.0   ·   19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Play a flush, make the bowl oval, let the AI find a better design, all live in the browser</a:t>
            </a:r>
            <a:endParaRPr lang="en-US" sz="1600" dirty="0"/>
          </a:p>
        </p:txBody>
      </p:sp>
      <p:pic>
        <p:nvPicPr>
          <p:cNvPr id="4" name="Demo walkthrough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7223760" cy="4514850"/>
          </a:xfrm>
          <a:prstGeom prst="rect">
            <a:avLst/>
          </a:prstGeom>
        </p:spPr>
      </p:pic>
      <p:sp>
        <p:nvSpPr>
          <p:cNvPr id="6" name="Moment 1 value"/>
          <p:cNvSpPr txBox="1"/>
          <p:nvPr/>
        </p:nvSpPr>
        <p:spPr>
          <a:xfrm>
            <a:off x="8229600" y="1508760"/>
            <a:ext cx="3502152" cy="502920"/>
          </a:xfrm>
          <a:prstGeom prst="rect">
            <a:avLst/>
          </a:prstGeom>
          <a:noFill/>
          <a:ln/>
        </p:spPr>
        <p:txBody>
          <a:bodyPr wrap="square" lIns="0" tIns="0" rIns="0" bIns="0" rtlCol="0" anchor="b"/>
          <a:lstStyle/>
          <a:p>
            <a:pPr indent="0" marL="0">
              <a:buNone/>
            </a:pPr>
            <a:r>
              <a:rPr lang="en-US" sz="2800" b="1" dirty="0">
                <a:solidFill>
                  <a:schemeClr val="tx1"/>
                </a:solidFill>
              </a:rPr>
              <a:t>88 % → 76 %</a:t>
            </a:r>
            <a:endParaRPr lang="en-US" sz="2800" dirty="0"/>
          </a:p>
        </p:txBody>
      </p:sp>
      <p:sp>
        <p:nvSpPr>
          <p:cNvPr id="7" name="Moment 1 label"/>
          <p:cNvSpPr txBox="1"/>
          <p:nvPr/>
        </p:nvSpPr>
        <p:spPr>
          <a:xfrm>
            <a:off x="8229600" y="2039112"/>
            <a:ext cx="3502152" cy="457200"/>
          </a:xfrm>
          <a:prstGeom prst="rect">
            <a:avLst/>
          </a:prstGeom>
          <a:noFill/>
          <a:ln/>
        </p:spPr>
        <p:txBody>
          <a:bodyPr wrap="square" lIns="0" tIns="0" rIns="0" bIns="0" rtlCol="0" anchor="t"/>
          <a:lstStyle/>
          <a:p>
            <a:pPr indent="0" marL="0">
              <a:buNone/>
            </a:pPr>
            <a:r>
              <a:rPr lang="en-US" sz="1400" dirty="0">
                <a:solidFill>
                  <a:schemeClr val="accent5"/>
                </a:solidFill>
              </a:rPr>
              <a:t>cleaning when the bowl turns oval, jets at the ends</a:t>
            </a:r>
            <a:endParaRPr lang="en-US" sz="1400" dirty="0"/>
          </a:p>
        </p:txBody>
      </p:sp>
      <p:sp>
        <p:nvSpPr>
          <p:cNvPr id="8" name="Moment 2 value"/>
          <p:cNvSpPr txBox="1"/>
          <p:nvPr/>
        </p:nvSpPr>
        <p:spPr>
          <a:xfrm>
            <a:off x="8229600" y="2624328"/>
            <a:ext cx="3502152" cy="502920"/>
          </a:xfrm>
          <a:prstGeom prst="rect">
            <a:avLst/>
          </a:prstGeom>
          <a:noFill/>
          <a:ln/>
        </p:spPr>
        <p:txBody>
          <a:bodyPr wrap="square" lIns="0" tIns="0" rIns="0" bIns="0" rtlCol="0" anchor="b"/>
          <a:lstStyle/>
          <a:p>
            <a:pPr indent="0" marL="0">
              <a:buNone/>
            </a:pPr>
            <a:r>
              <a:rPr lang="en-US" sz="2800" b="1" dirty="0">
                <a:solidFill>
                  <a:schemeClr val="tx1"/>
                </a:solidFill>
              </a:rPr>
              <a:t>76 % → 85 %</a:t>
            </a:r>
            <a:endParaRPr lang="en-US" sz="2800" dirty="0"/>
          </a:p>
        </p:txBody>
      </p:sp>
      <p:sp>
        <p:nvSpPr>
          <p:cNvPr id="9" name="Moment 2 label"/>
          <p:cNvSpPr txBox="1"/>
          <p:nvPr/>
        </p:nvSpPr>
        <p:spPr>
          <a:xfrm>
            <a:off x="8229600" y="3154680"/>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after moving the jets to the long sides</a:t>
            </a:r>
            <a:endParaRPr lang="en-US" sz="1400" dirty="0"/>
          </a:p>
        </p:txBody>
      </p:sp>
      <p:sp>
        <p:nvSpPr>
          <p:cNvPr id="10" name="Moment 3 value"/>
          <p:cNvSpPr txBox="1"/>
          <p:nvPr/>
        </p:nvSpPr>
        <p:spPr>
          <a:xfrm>
            <a:off x="8229600" y="3739896"/>
            <a:ext cx="3502152" cy="502920"/>
          </a:xfrm>
          <a:prstGeom prst="rect">
            <a:avLst/>
          </a:prstGeom>
          <a:noFill/>
          <a:ln/>
        </p:spPr>
        <p:txBody>
          <a:bodyPr wrap="square" lIns="0" tIns="0" rIns="0" bIns="0" rtlCol="0" anchor="b"/>
          <a:lstStyle/>
          <a:p>
            <a:pPr indent="0" marL="0">
              <a:buNone/>
            </a:pPr>
            <a:r>
              <a:rPr lang="en-US" sz="2800" b="1" dirty="0">
                <a:solidFill>
                  <a:schemeClr val="accent1"/>
                </a:solidFill>
              </a:rPr>
              <a:t>90 % at 4.0 L</a:t>
            </a:r>
            <a:endParaRPr lang="en-US" sz="2800" dirty="0"/>
          </a:p>
        </p:txBody>
      </p:sp>
      <p:sp>
        <p:nvSpPr>
          <p:cNvPr id="11" name="Moment 3 label"/>
          <p:cNvSpPr txBox="1"/>
          <p:nvPr/>
        </p:nvSpPr>
        <p:spPr>
          <a:xfrm>
            <a:off x="8229600" y="4270248"/>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AI lab design: more cleaning, 0.5 L less water</a:t>
            </a:r>
            <a:endParaRPr lang="en-US" sz="1400" dirty="0"/>
          </a:p>
        </p:txBody>
      </p:sp>
      <p:sp>
        <p:nvSpPr>
          <p:cNvPr id="12" name="Demo link card"/>
          <p:cNvSpPr/>
          <p:nvPr/>
        </p:nvSpPr>
        <p:spPr>
          <a:xfrm>
            <a:off x="8229600" y="4937760"/>
            <a:ext cx="3502152" cy="1033272"/>
          </a:xfrm>
          <a:prstGeom prst="roundRect">
            <a:avLst>
              <a:gd name="adj" fmla="val 7080"/>
            </a:avLst>
          </a:prstGeom>
          <a:solidFill>
            <a:schemeClr val="bg2"/>
          </a:solidFill>
          <a:ln w="12700">
            <a:solidFill>
              <a:schemeClr val="bg2"/>
            </a:solidFill>
            <a:prstDash val="solid"/>
          </a:ln>
        </p:spPr>
      </p:sp>
      <p:sp>
        <p:nvSpPr>
          <p:cNvPr id="13" name="Demo link"/>
          <p:cNvSpPr txBox="1"/>
          <p:nvPr/>
        </p:nvSpPr>
        <p:spPr>
          <a:xfrm>
            <a:off x="8412480" y="5047488"/>
            <a:ext cx="3136392" cy="804672"/>
          </a:xfrm>
          <a:prstGeom prst="rect">
            <a:avLst/>
          </a:prstGeom>
          <a:noFill/>
          <a:ln/>
        </p:spPr>
        <p:txBody>
          <a:bodyPr wrap="square" lIns="0" tIns="0" rIns="0" bIns="0" rtlCol="0" anchor="ctr"/>
          <a:lstStyle/>
          <a:p>
            <a:pPr indent="0" marL="0">
              <a:buNone/>
            </a:pPr>
            <a:r>
              <a:rPr lang="en-US" sz="1400" b="1" dirty="0">
                <a:solidFill>
                  <a:schemeClr val="tx1"/>
                </a:solidFill>
              </a:rPr>
              <a:t>Start it yourself</a:t>
            </a:r>
            <a:endParaRPr lang="en-US" sz="1400" dirty="0"/>
          </a:p>
          <a:p>
            <a:pPr indent="0" marL="0">
              <a:buNone/>
            </a:pPr>
            <a:r>
              <a:rPr lang="en-US" sz="1300" u="sng" dirty="0">
                <a:solidFill>
                  <a:schemeClr val="accent3"/>
                </a:solidFill>
                <a:hlinkClick r:id="rId5" invalidUrl="" action="" tgtFrame="" tooltip="Open the guided demo" history="1" highlightClick="0" endSnd="0">
                  <a:extLst>
                    <a:ext uri="{A12FA001-AC4F-418D-AE19-62706E023703}">
                      <ahyp:hlinkClr xmlns:ahyp="http://schemas.microsoft.com/office/drawing/2018/hyperlinkcolor" val="tx"/>
                    </a:ext>
                  </a:extLst>
                </a:hlinkClick>
              </a:rPr>
              <a:t>fintlp.github.io/jet-flush-model/#demo</a:t>
            </a:r>
            <a:endParaRPr lang="en-US" sz="1400" dirty="0"/>
          </a:p>
        </p:txBody>
      </p:sp>
      <p:sp>
        <p:nvSpPr>
          <p:cNvPr id="14" name="Demo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Recorded from the live page (v1.1.0) on 19 October 2026. Illustrative estimates from the uncalibrated model.</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2026-10-19T13:07:22Z</dcterms:created>
  <dcterms:modified xsi:type="dcterms:W3CDTF">2026-10-19T13:07:22Z</dcterms:modified>
</cp:coreProperties>
</file>