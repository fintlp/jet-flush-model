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081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5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67A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538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67A"/>
                </a:solidFill>
              </a:rPr>
              <a:t>Peter Fintl   ·   github.com/fintlp/jet-flush-model   ·   v2.0.0   ·   21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2538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intlp.github.io/jet-flush-model/" TargetMode="External"/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fintlp.github.io/jet-flush-model/#demo" TargetMode="External"/><Relationship Id="rId2" Type="http://schemas.openxmlformats.org/officeDocument/2006/relationships/hyperlink" Target="https://fintlp.github.io/jet-flush-model/#cfd-tour" TargetMode="External"/><Relationship Id="rId3" Type="http://schemas.openxmlformats.org/officeDocument/2006/relationships/hyperlink" Target="https://fintlp.github.io/jet-flush-model/#challenge-tour" TargetMode="External"/><Relationship Id="rId4" Type="http://schemas.openxmlformats.org/officeDocument/2006/relationships/video" Target="../media/media-6-1.mp4"/><Relationship Id="rId5" Type="http://schemas.microsoft.com/office/2007/relationships/media" Target="../media/media-6-1.mp4"/><Relationship Id="rId6" Type="http://schemas.openxmlformats.org/officeDocument/2006/relationships/image" Target="../media/image-6-3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Tangential Jet Flush Model 2.0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9202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6E2"/>
                </a:solidFill>
              </a:rPr>
              <a:t>A fast physics model of a rimless toilet flush, checked against CFD, with AI in the engineering loop</a:t>
            </a:r>
            <a:endParaRPr lang="en-US" sz="1800" dirty="0"/>
          </a:p>
        </p:txBody>
      </p:sp>
      <p:pic>
        <p:nvPicPr>
          <p:cNvPr id="3" name="Flush playback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068312" y="548640"/>
            <a:ext cx="4572000" cy="3111996"/>
          </a:xfrm>
          <a:prstGeom prst="rect">
            <a:avLst/>
          </a:prstGeom>
        </p:spPr>
      </p:pic>
      <p:sp>
        <p:nvSpPr>
          <p:cNvPr id="5" name="Video caption"/>
          <p:cNvSpPr txBox="1"/>
          <p:nvPr/>
        </p:nvSpPr>
        <p:spPr>
          <a:xfrm>
            <a:off x="7068312" y="37063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5"/>
                </a:solidFill>
              </a:rPr>
              <a:t>Flush playback from the page: films on the wall, pool swirl, waste. Washdown preset.</a:t>
            </a:r>
            <a:endParaRPr lang="en-US" sz="1050" dirty="0"/>
          </a:p>
        </p:txBody>
      </p:sp>
      <p:sp>
        <p:nvSpPr>
          <p:cNvPr id="6" name="Stat 1 value"/>
          <p:cNvSpPr txBox="1"/>
          <p:nvPr/>
        </p:nvSpPr>
        <p:spPr>
          <a:xfrm>
            <a:off x="54864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20–40 ms</a:t>
            </a:r>
            <a:endParaRPr lang="en-US" sz="2800" dirty="0"/>
          </a:p>
        </p:txBody>
      </p:sp>
      <p:sp>
        <p:nvSpPr>
          <p:cNvPr id="7" name="Stat 1 label"/>
          <p:cNvSpPr txBox="1"/>
          <p:nvPr/>
        </p:nvSpPr>
        <p:spPr>
          <a:xfrm>
            <a:off x="54864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per flush with the fast model, in the browser</a:t>
            </a:r>
            <a:endParaRPr lang="en-US" sz="1300" dirty="0"/>
          </a:p>
        </p:txBody>
      </p:sp>
      <p:sp>
        <p:nvSpPr>
          <p:cNvPr id="8" name="Stat 2 value"/>
          <p:cNvSpPr txBox="1"/>
          <p:nvPr/>
        </p:nvSpPr>
        <p:spPr>
          <a:xfrm>
            <a:off x="274320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 2 hours</a:t>
            </a:r>
            <a:endParaRPr lang="en-US" sz="2800" dirty="0"/>
          </a:p>
        </p:txBody>
      </p:sp>
      <p:sp>
        <p:nvSpPr>
          <p:cNvPr id="9" name="Stat 2 label"/>
          <p:cNvSpPr txBox="1"/>
          <p:nvPr/>
        </p:nvSpPr>
        <p:spPr>
          <a:xfrm>
            <a:off x="274320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for 3.2 s of the same flush in OpenFOAM CFD, on 12 cores</a:t>
            </a:r>
            <a:endParaRPr lang="en-US" sz="1300" dirty="0"/>
          </a:p>
        </p:txBody>
      </p:sp>
      <p:sp>
        <p:nvSpPr>
          <p:cNvPr id="10" name="Stat 3 value"/>
          <p:cNvSpPr txBox="1"/>
          <p:nvPr/>
        </p:nvSpPr>
        <p:spPr>
          <a:xfrm>
            <a:off x="4937760" y="3246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ABDB"/>
                </a:solidFill>
              </a:rPr>
              <a:t>4.5 vs 10.5</a:t>
            </a:r>
            <a:endParaRPr lang="en-US" sz="2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4937760" y="39319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expensive runs to reach the targets, AI-assisted vs automated one change at a time (median of 8 synthetic projects)</a:t>
            </a:r>
            <a:endParaRPr lang="en-US" sz="1300" dirty="0"/>
          </a:p>
        </p:txBody>
      </p:sp>
      <p:sp>
        <p:nvSpPr>
          <p:cNvPr id="12" name="Live link card"/>
          <p:cNvSpPr/>
          <p:nvPr/>
        </p:nvSpPr>
        <p:spPr>
          <a:xfrm>
            <a:off x="548640" y="5074920"/>
            <a:ext cx="6309360" cy="685800"/>
          </a:xfrm>
          <a:prstGeom prst="roundRect">
            <a:avLst>
              <a:gd name="adj" fmla="val 16000"/>
            </a:avLst>
          </a:prstGeom>
          <a:solidFill>
            <a:srgbClr val="122333"/>
          </a:solidFill>
          <a:ln w="9525">
            <a:solidFill>
              <a:srgbClr val="1C3044"/>
            </a:solidFill>
            <a:prstDash val="solid"/>
          </a:ln>
        </p:spPr>
      </p:sp>
      <p:sp>
        <p:nvSpPr>
          <p:cNvPr id="13" name="Live link"/>
          <p:cNvSpPr txBox="1"/>
          <p:nvPr/>
        </p:nvSpPr>
        <p:spPr>
          <a:xfrm>
            <a:off x="777240" y="507492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Try it live   </a:t>
            </a:r>
            <a:pPr indent="0" marL="0">
              <a:buNone/>
            </a:pPr>
            <a:r>
              <a:rPr lang="en-US" sz="1600" u="sng" dirty="0">
                <a:solidFill>
                  <a:srgbClr val="12ABDB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</a:t>
            </a:r>
            <a:endParaRPr lang="en-US" sz="1600" dirty="0"/>
          </a:p>
        </p:txBody>
      </p:sp>
      <p:sp>
        <p:nvSpPr>
          <p:cNvPr id="14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FA3B5"/>
                </a:solidFill>
              </a:rPr>
              <a:t>Reduced-order model, not yet calibrated or validated: results are for comparing designs, not measured values. The CFD is a second simulation of one design, not a measurement.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1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1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The fast model: one flush in milliseconds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Change the bowl or the jets and see cleaning, waste removal, water and noise at once; the AI lab searches for better designs.</a:t>
            </a:r>
            <a:endParaRPr lang="en-US" sz="1600" dirty="0"/>
          </a:p>
        </p:txBody>
      </p:sp>
      <p:pic>
        <p:nvPicPr>
          <p:cNvPr id="6" name="Optimiser chart" descr="/home/claude/jet-flush-model/media/ai-optimiser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620075" cy="3520440"/>
          </a:xfrm>
          <a:prstGeom prst="rect">
            <a:avLst/>
          </a:prstGeom>
        </p:spPr>
      </p:pic>
      <p:sp>
        <p:nvSpPr>
          <p:cNvPr id="7" name="Chart caption"/>
          <p:cNvSpPr txBox="1"/>
          <p:nvPr/>
        </p:nvSpPr>
        <p:spPr>
          <a:xfrm>
            <a:off x="548640" y="5349240"/>
            <a:ext cx="56200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AI lab: each dot is one simulated flush; the curve is the best trade-off between score and water.</a:t>
            </a:r>
            <a:endParaRPr lang="en-US" sz="1050" dirty="0"/>
          </a:p>
        </p:txBody>
      </p:sp>
      <p:sp>
        <p:nvSpPr>
          <p:cNvPr id="8" name="Moments heading"/>
          <p:cNvSpPr txBox="1"/>
          <p:nvPr/>
        </p:nvSpPr>
        <p:spPr>
          <a:xfrm>
            <a:off x="70866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From the guided demo, part 1</a:t>
            </a:r>
            <a:endParaRPr lang="en-US" sz="1400" dirty="0"/>
          </a:p>
        </p:txBody>
      </p:sp>
      <p:sp>
        <p:nvSpPr>
          <p:cNvPr id="9" name="Stat 1 value"/>
          <p:cNvSpPr txBox="1"/>
          <p:nvPr/>
        </p:nvSpPr>
        <p:spPr>
          <a:xfrm>
            <a:off x="7086600" y="22402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86 % 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 79 %</a:t>
            </a:r>
            <a:endParaRPr lang="en-US" sz="2600" dirty="0"/>
          </a:p>
        </p:txBody>
      </p:sp>
      <p:sp>
        <p:nvSpPr>
          <p:cNvPr id="10" name="Stat 1 label"/>
          <p:cNvSpPr txBox="1"/>
          <p:nvPr/>
        </p:nvSpPr>
        <p:spPr>
          <a:xfrm>
            <a:off x="708660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cleaning when the bowl turns oval, jets at the ends of the long axis</a:t>
            </a:r>
            <a:endParaRPr lang="en-US" sz="1300" dirty="0"/>
          </a:p>
        </p:txBody>
      </p:sp>
      <p:sp>
        <p:nvSpPr>
          <p:cNvPr id="11" name="Stat 2 value"/>
          <p:cNvSpPr txBox="1"/>
          <p:nvPr/>
        </p:nvSpPr>
        <p:spPr>
          <a:xfrm>
            <a:off x="7086600" y="34290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 88 %</a:t>
            </a:r>
            <a:endParaRPr lang="en-US" sz="2600" dirty="0"/>
          </a:p>
        </p:txBody>
      </p:sp>
      <p:sp>
        <p:nvSpPr>
          <p:cNvPr id="12" name="Stat 2 label"/>
          <p:cNvSpPr txBox="1"/>
          <p:nvPr/>
        </p:nvSpPr>
        <p:spPr>
          <a:xfrm>
            <a:off x="708660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after moving the jets to the long sides</a:t>
            </a:r>
            <a:endParaRPr lang="en-US" sz="1300" dirty="0"/>
          </a:p>
        </p:txBody>
      </p:sp>
      <p:sp>
        <p:nvSpPr>
          <p:cNvPr id="13" name="Stat 3 value"/>
          <p:cNvSpPr txBox="1"/>
          <p:nvPr/>
        </p:nvSpPr>
        <p:spPr>
          <a:xfrm>
            <a:off x="7086600" y="4617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89 % at 4.0 L</a:t>
            </a:r>
            <a:endParaRPr lang="en-US" sz="26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086600" y="5303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AI lab design: 0.5 L less water than the oval start, −1.1 dB, no louder</a:t>
            </a:r>
            <a:endParaRPr lang="en-US" sz="1300" dirty="0"/>
          </a:p>
        </p:txBody>
      </p:sp>
      <p:sp>
        <p:nvSpPr>
          <p:cNvPr id="15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Illustrative estimates from the uncalibrated model; noise is a relative, experimental indicator. AI suggestions are candidates for a CFD or rig check, not final answers.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2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2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Checked against CFD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The same bowl and jets in OpenFOAM: about 2 hours on 12 cores for 3.2 s of flush, against about 30 ms for the fast model.</a:t>
            </a:r>
            <a:endParaRPr lang="en-US" sz="1600" dirty="0"/>
          </a:p>
        </p:txBody>
      </p:sp>
      <p:pic>
        <p:nvPicPr>
          <p:cNvPr id="6" name="Wall maps" descr="/home/claude/jet-flush-model/media/cfd-ma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1787698"/>
          </a:xfrm>
          <a:prstGeom prst="rect">
            <a:avLst/>
          </a:prstGeom>
        </p:spPr>
      </p:pic>
      <p:sp>
        <p:nvSpPr>
          <p:cNvPr id="7" name="Maps caption"/>
          <p:cNvSpPr txBox="1"/>
          <p:nvPr/>
        </p:nvSpPr>
        <p:spPr>
          <a:xfrm>
            <a:off x="548640" y="361649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What gets cleaned, wall unrolled: CFD left, fast model right (green cleaned, grey wetted only).</a:t>
            </a:r>
            <a:endParaRPr lang="en-US" sz="1050" dirty="0"/>
          </a:p>
        </p:txBody>
      </p:sp>
      <p:pic>
        <p:nvPicPr>
          <p:cNvPr id="8" name="CFD still" descr="/home/claude/jet-flush-model/cfd/washdown/media/cutaway_1.0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783080"/>
            <a:ext cx="3566160" cy="2005965"/>
          </a:xfrm>
          <a:prstGeom prst="rect">
            <a:avLst/>
          </a:prstGeom>
        </p:spPr>
      </p:pic>
      <p:sp>
        <p:nvSpPr>
          <p:cNvPr id="9" name="Still caption"/>
          <p:cNvSpPr txBox="1"/>
          <p:nvPr/>
        </p:nvSpPr>
        <p:spPr>
          <a:xfrm>
            <a:off x="8074152" y="3834765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CFD water surface at 1.0 s, front half removed.</a:t>
            </a:r>
            <a:endParaRPr lang="en-US" sz="1050" dirty="0"/>
          </a:p>
        </p:txBody>
      </p:sp>
      <p:sp>
        <p:nvSpPr>
          <p:cNvPr id="10" name="Stat 1 value"/>
          <p:cNvSpPr txBox="1"/>
          <p:nvPr/>
        </p:nvSpPr>
        <p:spPr>
          <a:xfrm>
            <a:off x="54864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89 % vs 86 %</a:t>
            </a:r>
            <a:endParaRPr lang="en-US" sz="2600" dirty="0"/>
          </a:p>
        </p:txBody>
      </p:sp>
      <p:sp>
        <p:nvSpPr>
          <p:cNvPr id="11" name="Stat 1 label"/>
          <p:cNvSpPr txBox="1"/>
          <p:nvPr/>
        </p:nvSpPr>
        <p:spPr>
          <a:xfrm>
            <a:off x="54864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of the wall cleaned, CFD vs fast model: close totals, different patterns</a:t>
            </a:r>
            <a:endParaRPr lang="en-US" sz="1300" dirty="0"/>
          </a:p>
        </p:txBody>
      </p:sp>
      <p:sp>
        <p:nvSpPr>
          <p:cNvPr id="12" name="Stat 2 value"/>
          <p:cNvSpPr txBox="1"/>
          <p:nvPr/>
        </p:nvSpPr>
        <p:spPr>
          <a:xfrm>
            <a:off x="429768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0.14 s vs 0.54 s</a:t>
            </a:r>
            <a:endParaRPr lang="en-US" sz="2600" dirty="0"/>
          </a:p>
        </p:txBody>
      </p:sp>
      <p:sp>
        <p:nvSpPr>
          <p:cNvPr id="13" name="Stat 2 label"/>
          <p:cNvSpPr txBox="1"/>
          <p:nvPr/>
        </p:nvSpPr>
        <p:spPr>
          <a:xfrm>
            <a:off x="429768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first water in the pool, CFD vs fast model: in the model it arrives later and all at once</a:t>
            </a:r>
            <a:endParaRPr lang="en-US" sz="13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046720" y="4343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0AD"/>
                </a:solidFill>
              </a:rPr>
              <a:t>11 %</a:t>
            </a:r>
            <a:endParaRPr lang="en-US" sz="26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046720" y="5029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overlap of the uncleaned areas, CFD vs fast model: the model gets the total, not where the gaps are</a:t>
            </a:r>
            <a:endParaRPr lang="en-US" sz="1300" dirty="0"/>
          </a:p>
        </p:txBody>
      </p:sp>
      <p:sp>
        <p:nvSpPr>
          <p:cNvPr id="16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A second simulation of one design, not a measurement or a validation. Trap outflow taken from the model; after 1.3 s the CFD outlet draws air. On two CFD meshes the totals agree, the uncleaned areas overlap 50 %: a sensitivity, not mesh independence.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 3 badge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3" name="Part 3 number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325880" y="411480"/>
            <a:ext cx="10287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AI in the engineering loop</a:t>
            </a:r>
            <a:endParaRPr lang="en-US" sz="3200" dirty="0"/>
          </a:p>
        </p:txBody>
      </p:sp>
      <p:sp>
        <p:nvSpPr>
          <p:cNvPr id="5" name="Lead"/>
          <p:cNvSpPr txBox="1"/>
          <p:nvPr/>
        </p:nvSpPr>
        <p:spPr>
          <a:xfrm>
            <a:off x="1325880" y="109728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Eight design projects, each run of the expensive reference costs 8 hours: how many runs until the targets are met?</a:t>
            </a:r>
            <a:endParaRPr lang="en-US" sz="1600" dirty="0"/>
          </a:p>
        </p:txBody>
      </p:sp>
      <p:pic>
        <p:nvPicPr>
          <p:cNvPr id="6" name="Projects chart" descr="/home/claude/jet-flush-model/media/challe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949440" cy="3165856"/>
          </a:xfrm>
          <a:prstGeom prst="rect">
            <a:avLst/>
          </a:prstGeom>
        </p:spPr>
      </p:pic>
      <p:sp>
        <p:nvSpPr>
          <p:cNvPr id="7" name="Chart caption"/>
          <p:cNvSpPr txBox="1"/>
          <p:nvPr/>
        </p:nvSpPr>
        <p:spPr>
          <a:xfrm>
            <a:off x="548640" y="499465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667A"/>
                </a:solidFill>
              </a:rPr>
              <a:t>Projects that met the targets over virtual days, for the three routes.</a:t>
            </a:r>
            <a:endParaRPr lang="en-US" sz="1050" dirty="0"/>
          </a:p>
        </p:txBody>
      </p:sp>
      <p:sp>
        <p:nvSpPr>
          <p:cNvPr id="8" name="Stat 1 value"/>
          <p:cNvSpPr txBox="1"/>
          <p:nvPr/>
        </p:nvSpPr>
        <p:spPr>
          <a:xfrm>
            <a:off x="800100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4.5 vs 10.5</a:t>
            </a:r>
            <a:endParaRPr lang="en-US" sz="3000" dirty="0"/>
          </a:p>
        </p:txBody>
      </p:sp>
      <p:sp>
        <p:nvSpPr>
          <p:cNvPr id="9" name="Stat 1 label"/>
          <p:cNvSpPr txBox="1"/>
          <p:nvPr/>
        </p:nvSpPr>
        <p:spPr>
          <a:xfrm>
            <a:off x="8001000" y="24688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expensive runs per project (median): fast model + learned correction vs automated one change at a time</a:t>
            </a:r>
            <a:endParaRPr lang="en-US" sz="1300" dirty="0"/>
          </a:p>
        </p:txBody>
      </p:sp>
      <p:sp>
        <p:nvSpPr>
          <p:cNvPr id="10" name="Stat 2 value"/>
          <p:cNvSpPr txBox="1"/>
          <p:nvPr/>
        </p:nvSpPr>
        <p:spPr>
          <a:xfrm>
            <a:off x="8001000" y="3154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43 vs 97</a:t>
            </a:r>
            <a:endParaRPr lang="en-US" sz="3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80010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runs for all eight projects</a:t>
            </a:r>
            <a:endParaRPr lang="en-US" sz="1300" dirty="0"/>
          </a:p>
        </p:txBody>
      </p:sp>
      <p:sp>
        <p:nvSpPr>
          <p:cNvPr id="12" name="Stat 3 value"/>
          <p:cNvSpPr txBox="1"/>
          <p:nvPr/>
        </p:nvSpPr>
        <p:spPr>
          <a:xfrm>
            <a:off x="800100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8A5A2B"/>
                </a:solidFill>
              </a:rPr>
              <a:t>3 of 8</a:t>
            </a:r>
            <a:endParaRPr lang="en-US" sz="3000" dirty="0"/>
          </a:p>
        </p:txBody>
      </p:sp>
      <p:sp>
        <p:nvSpPr>
          <p:cNvPr id="13" name="Stat 3 label"/>
          <p:cNvSpPr txBox="1"/>
          <p:nvPr/>
        </p:nvSpPr>
        <p:spPr>
          <a:xfrm>
            <a:off x="8001000" y="4937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projects the fast model alone never finished: it cannot learn from the expensive runs</a:t>
            </a:r>
            <a:endParaRPr lang="en-US" sz="1300" dirty="0"/>
          </a:p>
        </p:txBody>
      </p:sp>
      <p:sp>
        <p:nvSpPr>
          <p:cNvPr id="14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The expensive runs come from a synthetic reference (the model with other coefficients and extra effects), labelled as such on the page. It shows the workflow, not real accuracy.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538"/>
                </a:solidFill>
              </a:rPr>
              <a:t>One design loop, two clocks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667A"/>
                </a:solidFill>
              </a:rPr>
              <a:t>The median synthetic project of the challenge, counting each expensive iteration as a working day (set up, run, evaluate), as Geberit reported; the challenge itself counts 8 hours of computing per run.</a:t>
            </a:r>
            <a:endParaRPr lang="en-US" sz="1600" dirty="0"/>
          </a:p>
        </p:txBody>
      </p:sp>
      <p:sp>
        <p:nvSpPr>
          <p:cNvPr id="4" name="Clock 1 label"/>
          <p:cNvSpPr txBox="1"/>
          <p:nvPr/>
        </p:nvSpPr>
        <p:spPr>
          <a:xfrm>
            <a:off x="548640" y="2011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One change at a time (automated)</a:t>
            </a:r>
            <a:endParaRPr lang="en-US" sz="1400" dirty="0"/>
          </a:p>
        </p:txBody>
      </p:sp>
      <p:sp>
        <p:nvSpPr>
          <p:cNvPr id="5" name="Clock 1 bar"/>
          <p:cNvSpPr/>
          <p:nvPr/>
        </p:nvSpPr>
        <p:spPr>
          <a:xfrm>
            <a:off x="548640" y="2395728"/>
            <a:ext cx="4726745" cy="384048"/>
          </a:xfrm>
          <a:prstGeom prst="roundRect">
            <a:avLst>
              <a:gd name="adj" fmla="val 19048"/>
            </a:avLst>
          </a:prstGeom>
          <a:solidFill>
            <a:srgbClr val="8A5A2B"/>
          </a:solidFill>
          <a:ln w="12700">
            <a:solidFill>
              <a:srgbClr val="8A5A2B"/>
            </a:solidFill>
            <a:prstDash val="solid"/>
          </a:ln>
        </p:spPr>
      </p:sp>
      <p:sp>
        <p:nvSpPr>
          <p:cNvPr id="6" name="Clock 1 value"/>
          <p:cNvSpPr txBox="1"/>
          <p:nvPr/>
        </p:nvSpPr>
        <p:spPr>
          <a:xfrm>
            <a:off x="5412545" y="2395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2B"/>
                </a:solidFill>
              </a:rPr>
              <a:t>10.5 days</a:t>
            </a:r>
            <a:endParaRPr lang="en-US" sz="1600" dirty="0"/>
          </a:p>
        </p:txBody>
      </p:sp>
      <p:sp>
        <p:nvSpPr>
          <p:cNvPr id="7" name="Clock 2 label"/>
          <p:cNvSpPr txBox="1"/>
          <p:nvPr/>
        </p:nvSpPr>
        <p:spPr>
          <a:xfrm>
            <a:off x="54864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AI-assisted</a:t>
            </a:r>
            <a:endParaRPr lang="en-US" sz="1400" dirty="0"/>
          </a:p>
        </p:txBody>
      </p:sp>
      <p:sp>
        <p:nvSpPr>
          <p:cNvPr id="8" name="Clock 2 bar"/>
          <p:cNvSpPr/>
          <p:nvPr/>
        </p:nvSpPr>
        <p:spPr>
          <a:xfrm>
            <a:off x="548640" y="3447288"/>
            <a:ext cx="2025748" cy="384048"/>
          </a:xfrm>
          <a:prstGeom prst="roundRect">
            <a:avLst>
              <a:gd name="adj" fmla="val 19048"/>
            </a:avLst>
          </a:prstGeom>
          <a:solidFill>
            <a:srgbClr val="0070AD"/>
          </a:solidFill>
          <a:ln w="12700">
            <a:solidFill>
              <a:srgbClr val="0070AD"/>
            </a:solidFill>
            <a:prstDash val="solid"/>
          </a:ln>
        </p:spPr>
      </p:sp>
      <p:sp>
        <p:nvSpPr>
          <p:cNvPr id="9" name="Clock 2 value"/>
          <p:cNvSpPr txBox="1"/>
          <p:nvPr/>
        </p:nvSpPr>
        <p:spPr>
          <a:xfrm>
            <a:off x="2711548" y="34472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AD"/>
                </a:solidFill>
              </a:rPr>
              <a:t>4.5 days</a:t>
            </a:r>
            <a:endParaRPr lang="en-US" sz="1600" dirty="0"/>
          </a:p>
        </p:txBody>
      </p:sp>
      <p:sp>
        <p:nvSpPr>
          <p:cNvPr id="10" name="Stat 1 value"/>
          <p:cNvSpPr txBox="1"/>
          <p:nvPr/>
        </p:nvSpPr>
        <p:spPr>
          <a:xfrm>
            <a:off x="548640" y="4206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 2.5 months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548640" y="4892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54 assumed working days of iterations, over eight synthetic projects</a:t>
            </a:r>
            <a:endParaRPr lang="en-US" sz="1300" dirty="0"/>
          </a:p>
        </p:txBody>
      </p:sp>
      <p:sp>
        <p:nvSpPr>
          <p:cNvPr id="12" name="Stat 2 value"/>
          <p:cNvSpPr txBox="1"/>
          <p:nvPr/>
        </p:nvSpPr>
        <p:spPr>
          <a:xfrm>
            <a:off x="3566160" y="42062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97 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3000" b="1" dirty="0">
                <a:solidFill>
                  <a:srgbClr val="0070AD"/>
                </a:solidFill>
              </a:rPr>
              <a:t> 43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3566160" y="4892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2538"/>
                </a:solidFill>
              </a:rPr>
              <a:t>expensive iterations in total</a:t>
            </a:r>
            <a:endParaRPr lang="en-US" sz="1300" dirty="0"/>
          </a:p>
        </p:txBody>
      </p:sp>
      <p:sp>
        <p:nvSpPr>
          <p:cNvPr id="14" name="AI lab card"/>
          <p:cNvSpPr/>
          <p:nvPr/>
        </p:nvSpPr>
        <p:spPr>
          <a:xfrm>
            <a:off x="6903720" y="1783080"/>
            <a:ext cx="4736592" cy="3931920"/>
          </a:xfrm>
          <a:prstGeom prst="roundRect">
            <a:avLst>
              <a:gd name="adj" fmla="val 2791"/>
            </a:avLst>
          </a:prstGeom>
          <a:solidFill>
            <a:srgbClr val="F3F5F8"/>
          </a:solidFill>
          <a:ln w="9525">
            <a:solidFill>
              <a:srgbClr val="D8E0E8"/>
            </a:solidFill>
            <a:prstDash val="solid"/>
          </a:ln>
        </p:spPr>
      </p:sp>
      <p:sp>
        <p:nvSpPr>
          <p:cNvPr id="15" name="AI lab heading"/>
          <p:cNvSpPr txBox="1"/>
          <p:nvPr/>
        </p:nvSpPr>
        <p:spPr>
          <a:xfrm>
            <a:off x="713232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538"/>
                </a:solidFill>
              </a:rPr>
              <a:t>Also in the AI lab, all in the browser</a:t>
            </a:r>
            <a:endParaRPr lang="en-US" sz="1400" dirty="0"/>
          </a:p>
        </p:txBody>
      </p:sp>
      <p:sp>
        <p:nvSpPr>
          <p:cNvPr id="16" name="AI lab tools"/>
          <p:cNvSpPr txBox="1"/>
          <p:nvPr/>
        </p:nvSpPr>
        <p:spPr>
          <a:xfrm>
            <a:off x="7132320" y="2331720"/>
            <a:ext cx="43434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Design optimiser: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about 540 quick estimates in about 10 s, then the recommended designs checked at full resolution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Neural surrogate: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a few thousand times faster than the physics model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Hybrid calibration: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fit plus a learned correction, tested on unseen designs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Noise calibration: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fits the noise model to recordings (shown with synthetic ones)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Physics-informed network: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finds a model coefficient from a level record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0070AD"/>
                </a:solidFill>
              </a:rPr>
              <a:t>Field surrogate: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0F2538"/>
                </a:solidFill>
              </a:rPr>
              <a:t>whole cleaning maps from expensive runs, shown honestly</a:t>
            </a:r>
            <a:endParaRPr lang="en-US" sz="1300" dirty="0"/>
          </a:p>
        </p:txBody>
      </p:sp>
      <p:sp>
        <p:nvSpPr>
          <p:cNvPr id="17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2667A"/>
                </a:solidFill>
              </a:rPr>
              <a:t>Iteration counts from the challenge against a synthetic reference (checks/challenge.js), not from real projects; one day per iteration is an assumption from the Geberit report by CADFEM. Sources on the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67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See the whole story</a:t>
            </a:r>
            <a:endParaRPr lang="en-US" sz="40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3258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E2"/>
                </a:solidFill>
              </a:rPr>
              <a:t>The guided story drives the live page in three parts. Each part can be started on its own.</a:t>
            </a:r>
            <a:endParaRPr lang="en-US" sz="1600" dirty="0"/>
          </a:p>
        </p:txBody>
      </p:sp>
      <p:sp>
        <p:nvSpPr>
          <p:cNvPr id="4" name="Part 1 badge"/>
          <p:cNvSpPr/>
          <p:nvPr/>
        </p:nvSpPr>
        <p:spPr>
          <a:xfrm>
            <a:off x="548640" y="237744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5" name="Part 1 number"/>
          <p:cNvSpPr txBox="1"/>
          <p:nvPr/>
        </p:nvSpPr>
        <p:spPr>
          <a:xfrm>
            <a:off x="5486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Part 1 link"/>
          <p:cNvSpPr txBox="1"/>
          <p:nvPr/>
        </p:nvSpPr>
        <p:spPr>
          <a:xfrm>
            <a:off x="1234440" y="2331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The fast model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fintlp.github.io/jet-flush-model/#demo</a:t>
            </a:r>
            <a:endParaRPr lang="en-US" sz="1500" dirty="0"/>
          </a:p>
        </p:txBody>
      </p:sp>
      <p:sp>
        <p:nvSpPr>
          <p:cNvPr id="7" name="Part 2 badge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8" name="Part 2 number"/>
          <p:cNvSpPr txBox="1"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2</a:t>
            </a:r>
            <a:endParaRPr lang="en-US" sz="1700" dirty="0"/>
          </a:p>
        </p:txBody>
      </p:sp>
      <p:sp>
        <p:nvSpPr>
          <p:cNvPr id="9" name="Part 2 link"/>
          <p:cNvSpPr txBox="1"/>
          <p:nvPr/>
        </p:nvSpPr>
        <p:spPr>
          <a:xfrm>
            <a:off x="1234440" y="32004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Checked against CFD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fintlp.github.io/jet-flush-model/#cfd-tour</a:t>
            </a:r>
            <a:endParaRPr lang="en-US" sz="1500" dirty="0"/>
          </a:p>
        </p:txBody>
      </p:sp>
      <p:sp>
        <p:nvSpPr>
          <p:cNvPr id="10" name="Part 3 badge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12ABDB"/>
          </a:solidFill>
          <a:ln w="12700">
            <a:solidFill>
              <a:srgbClr val="12ABDB"/>
            </a:solidFill>
            <a:prstDash val="solid"/>
          </a:ln>
        </p:spPr>
      </p:sp>
      <p:sp>
        <p:nvSpPr>
          <p:cNvPr id="11" name="Part 3 number"/>
          <p:cNvSpPr txBox="1"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131D"/>
                </a:solidFill>
              </a:rPr>
              <a:t>3</a:t>
            </a:r>
            <a:endParaRPr lang="en-US" sz="1700" dirty="0"/>
          </a:p>
        </p:txBody>
      </p:sp>
      <p:sp>
        <p:nvSpPr>
          <p:cNvPr id="12" name="Part 3 link"/>
          <p:cNvSpPr txBox="1"/>
          <p:nvPr/>
        </p:nvSpPr>
        <p:spPr>
          <a:xfrm>
            <a:off x="1234440" y="4069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 in the engineering loop</a:t>
            </a:r>
            <a:endParaRPr lang="en-US" sz="15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2ABDB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fintlp.github.io/jet-flush-model/#challenge-tour</a:t>
            </a:r>
            <a:endParaRPr lang="en-US" sz="1500" dirty="0"/>
          </a:p>
        </p:txBody>
      </p:sp>
      <p:pic>
        <p:nvPicPr>
          <p:cNvPr id="6" name="Guided story video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641848" y="1600200"/>
            <a:ext cx="5998464" cy="3749040"/>
          </a:xfrm>
          <a:prstGeom prst="rect">
            <a:avLst/>
          </a:prstGeom>
        </p:spPr>
      </p:pic>
      <p:sp>
        <p:nvSpPr>
          <p:cNvPr id="14" name="Video caption"/>
          <p:cNvSpPr txBox="1"/>
          <p:nvPr/>
        </p:nvSpPr>
        <p:spPr>
          <a:xfrm>
            <a:off x="5641848" y="5394960"/>
            <a:ext cx="5998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B5"/>
                </a:solidFill>
              </a:rPr>
              <a:t>Recorded from the page (v2.0.0) on 21 October 2026: all three parts, at reading pace.</a:t>
            </a:r>
            <a:endParaRPr lang="en-US" sz="1050" dirty="0"/>
          </a:p>
        </p:txBody>
      </p:sp>
      <p:sp>
        <p:nvSpPr>
          <p:cNvPr id="15" name="Caveat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FA3B5"/>
                </a:solidFill>
              </a:rPr>
              <a:t>Physics model, not yet calibrated or validated. Synthetic references are labelled on the page; the CFD is a second simulation of one design, not a measurement.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et Flush 2.0">
  <a:themeElements>
    <a:clrScheme name="Jet Flush 2.0">
      <a:dk1>
        <a:srgbClr val="0F2538"/>
      </a:dk1>
      <a:lt1>
        <a:srgbClr val="FFFFFF"/>
      </a:lt1>
      <a:dk2>
        <a:srgbClr val="0070AD"/>
      </a:dk2>
      <a:lt2>
        <a:srgbClr val="F3F5F8"/>
      </a:lt2>
      <a:accent1>
        <a:srgbClr val="0070AD"/>
      </a:accent1>
      <a:accent2>
        <a:srgbClr val="12ABDB"/>
      </a:accent2>
      <a:accent3>
        <a:srgbClr val="17876C"/>
      </a:accent3>
      <a:accent4>
        <a:srgbClr val="8A5A2B"/>
      </a:accent4>
      <a:accent5>
        <a:srgbClr val="52667A"/>
      </a:accent5>
      <a:accent6>
        <a:srgbClr val="B0341D"/>
      </a:accent6>
      <a:hlink>
        <a:srgbClr val="0070AD"/>
      </a:hlink>
      <a:folHlink>
        <a:srgbClr val="005A8C"/>
      </a:folHlink>
    </a:clrScheme>
    <a:fontScheme name="Jet Flush 2.0">
      <a:majorFont>
        <a:latin typeface="Ubuntu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Ubuntu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Tangential Jet Flush Model 2.0</dc:title>
  <dc:subject>PptxGenJS Presentation</dc:subject>
  <dc:creator>Peter Fintl</dc:creator>
  <cp:lastModifiedBy>Peter Fintl</cp:lastModifiedBy>
  <cp:revision>1</cp:revision>
  <dcterms:created xsi:type="dcterms:W3CDTF">2026-10-21T21:45:18Z</dcterms:created>
  <dcterms:modified xsi:type="dcterms:W3CDTF">2026-10-21T21:45:18Z</dcterms:modified>
</cp:coreProperties>
</file>