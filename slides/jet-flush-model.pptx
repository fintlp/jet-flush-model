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4fe7e9-b491-2d54-641b-9c551c27d437}">
          <p14:sldIdLst>
            <p14:sldId id="256"/>
          </p14:sldIdLst>
        </p14:section>
        <p14:section name="Problem and approach" id="{1f4c92b9-590a-abcc-533c-37ae66f9bae3}">
          <p14:sldIdLst>
            <p14:sldId id="257"/>
            <p14:sldId id="258"/>
          </p14:sldIdLst>
        </p14:section>
        <p14:section name="Three proofs on the page" id="{c6ac96c4-7cc1-d944-4e2d-e32b071b4686}">
          <p14:sldIdLst>
            <p14:sldId id="259"/>
            <p14:sldId id="260"/>
            <p14:sldId id="261"/>
          </p14:sldIdLst>
        </p14:section>
        <p14:section name="What it means" id="{4288ac30-77ed-72a5-ec1b-4d29107bb361}">
          <p14:sldIdLst>
            <p14:sldId id="262"/>
            <p14:sldId id="263"/>
            <p14:sldId id="264"/>
            <p14:sldId id="265"/>
            <p14:sldId id="266"/>
          </p14:sldIdLst>
        </p14:section>
        <p14:section name="Next steps" id="{92e5dca7-5f9f-0b9e-6a48-f769238ddc55}">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538"/>
                </a:solidFill>
                <a:latin typeface="+mn-lt"/>
              </a:defRPr>
            </a:pPr>
            <a:r>
              <a:rPr sz="1300" b="0" i="0" u="none" strike="noStrike">
                <a:solidFill>
                  <a:srgbClr val="0F2538"/>
                </a:solidFill>
                <a:latin typeface="+mn-lt"/>
              </a:rPr>
              <a:t>Expensive iterations to reach the targets</a:t>
            </a:r>
          </a:p>
        </c:rich>
      </c:tx>
      <c:layout/>
      <c:overlay val="0"/>
    </c:title>
    <c:autoTitleDeleted val="0"/>
    <c:plotArea>
      <c:layout/>
      <c:barChart>
        <c:barDir val="col"/>
        <c:grouping val="clustered"/>
        <c:varyColors val="0"/>
        <c:ser>
          <c:idx val="0"/>
          <c:order val="0"/>
          <c:tx>
            <c:strRef>
              <c:f>Sheet1!$B$1</c:f>
              <c:strCache>
                <c:ptCount val="1"/>
                <c:pt idx="0">
                  <c:v>Classic: one change at a time</c:v>
                </c:pt>
              </c:strCache>
            </c:strRef>
          </c:tx>
          <c:spPr>
            <a:solidFill>
              <a:srgbClr val="8A5A2B"/>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Sheet1!$B$2:$B$9</c:f>
              <c:numCache>
                <c:formatCode>General</c:formatCode>
                <c:ptCount val="8"/>
                <c:pt idx="0">
                  <c:v>11</c:v>
                </c:pt>
                <c:pt idx="1">
                  <c:v>11</c:v>
                </c:pt>
                <c:pt idx="2">
                  <c:v>19</c:v>
                </c:pt>
                <c:pt idx="3">
                  <c:v>10</c:v>
                </c:pt>
                <c:pt idx="4">
                  <c:v>2</c:v>
                </c:pt>
                <c:pt idx="5">
                  <c:v>9</c:v>
                </c:pt>
                <c:pt idx="6">
                  <c:v>9</c:v>
                </c:pt>
                <c:pt idx="7">
                  <c:v>26</c:v>
                </c:pt>
              </c:numCache>
            </c:numRef>
          </c:val>
        </c:ser>
        <c:ser>
          <c:idx val="1"/>
          <c:order val="1"/>
          <c:tx>
            <c:strRef>
              <c:f>Sheet1!$C$1</c:f>
              <c:strCache>
                <c:ptCount val="1"/>
                <c:pt idx="0">
                  <c:v>AI-assisted: fast model + learned correction</c:v>
                </c:pt>
              </c:strCache>
            </c:strRef>
          </c:tx>
          <c:spPr>
            <a:solidFill>
              <a:srgbClr val="0070AD"/>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Sheet1!$C$2:$C$9</c:f>
              <c:numCache>
                <c:formatCode>General</c:formatCode>
                <c:ptCount val="8"/>
                <c:pt idx="0">
                  <c:v>5</c:v>
                </c:pt>
                <c:pt idx="1">
                  <c:v>3</c:v>
                </c:pt>
                <c:pt idx="2">
                  <c:v>5</c:v>
                </c:pt>
                <c:pt idx="3">
                  <c:v>9</c:v>
                </c:pt>
                <c:pt idx="4">
                  <c:v>2</c:v>
                </c:pt>
                <c:pt idx="5">
                  <c:v>13</c:v>
                </c:pt>
                <c:pt idx="6">
                  <c:v>4</c:v>
                </c:pt>
                <c:pt idx="7">
                  <c:v>2</c:v>
                </c:pt>
              </c:numCache>
            </c:numRef>
          </c:val>
        </c:ser>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2667A"/>
                </a:solidFill>
                <a:latin typeface="+mn-lt"/>
              </a:defRPr>
            </a:pPr>
            <a:endParaRPr lang="en-US"/>
          </a:p>
        </c:txPr>
        <c:crossAx val="2094734552"/>
        <c:crosses val="autoZero"/>
        <c:auto val="1"/>
        <c:lblAlgn val="ctr"/>
        <c:noMultiLvlLbl val="1"/>
      </c:catAx>
      <c:valAx>
        <c:axId val="2094734552"/>
        <c:scaling>
          <c:orientation val="minMax"/>
          <c:max val="30"/>
        </c:scaling>
        <c:delete val="0"/>
        <c:axPos val="l"/>
        <c:majorGridlines>
          <c:spPr>
            <a:ln w="635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667A"/>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F25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shows, on a concrete example, how a fast physics model with AI on top can shorten engineering design loops.
The example is a rimless toilet flush: rim jets wash the bowl, the pool swirls, waste leaves through the trap. Everyone understands the result, but the physics is hard: free surfaces, thin films, swirl and solids.
The main message: in our engineering challenge, the typical design question needed 6 fewer expensive iterations when a fast model learned from every expensive run, 10.5 against 4.5. At about one working day per iteration that is about 6 working days per design question. The challenge uses a synthetic reference instead of real CFD, so read this as a demonstration of the mechanism, not as a result from a real project.
The deck goes: the problem (slide 2), the approach (3), three proofs on the page (4 to 6), what it is worth and how to calculate it for your own team (7), where else it applies (8), the whole development chain and who does what in it (9), what changes on each level of a development (10), what is and is not shown (11), how a team would start (12), and what to do next (13).
Everything shown runs live at fintlp.github.io/jet-flush-model.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rarely slows down because people run out of ideas. It slows down because every idea waits for an answer.
In a typical product development, each design candidate goes through an expensive step: a high-fidelity simulation such as CFD, or a physical prototype. Someone sets up the run, it runs overnight, someone evaluates it, and the team decides on the next candidate. That is one iteration.
Geberit, in a published account of its CFD-led bowl development, put this at about one working day per iteration, with more than a hundred virtual drafts before the first prototype. That is fast compared with physical testing. But it still means a team can only afford a limited number of questions. Many decisions are made on experience before any number exists, and a weak decision found late costs the most to change: in the tool, the mould or the production line.
The question for a manager is therefore not how fast the solver is. It is how many iterations a design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uses three speeds of simulation together.
First, a fast physics model. It keeps only the main mechanisms in a few equations: here the cistern, the jet films on the wall, the pool swirl, the trap and the waste. One flush takes 20 to 40 milliseconds in a browser. Because it is physics, engineers can argue with it, and it points the right way even before it is calibrated.
Second, AI on top. Optimisation searches the design space for targets and trade-offs: about 540 designs in about ten seconds. Surrogates learn expensive models, and a correction learned from expensive runs fixes what the fast model gets wrong.
Third, high fidelity where it counts. CFD, the test rig or a prototype check the few designs that survive. The same flush took about 2 hours in OpenFOAM on 12 cores.
The loop closes because every expensive run is used twice: for the decision, and to improve the fast model for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proof: a fast model makes design questions cheap enough to ask in the meeting.
In part 1 of the guided demo we take the standard washdown bowl, 86 percent of the wall cleaned. Real bowls are oval, so we make it oval, with the jets at the ends of the long axis: cleaning drops to 79 percent, because the film is pushed hard against the tight ends and misses the flat sides. Moving the jets to the long sides brings it back to 88 percent. Each of these answers takes milliseconds.
Then we give the AI lab targets: at most 4.0 litres, at least one point more cleaning, no louder. It searches about 540 designs in about ten seconds and checks the best ones at full resolution. It finds a design with 89 percent cleaning at 4.0 litres.
The chart shows the search: each dot is one simulated flush, the curve the best trade-off between score and water.
The numbers are estimates from a model that is not calibrated yet. The point is the speed of the loop, and that the result is a candidate for an expensive check, not a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proof: we checked the fast model against a full flow simulation, and we show where it differs.
We simulated the same bowl with the same jets in OpenFOAM, a full CFD code that simulates water and air in about 430,000 cells. 3.2 seconds of flush took about 2 hours on 12 processor cores. The fast model needs about 30 milliseconds.
On the totals they are close: the CFD cleans 89 % of the wall, the fast model 86 %. In the details they differ: the first water reaches the pool after 0.14 seconds in the CFD and 0.54 seconds in the model, the CFD pool swirls faster, and the areas each leaves uncleaned overlap only 11 %. On a second, coarser CFD mesh the totals stay the same, and the uncleaned areas of the two meshes overlap 50 %, so the exact pattern is uncertain in the CFD too.
This is a second simulation of one design, not a measurement and not a validation. Whether the fast model gets the effect of design changes right needs CFD runs of several designs. That is why the next step matters: let the expensive runs correct the fast model during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proof: AI in the engineering loop. This is the engineering challenge on the page.
The task: an oval bowl misses its targets. It should clean 87 percent of the wall with at most 4.0 litres, without losing waste removal. Every candidate design must be checked with an expensive, high-fidelity run, which here costs 8 hours of computing. We worked the same task eight times from different starts, with three ways of working.
Classic: an automated search that changes one setting per run and keeps what helps. It needed 10.5 iterations in the typical race, between 2 and 26.
Fast model alone: it screens hundreds of designs in seconds and sends its best to the expensive run. It is quick when it is right, but in 3 of 8 races it never met the targets, because it never learns where it is wrong.
AI-assisted: the same fast model, plus a correction learned after every expensive run, so the next run goes where success is most likely. 4.5 iterations in the typical race. It needed fewer iterations than the classic route in 6 of 8 races, the same in 1, and 4 more in 1.
Important: the expensive runs here come from a synthetic reference, the fast model with other coefficients and effects, not real CFD. It shows the mechanism, not a measured result. A hold-out set of eight more races, never used for tuning, gives the same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worth? Here is the calculation, step by step, so you can redo it.
Time first. The typical project of the challenge needed 10.5 expensive iterations with the classic route and 4.5 with the AI route: 6 fewer. At about one working day per iteration, the figure Geberit reported, that is 6 working days saved on one design question.
Then money, with example values. Say one engineer works the whole day on an iteration, 8 hours, at 95 euros an hour, the average rate of freelance engineers in Germany. One iteration then costs 760 €, and 6 fewer iterations save 4,560 € per design question. With 10 such questions a year, which is only an example, that is 45,600 € a year.
So the break-even: a fast model pays for itself within a year if building and calibrating it costs less than 45,600 €. We do not put a number on the building effort, because we have no measured figure for it; the calculator on the page takes your own estimate and gives the payback time.
Two cautions. The iteration counts come from a synthetic challenge, and race by race the saving varied from -4 to 24. And the money is only the people time. Finding a weak design weeks earlier, and getting to market sooner, is often worth much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flush is a good showcase because it combines free-surface flow, thin films, swirl and transport of solids, and everyone understands the result. But the toilet is the example, not the limit.
The same pattern fits wherever design decisions wait for expensive simulations or tests. In vehicle water management, rain, spray and wading are checked with full-vehicle CFD or in the climatic wind tunnel. In gearboxes and e-motors, oil splash is simulated with particle methods or watched through a transparent housing on a rig. In appliances, spray arms and drum flows; in sensors and driver assistance, keeping cameras and lidar clean and dry.
In each case the three words of the calculator translate directly: a fast model of the main mechanisms, an expensive run that decides, and an iteration that costs a day or more. These rows are examples of where the pattern applies; none of these fast models is part of this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CFD is only one step in the development of a sanitary product, and it is worth being clear about where a fast model helps and where it does not.
A new toilet goes through six steps. Industrial design sets the shape and the look. Product engineering covers the hydraulics, the structure of a wall-hung pan, the interfaces to cistern, frame and seat, and the design rules of ceramics. Prototypes are milled or printed and tested on the rig, and type tests follow EN 997. Then the moulds: mould design and making, pilot casting, drying and firing, and correcting the mould. The piece shrinks about 3 percent in drying and about 10 percent in firing, and it sags under its own weight in the kiln. After that comes series production, and finally certification and quality.
The fast model helps today in product engineering, for the hydraulics, and in prototypes and tests, because fewer designs need a prototype. A possible next step links the hydraulics with the firing: a flush optimised in simulation only reaches the bathroom if the mould allows for the shrinkage and sagging. The other steps are not part of the model.
Many players work on this, and we name them by role. The manufacturer owns the product, the know-how and the data, and makes the decisions. Software vendors provide CAD, CFD and FEM tools. AI and agent platforms connect tools and run studies. Equipment and plant suppliers bring the machines and plants, moulds, ceramic process know-how, pilot trials and factory software. Research institutes bring new methods.
Our role is the engineering partner: fast models built on the manufacturer's own data, connecting the tools it already uses, changing methods and processes together with its engineers, and extra capacity when it is needed. We don't build machines, and we don't add one more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fast model is a tool, and a new tool on its own changes little. Faster development needs six levels to move together, from the value for the business down to the data underneath.
The first column holds questions, not answers, because every company starts from a different place. In a workshop we fill it in together: how long a new variant takes and what it costs, where projects wait, how many loops it takes to the first good fired piece, how each step is checked, which tools are in use, and whether test, pilot and scan data are reused.
Step 1 is what this demo shows: faster variants. More variants per year with fewer prototypes and mould corrections; design, hydraulics and mould teams working on one shared model; variants screened early and physical trials only to confirm; a fast flush model calibrated with CFD and test data; the fast model next to the existing tools; and existing results used for calibration.
Step 2 is where the same work can lead: AI methods and agents. A quicker reaction to market needs, with know-how kept in models; new roles and clear rules on when to trust AI results; agents that run studies while engineers review and decide; physics-informed networks, prediction of firing distortion, and designs derived from targets; an agent platform connecting CAD, simulation and mould design; and models that get better with every test, pilot casting and scan.
Step 2 needs step 1 first. Agents and AI methods only work well on calibrated models and clean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 like this is only useful if it is honest about what it shows.
What it shows: the fast model solves its own equations correctly, checked by 61 automated physics checks, from energy and water balance to convergence with grid and time step. It has been compared with one full CFD simulation of the same bowl, on two meshes, including where the two differ. The AI workflow runs end to end in the browser: optimisation, surrogates, calibration, and the loop that learns from expensive runs. And every figure on the page and in this deck is traceable to a check script or to stored data.
What it does not show yet: the coefficients have not been calibrated against real bowls on a rig. Only one design was compared with CFD, so whether the fast model gets design trends right is open. The expensive runs in the challenge come from a synthetic reference, not real CFD. And noise is a relative indicator that has not been fitted to real recordings.
That is exactly the work a real project would do first, and the next slide shows the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a team start? Not with a platform, but with one design question.
One: pick a recurring design question that today waits for CFD or tests. Recurring matters, because the fast model pays off over many questions.
Two: write down the main mechanisms with the people who know them, and build a fast model around them. It does not need to be perfect; it needs to point the right way and be explainable.
Three: calibrate it with CFD or test data the team already has, and check it on cases it has not seen.
Four: close the loop. Put optimisation on top, and let every new expensive run correct the model, as in the challenge.
In a workshop we take one of your design questions through these steps: where your loop waits, which mechanisms the fast model needs, which data you already have, and what it would save with your own figures in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do next.
Try the page. The guided story walks through all four parts: the fast model, the check against CFD, AI in the engineering loop, and what it means for your team, with the calculator. Every tool runs live in the browser, nothing is installed.
Watch the story. The video is the whole guided story, recorded at reading pace.
And contact me, Peter Fintl, to look at one of your own design questions in a workshop: where your loop waits, what a fast model would need, and what it would save with your own figures.
The link is fintlp.github.io/jet-flush-model; the QR code opens it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8131D"/>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8FA3B5"/>
                </a:solidFill>
              </a:rPr>
              <a:t>Peter Fintl   ·   github.com/fintlp/jet-flush-model   ·   v2.1.1   ·   26 October 2026</a:t>
            </a:r>
            <a:endParaRPr lang="en-US" sz="1000" dirty="0"/>
          </a:p>
        </p:txBody>
      </p:sp>
      <p:sp>
        <p:nvSpPr>
          <p:cNvPr id="3" name="Text 1"/>
          <p:cNvSpPr/>
          <p:nvPr>
            <p:ph idx="101" type="title" hasCustomPrompt="1"/>
          </p:nvPr>
        </p:nvSpPr>
        <p:spPr>
          <a:xfrm>
            <a:off x="548640" y="868680"/>
            <a:ext cx="6126480" cy="173736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ss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2667A"/>
                </a:solidFill>
              </a:rPr>
              <a:t>Peter Fintl   ·   github.com/fintlp/jet-flush-model   ·   v2.1.1   ·   26 October 2026</a:t>
            </a:r>
            <a:endParaRPr lang="en-US" sz="1000" dirty="0"/>
          </a:p>
        </p:txBody>
      </p:sp>
      <p:sp>
        <p:nvSpPr>
          <p:cNvPr id="3" name="Text 1"/>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3000" b="1" dirty="0">
                <a:solidFill>
                  <a:srgbClr val="0F2538"/>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fintlp.github.io/jet-flush-model/" TargetMode="External"/><Relationship Id="rId2" Type="http://schemas.openxmlformats.org/officeDocument/2006/relationships/hyperlink" Target="https://fintlp.github.io/latest-news/#contact" TargetMode="External"/><Relationship Id="rId3" Type="http://schemas.openxmlformats.org/officeDocument/2006/relationships/video" Target="../media/media-13-1.mp4"/><Relationship Id="rId4" Type="http://schemas.microsoft.com/office/2007/relationships/media" Target="../media/media-13-1.mp4"/><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TANGENTIAL JET FLUSH MODEL 2.1</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Faster design loops with a fast physics model and AI</a:t>
            </a:r>
            <a:endParaRPr lang="en-US" sz="3800" dirty="0"/>
          </a:p>
        </p:txBody>
      </p:sp>
      <p:sp>
        <p:nvSpPr>
          <p:cNvPr id="4" name="Subtitle"/>
          <p:cNvSpPr txBox="1"/>
          <p:nvPr/>
        </p:nvSpPr>
        <p:spPr>
          <a:xfrm>
            <a:off x="548640" y="2697480"/>
            <a:ext cx="5943600" cy="822960"/>
          </a:xfrm>
          <a:prstGeom prst="rect">
            <a:avLst/>
          </a:prstGeom>
          <a:noFill/>
          <a:ln/>
        </p:spPr>
        <p:txBody>
          <a:bodyPr wrap="square" lIns="0" tIns="0" rIns="0" bIns="0" rtlCol="0" anchor="t"/>
          <a:lstStyle/>
          <a:p>
            <a:pPr indent="0" marL="0">
              <a:buNone/>
            </a:pPr>
            <a:r>
              <a:rPr lang="en-US" sz="1600" dirty="0">
                <a:solidFill>
                  <a:srgbClr val="C9D6E2"/>
                </a:solidFill>
              </a:rPr>
              <a:t>A rimless toilet flush as a worked example: answer most design questions in seconds, and spend expensive simulation only where it decides.</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85432" y="685800"/>
            <a:ext cx="4754880" cy="3236476"/>
          </a:xfrm>
          <a:prstGeom prst="rect">
            <a:avLst/>
          </a:prstGeom>
        </p:spPr>
      </p:pic>
      <p:sp>
        <p:nvSpPr>
          <p:cNvPr id="6" name="Caption"/>
          <p:cNvSpPr txBox="1"/>
          <p:nvPr/>
        </p:nvSpPr>
        <p:spPr>
          <a:xfrm>
            <a:off x="6885432" y="3986284"/>
            <a:ext cx="4754880" cy="365760"/>
          </a:xfrm>
          <a:prstGeom prst="rect">
            <a:avLst/>
          </a:prstGeom>
          <a:noFill/>
          <a:ln/>
        </p:spPr>
        <p:txBody>
          <a:bodyPr wrap="square" lIns="0" tIns="0" rIns="0" bIns="0" rtlCol="0" anchor="t"/>
          <a:lstStyle/>
          <a:p>
            <a:pPr indent="0" marL="0">
              <a:buNone/>
            </a:pPr>
            <a:r>
              <a:rPr lang="en-US" sz="1050" dirty="0">
                <a:solidFill>
                  <a:srgbClr val="8FA3B5"/>
                </a:solidFill>
              </a:rPr>
              <a:t>The fast model on the page: one flush, computed in 20 to 40 ms. Films on the wall, pool swirl, waste.</a:t>
            </a:r>
            <a:endParaRPr lang="en-US" sz="1050" dirty="0"/>
          </a:p>
        </p:txBody>
      </p:sp>
      <p:sp>
        <p:nvSpPr>
          <p:cNvPr id="7" name="Key message card"/>
          <p:cNvSpPr/>
          <p:nvPr/>
        </p:nvSpPr>
        <p:spPr>
          <a:xfrm>
            <a:off x="548640" y="3703320"/>
            <a:ext cx="5943600" cy="1325880"/>
          </a:xfrm>
          <a:prstGeom prst="roundRect">
            <a:avLst>
              <a:gd name="adj" fmla="val 8276"/>
            </a:avLst>
          </a:prstGeom>
          <a:solidFill>
            <a:srgbClr val="122333"/>
          </a:solidFill>
          <a:ln w="9525">
            <a:solidFill>
              <a:srgbClr val="1C3044"/>
            </a:solidFill>
            <a:prstDash val="solid"/>
          </a:ln>
        </p:spPr>
      </p:sp>
      <p:sp>
        <p:nvSpPr>
          <p:cNvPr id="8" name="Stat 1 value"/>
          <p:cNvSpPr txBox="1"/>
          <p:nvPr/>
        </p:nvSpPr>
        <p:spPr>
          <a:xfrm>
            <a:off x="777240" y="3767328"/>
            <a:ext cx="5486400" cy="457200"/>
          </a:xfrm>
          <a:prstGeom prst="rect">
            <a:avLst/>
          </a:prstGeom>
          <a:noFill/>
          <a:ln/>
        </p:spPr>
        <p:txBody>
          <a:bodyPr wrap="square" lIns="0" tIns="0" rIns="0" bIns="0" rtlCol="0" anchor="b"/>
          <a:lstStyle/>
          <a:p>
            <a:pPr indent="0" marL="0">
              <a:buNone/>
            </a:pPr>
            <a:r>
              <a:rPr lang="en-US" sz="2400" b="1" dirty="0">
                <a:solidFill>
                  <a:srgbClr val="12ABDB"/>
                </a:solidFill>
              </a:rPr>
              <a:t>6 fewer expensive iterations</a:t>
            </a:r>
            <a:endParaRPr lang="en-US" sz="2400" dirty="0"/>
          </a:p>
        </p:txBody>
      </p:sp>
      <p:sp>
        <p:nvSpPr>
          <p:cNvPr id="9" name="Stat 1 label"/>
          <p:cNvSpPr txBox="1"/>
          <p:nvPr/>
        </p:nvSpPr>
        <p:spPr>
          <a:xfrm>
            <a:off x="777240" y="4297680"/>
            <a:ext cx="5486400" cy="685800"/>
          </a:xfrm>
          <a:prstGeom prst="rect">
            <a:avLst/>
          </a:prstGeom>
          <a:noFill/>
          <a:ln/>
        </p:spPr>
        <p:txBody>
          <a:bodyPr wrap="square" lIns="0" tIns="0" rIns="0" bIns="0" rtlCol="0" anchor="t"/>
          <a:lstStyle/>
          <a:p>
            <a:pPr indent="0" marL="0">
              <a:buNone/>
            </a:pPr>
            <a:r>
              <a:rPr lang="en-US" sz="1350" dirty="0">
                <a:solidFill>
                  <a:srgbClr val="FFFFFF"/>
                </a:solidFill>
              </a:rPr>
              <a:t>per design question in the typical project of our challenge: 10.5 </a:t>
            </a:r>
            <a:pPr indent="0" marL="0">
              <a:buNone/>
            </a:pPr>
            <a:r>
              <a:rPr lang="en-US" sz="1350" dirty="0">
                <a:solidFill>
                  <a:srgbClr val="FFFFFF"/>
                </a:solidFill>
                <a:latin typeface="Arial" pitchFamily="34" charset="0"/>
                <a:ea typeface="Arial" pitchFamily="34" charset="-122"/>
                <a:cs typeface="Arial" pitchFamily="34" charset="-120"/>
              </a:rPr>
              <a:t>→</a:t>
            </a:r>
            <a:pPr indent="0" marL="0">
              <a:buNone/>
            </a:pPr>
            <a:r>
              <a:rPr lang="en-US" sz="1350" dirty="0">
                <a:solidFill>
                  <a:srgbClr val="FFFFFF"/>
                </a:solidFill>
              </a:rPr>
              <a:t> 4.5, about 6 working days (synthetic reference, see slide 6)</a:t>
            </a:r>
            <a:endParaRPr lang="en-US" sz="1350" dirty="0"/>
          </a:p>
        </p:txBody>
      </p:sp>
      <p:sp>
        <p:nvSpPr>
          <p:cNvPr id="10" name="Live link card"/>
          <p:cNvSpPr/>
          <p:nvPr/>
        </p:nvSpPr>
        <p:spPr>
          <a:xfrm>
            <a:off x="548640" y="5193792"/>
            <a:ext cx="5943600" cy="502920"/>
          </a:xfrm>
          <a:prstGeom prst="roundRect">
            <a:avLst>
              <a:gd name="adj" fmla="val 21818"/>
            </a:avLst>
          </a:prstGeom>
          <a:solidFill>
            <a:srgbClr val="122333"/>
          </a:solidFill>
          <a:ln w="9525">
            <a:solidFill>
              <a:srgbClr val="1C3044"/>
            </a:solidFill>
            <a:prstDash val="solid"/>
          </a:ln>
        </p:spPr>
      </p:sp>
      <p:sp>
        <p:nvSpPr>
          <p:cNvPr id="11" name="Live link"/>
          <p:cNvSpPr txBox="1"/>
          <p:nvPr/>
        </p:nvSpPr>
        <p:spPr>
          <a:xfrm>
            <a:off x="777240" y="5193792"/>
            <a:ext cx="5577840" cy="502920"/>
          </a:xfrm>
          <a:prstGeom prst="rect">
            <a:avLst/>
          </a:prstGeom>
          <a:noFill/>
          <a:ln/>
        </p:spPr>
        <p:txBody>
          <a:bodyPr wrap="square" lIns="0" tIns="0" rIns="0" bIns="0" rtlCol="0" anchor="ctr"/>
          <a:lstStyle/>
          <a:p>
            <a:pPr indent="0" marL="0">
              <a:buNone/>
            </a:pPr>
            <a:r>
              <a:rPr lang="en-US" sz="1500" b="1" dirty="0">
                <a:solidFill>
                  <a:srgbClr val="FFFFFF"/>
                </a:solidFill>
              </a:rPr>
              <a:t>Try it live   </a:t>
            </a:r>
            <a:pPr indent="0" marL="0">
              <a:buNone/>
            </a:pPr>
            <a:r>
              <a:rPr lang="en-US" sz="1500" u="sng" dirty="0">
                <a:solidFill>
                  <a:srgbClr val="12ABDB"/>
                </a:solidFill>
                <a:hlinkClick r:id="rId4"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5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the model is physics-based but not yet calibrated against real bowls; the challenge uses a synthetic reference; the CFD is a second simulation of one design. Each slide says what is measured and what is assumed.</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PROBLEM</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loops wait for expensive answers</a:t>
            </a:r>
            <a:endParaRPr lang="en-US" sz="3000" dirty="0"/>
          </a:p>
        </p:txBody>
      </p:sp>
      <p:sp>
        <p:nvSpPr>
          <p:cNvPr id="4" name="Problem points"/>
          <p:cNvSpPr txBox="1"/>
          <p:nvPr/>
        </p:nvSpPr>
        <p:spPr>
          <a:xfrm>
            <a:off x="548640" y="1691640"/>
            <a:ext cx="5120640" cy="3931920"/>
          </a:xfrm>
          <a:prstGeom prst="rect">
            <a:avLst/>
          </a:prstGeom>
          <a:noFill/>
          <a:ln/>
        </p:spPr>
        <p:txBody>
          <a:bodyPr wrap="square" lIns="0" tIns="0" rIns="0" bIns="0" rtlCol="0" anchor="t"/>
          <a:lstStyle/>
          <a:p>
            <a:pPr indent="0" marL="0">
              <a:spcAft>
                <a:spcPts val="1400"/>
              </a:spcAft>
              <a:buNone/>
            </a:pPr>
            <a:r>
              <a:rPr lang="en-US" sz="1600" b="1" dirty="0">
                <a:solidFill>
                  <a:srgbClr val="0F2538"/>
                </a:solidFill>
              </a:rPr>
              <a:t>Every design question waits. </a:t>
            </a:r>
            <a:pPr indent="0" marL="0">
              <a:spcAft>
                <a:spcPts val="1400"/>
              </a:spcAft>
              <a:buNone/>
            </a:pPr>
            <a:r>
              <a:rPr lang="en-US" sz="1600" dirty="0">
                <a:solidFill>
                  <a:srgbClr val="0F2538"/>
                </a:solidFill>
              </a:rPr>
              <a:t>Each candidate goes through a high-fidelity simulation or a prototype: set it up, run it, evaluate it, decide.</a:t>
            </a:r>
            <a:endParaRPr lang="en-US" sz="1600" dirty="0"/>
          </a:p>
          <a:p>
            <a:pPr indent="0" marL="0">
              <a:spcAft>
                <a:spcPts val="1400"/>
              </a:spcAft>
              <a:buNone/>
            </a:pPr>
            <a:r>
              <a:rPr lang="en-US" sz="1600" b="1" dirty="0">
                <a:solidFill>
                  <a:srgbClr val="0F2538"/>
                </a:solidFill>
              </a:rPr>
              <a:t>About one working day per iteration. </a:t>
            </a:r>
            <a:pPr indent="0" marL="0">
              <a:spcAft>
                <a:spcPts val="1400"/>
              </a:spcAft>
              <a:buNone/>
            </a:pPr>
            <a:r>
              <a:rPr lang="en-US" sz="1600" dirty="0">
                <a:solidFill>
                  <a:srgbClr val="0F2538"/>
                </a:solidFill>
              </a:rPr>
              <a:t>Geberit reported this for its CFD-led bowl development, with more than 100 virtual drafts before the first prototype.</a:t>
            </a:r>
            <a:endParaRPr lang="en-US" sz="1600" dirty="0"/>
          </a:p>
          <a:p>
            <a:pPr indent="0" marL="0">
              <a:spcAft>
                <a:spcPts val="1400"/>
              </a:spcAft>
              <a:buNone/>
            </a:pPr>
            <a:r>
              <a:rPr lang="en-US" sz="1600" b="1" dirty="0">
                <a:solidFill>
                  <a:srgbClr val="0F2538"/>
                </a:solidFill>
              </a:rPr>
              <a:t>So teams ask few questions. </a:t>
            </a:r>
            <a:pPr indent="0" marL="0">
              <a:spcAft>
                <a:spcPts val="1400"/>
              </a:spcAft>
              <a:buNone/>
            </a:pPr>
            <a:r>
              <a:rPr lang="en-US" sz="1600" dirty="0">
                <a:solidFill>
                  <a:srgbClr val="0F2538"/>
                </a:solidFill>
              </a:rPr>
              <a:t>Many design decisions are still made on experience, before any number exists.</a:t>
            </a:r>
            <a:endParaRPr lang="en-US" sz="1600" dirty="0"/>
          </a:p>
          <a:p>
            <a:pPr indent="0" marL="0">
              <a:spcAft>
                <a:spcPts val="1400"/>
              </a:spcAft>
              <a:buNone/>
            </a:pPr>
            <a:r>
              <a:rPr lang="en-US" sz="1600" b="1" dirty="0">
                <a:solidFill>
                  <a:srgbClr val="0F2538"/>
                </a:solidFill>
              </a:rPr>
              <a:t>Late answers are expensive. </a:t>
            </a:r>
            <a:pPr indent="0" marL="0">
              <a:spcAft>
                <a:spcPts val="1400"/>
              </a:spcAft>
              <a:buNone/>
            </a:pPr>
            <a:r>
              <a:rPr lang="en-US" sz="1600" dirty="0">
                <a:solidFill>
                  <a:srgbClr val="0F2538"/>
                </a:solidFill>
              </a:rPr>
              <a:t>A weak decision found late costs most to change: in the tool, the mould, the production line.</a:t>
            </a:r>
            <a:endParaRPr lang="en-US" sz="1600" dirty="0"/>
          </a:p>
        </p:txBody>
      </p:sp>
      <p:sp>
        <p:nvSpPr>
          <p:cNvPr id="5" name="Loop step 1"/>
          <p:cNvSpPr/>
          <p:nvPr/>
        </p:nvSpPr>
        <p:spPr>
          <a:xfrm>
            <a:off x="7744968" y="1691640"/>
            <a:ext cx="2194560" cy="777240"/>
          </a:xfrm>
          <a:prstGeom prst="roundRect">
            <a:avLst>
              <a:gd name="adj" fmla="val 14118"/>
            </a:avLst>
          </a:prstGeom>
          <a:solidFill>
            <a:srgbClr val="F3F5F8"/>
          </a:solidFill>
          <a:ln w="9525">
            <a:solidFill>
              <a:srgbClr val="D8E0E8"/>
            </a:solidFill>
            <a:prstDash val="solid"/>
          </a:ln>
        </p:spPr>
      </p:sp>
      <p:sp>
        <p:nvSpPr>
          <p:cNvPr id="6" name="Loop step 1 text"/>
          <p:cNvSpPr txBox="1"/>
          <p:nvPr/>
        </p:nvSpPr>
        <p:spPr>
          <a:xfrm>
            <a:off x="7744968" y="1691640"/>
            <a:ext cx="219456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Design idea</a:t>
            </a:r>
            <a:endParaRPr lang="en-US" sz="1500" dirty="0"/>
          </a:p>
        </p:txBody>
      </p:sp>
      <p:sp>
        <p:nvSpPr>
          <p:cNvPr id="7" name="Loop step 2"/>
          <p:cNvSpPr/>
          <p:nvPr/>
        </p:nvSpPr>
        <p:spPr>
          <a:xfrm>
            <a:off x="9811512" y="3223260"/>
            <a:ext cx="1828800" cy="777240"/>
          </a:xfrm>
          <a:prstGeom prst="roundRect">
            <a:avLst>
              <a:gd name="adj" fmla="val 14118"/>
            </a:avLst>
          </a:prstGeom>
          <a:solidFill>
            <a:srgbClr val="F3F5F8"/>
          </a:solidFill>
          <a:ln w="9525">
            <a:solidFill>
              <a:srgbClr val="D8E0E8"/>
            </a:solidFill>
            <a:prstDash val="solid"/>
          </a:ln>
        </p:spPr>
      </p:sp>
      <p:sp>
        <p:nvSpPr>
          <p:cNvPr id="8" name="Loop step 2 text"/>
          <p:cNvSpPr txBox="1"/>
          <p:nvPr/>
        </p:nvSpPr>
        <p:spPr>
          <a:xfrm>
            <a:off x="9811512"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Set up the run</a:t>
            </a:r>
            <a:endParaRPr lang="en-US" sz="1500" dirty="0"/>
          </a:p>
        </p:txBody>
      </p:sp>
      <p:sp>
        <p:nvSpPr>
          <p:cNvPr id="9" name="Loop step 3"/>
          <p:cNvSpPr/>
          <p:nvPr/>
        </p:nvSpPr>
        <p:spPr>
          <a:xfrm>
            <a:off x="7744968" y="4754880"/>
            <a:ext cx="2194560" cy="777240"/>
          </a:xfrm>
          <a:prstGeom prst="roundRect">
            <a:avLst>
              <a:gd name="adj" fmla="val 14118"/>
            </a:avLst>
          </a:prstGeom>
          <a:solidFill>
            <a:srgbClr val="F4ECE4"/>
          </a:solidFill>
          <a:ln w="9525">
            <a:solidFill>
              <a:srgbClr val="8A5A2B"/>
            </a:solidFill>
            <a:prstDash val="solid"/>
          </a:ln>
        </p:spPr>
      </p:sp>
      <p:sp>
        <p:nvSpPr>
          <p:cNvPr id="10" name="Loop step 3 text"/>
          <p:cNvSpPr txBox="1"/>
          <p:nvPr/>
        </p:nvSpPr>
        <p:spPr>
          <a:xfrm>
            <a:off x="7744968" y="4754880"/>
            <a:ext cx="2194560" cy="777240"/>
          </a:xfrm>
          <a:prstGeom prst="rect">
            <a:avLst/>
          </a:prstGeom>
          <a:noFill/>
          <a:ln/>
        </p:spPr>
        <p:txBody>
          <a:bodyPr wrap="square" lIns="635" tIns="635" rIns="635" bIns="635" rtlCol="0" anchor="ctr"/>
          <a:lstStyle/>
          <a:p>
            <a:pPr algn="ctr" indent="0" marL="0">
              <a:buNone/>
            </a:pPr>
            <a:r>
              <a:rPr lang="en-US" sz="1500" b="1" dirty="0">
                <a:solidFill>
                  <a:srgbClr val="8A5A2B"/>
                </a:solidFill>
              </a:rPr>
              <a:t>CFD run or prototype</a:t>
            </a:r>
            <a:endParaRPr lang="en-US" sz="1500" dirty="0"/>
          </a:p>
        </p:txBody>
      </p:sp>
      <p:sp>
        <p:nvSpPr>
          <p:cNvPr id="11" name="Loop step 4"/>
          <p:cNvSpPr/>
          <p:nvPr/>
        </p:nvSpPr>
        <p:spPr>
          <a:xfrm>
            <a:off x="6035040" y="3223260"/>
            <a:ext cx="1828800" cy="777240"/>
          </a:xfrm>
          <a:prstGeom prst="roundRect">
            <a:avLst>
              <a:gd name="adj" fmla="val 14118"/>
            </a:avLst>
          </a:prstGeom>
          <a:solidFill>
            <a:srgbClr val="F3F5F8"/>
          </a:solidFill>
          <a:ln w="9525">
            <a:solidFill>
              <a:srgbClr val="D8E0E8"/>
            </a:solidFill>
            <a:prstDash val="solid"/>
          </a:ln>
        </p:spPr>
      </p:sp>
      <p:sp>
        <p:nvSpPr>
          <p:cNvPr id="12" name="Loop step 4 text"/>
          <p:cNvSpPr txBox="1"/>
          <p:nvPr/>
        </p:nvSpPr>
        <p:spPr>
          <a:xfrm>
            <a:off x="6035040"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Evaluate and decide</a:t>
            </a:r>
            <a:endParaRPr lang="en-US" sz="1500" dirty="0"/>
          </a:p>
        </p:txBody>
      </p:sp>
      <p:sp>
        <p:nvSpPr>
          <p:cNvPr id="13" name="Loop arrow 1"/>
          <p:cNvSpPr/>
          <p:nvPr/>
        </p:nvSpPr>
        <p:spPr>
          <a:xfrm>
            <a:off x="9985248" y="2080260"/>
            <a:ext cx="740664" cy="1069848"/>
          </a:xfrm>
          <a:prstGeom prst="line">
            <a:avLst/>
          </a:prstGeom>
          <a:noFill/>
          <a:ln w="19050">
            <a:solidFill>
              <a:srgbClr val="52667A"/>
            </a:solidFill>
            <a:prstDash val="solid"/>
            <a:tailEnd type="triangle"/>
          </a:ln>
        </p:spPr>
      </p:sp>
      <p:sp>
        <p:nvSpPr>
          <p:cNvPr id="14" name="Loop arrow 2"/>
          <p:cNvSpPr/>
          <p:nvPr/>
        </p:nvSpPr>
        <p:spPr>
          <a:xfrm flipH="1">
            <a:off x="9985248" y="4073652"/>
            <a:ext cx="740664" cy="1069848"/>
          </a:xfrm>
          <a:prstGeom prst="line">
            <a:avLst/>
          </a:prstGeom>
          <a:noFill/>
          <a:ln w="19050">
            <a:solidFill>
              <a:srgbClr val="52667A"/>
            </a:solidFill>
            <a:prstDash val="solid"/>
            <a:tailEnd type="triangle"/>
          </a:ln>
        </p:spPr>
      </p:sp>
      <p:sp>
        <p:nvSpPr>
          <p:cNvPr id="15" name="Loop arrow 3"/>
          <p:cNvSpPr/>
          <p:nvPr/>
        </p:nvSpPr>
        <p:spPr>
          <a:xfrm flipH="1" flipV="1">
            <a:off x="6949440" y="4073652"/>
            <a:ext cx="749808" cy="1069848"/>
          </a:xfrm>
          <a:prstGeom prst="line">
            <a:avLst/>
          </a:prstGeom>
          <a:noFill/>
          <a:ln w="19050">
            <a:solidFill>
              <a:srgbClr val="52667A"/>
            </a:solidFill>
            <a:prstDash val="solid"/>
            <a:tailEnd type="triangle"/>
          </a:ln>
        </p:spPr>
      </p:sp>
      <p:sp>
        <p:nvSpPr>
          <p:cNvPr id="16" name="Loop arrow 4"/>
          <p:cNvSpPr/>
          <p:nvPr/>
        </p:nvSpPr>
        <p:spPr>
          <a:xfrm flipV="1">
            <a:off x="6949440" y="2080260"/>
            <a:ext cx="749808" cy="1069848"/>
          </a:xfrm>
          <a:prstGeom prst="line">
            <a:avLst/>
          </a:prstGeom>
          <a:noFill/>
          <a:ln w="19050">
            <a:solidFill>
              <a:srgbClr val="52667A"/>
            </a:solidFill>
            <a:prstDash val="solid"/>
            <a:tailEnd type="triangle"/>
          </a:ln>
        </p:spPr>
      </p:sp>
      <p:sp>
        <p:nvSpPr>
          <p:cNvPr id="17" name="Loop time"/>
          <p:cNvSpPr txBox="1"/>
          <p:nvPr/>
        </p:nvSpPr>
        <p:spPr>
          <a:xfrm>
            <a:off x="7927848" y="3200400"/>
            <a:ext cx="1828800" cy="457200"/>
          </a:xfrm>
          <a:prstGeom prst="rect">
            <a:avLst/>
          </a:prstGeom>
          <a:noFill/>
          <a:ln/>
        </p:spPr>
        <p:txBody>
          <a:bodyPr wrap="square" lIns="0" tIns="0" rIns="0" bIns="0" rtlCol="0" anchor="ctr"/>
          <a:lstStyle/>
          <a:p>
            <a:pPr algn="ctr" indent="0" marL="0">
              <a:buNone/>
            </a:pPr>
            <a:r>
              <a:rPr lang="en-US" sz="2400" b="1" dirty="0">
                <a:solidFill>
                  <a:srgbClr val="0070AD"/>
                </a:solidFill>
                <a:latin typeface="Arial" pitchFamily="34" charset="0"/>
                <a:ea typeface="Arial" pitchFamily="34" charset="-122"/>
                <a:cs typeface="Arial" pitchFamily="34" charset="-120"/>
              </a:rPr>
              <a:t>≈</a:t>
            </a:r>
            <a:pPr algn="ctr" indent="0" marL="0">
              <a:buNone/>
            </a:pPr>
            <a:r>
              <a:rPr lang="en-US" sz="2400" b="1" dirty="0">
                <a:solidFill>
                  <a:srgbClr val="0070AD"/>
                </a:solidFill>
              </a:rPr>
              <a:t> 1 day</a:t>
            </a:r>
            <a:endParaRPr lang="en-US" sz="2400" dirty="0"/>
          </a:p>
        </p:txBody>
      </p:sp>
      <p:sp>
        <p:nvSpPr>
          <p:cNvPr id="18" name="Loop time label"/>
          <p:cNvSpPr txBox="1"/>
          <p:nvPr/>
        </p:nvSpPr>
        <p:spPr>
          <a:xfrm>
            <a:off x="7927848" y="3666744"/>
            <a:ext cx="1828800" cy="457200"/>
          </a:xfrm>
          <a:prstGeom prst="rect">
            <a:avLst/>
          </a:prstGeom>
          <a:noFill/>
          <a:ln/>
        </p:spPr>
        <p:txBody>
          <a:bodyPr wrap="square" lIns="0" tIns="0" rIns="0" bIns="0" rtlCol="0" anchor="t"/>
          <a:lstStyle/>
          <a:p>
            <a:pPr algn="ctr" indent="0" marL="0">
              <a:buNone/>
            </a:pPr>
            <a:r>
              <a:rPr lang="en-US" sz="1200" dirty="0">
                <a:solidFill>
                  <a:srgbClr val="52667A"/>
                </a:solidFill>
              </a:rPr>
              <a:t>one working day per turn of the loop</a:t>
            </a:r>
            <a:endParaRPr lang="en-US" sz="1200" dirty="0"/>
          </a:p>
        </p:txBody>
      </p:sp>
      <p:sp>
        <p:nvSpPr>
          <p:cNvPr id="19"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Source: CADFEM Journal, "Simulation leads Geberit to design a toilet bowl with asymmetrical geometry". The same pattern holds wherever design decisions wait for CFD, crash, rig or prototype tests.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APPROACH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Fast physics explores, AI narrows, high fidelity decides</a:t>
            </a:r>
            <a:endParaRPr lang="en-US" sz="3000" dirty="0"/>
          </a:p>
        </p:txBody>
      </p:sp>
      <p:sp>
        <p:nvSpPr>
          <p:cNvPr id="4" name="Tier 1"/>
          <p:cNvSpPr/>
          <p:nvPr/>
        </p:nvSpPr>
        <p:spPr>
          <a:xfrm>
            <a:off x="548640" y="1737360"/>
            <a:ext cx="6766560" cy="1005840"/>
          </a:xfrm>
          <a:prstGeom prst="roundRect">
            <a:avLst>
              <a:gd name="adj" fmla="val 10909"/>
            </a:avLst>
          </a:prstGeom>
          <a:solidFill>
            <a:srgbClr val="E3EEF5"/>
          </a:solidFill>
          <a:ln w="9525">
            <a:solidFill>
              <a:srgbClr val="E3EEF5"/>
            </a:solidFill>
            <a:prstDash val="solid"/>
          </a:ln>
        </p:spPr>
      </p:sp>
      <p:sp>
        <p:nvSpPr>
          <p:cNvPr id="5" name="Tier 1 circle"/>
          <p:cNvSpPr/>
          <p:nvPr/>
        </p:nvSpPr>
        <p:spPr>
          <a:xfrm>
            <a:off x="777240" y="1984248"/>
            <a:ext cx="512064" cy="512064"/>
          </a:xfrm>
          <a:prstGeom prst="ellipse">
            <a:avLst/>
          </a:prstGeom>
          <a:solidFill>
            <a:srgbClr val="0070AD"/>
          </a:solidFill>
          <a:ln w="12700">
            <a:solidFill>
              <a:srgbClr val="0070AD"/>
            </a:solidFill>
            <a:prstDash val="solid"/>
          </a:ln>
        </p:spPr>
      </p:sp>
      <p:sp>
        <p:nvSpPr>
          <p:cNvPr id="6" name="Tier 1 number"/>
          <p:cNvSpPr txBox="1"/>
          <p:nvPr/>
        </p:nvSpPr>
        <p:spPr>
          <a:xfrm>
            <a:off x="777240" y="19842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ier 1 text"/>
          <p:cNvSpPr txBox="1"/>
          <p:nvPr/>
        </p:nvSpPr>
        <p:spPr>
          <a:xfrm>
            <a:off x="1463040" y="1828800"/>
            <a:ext cx="5669280" cy="822960"/>
          </a:xfrm>
          <a:prstGeom prst="rect">
            <a:avLst/>
          </a:prstGeom>
          <a:noFill/>
          <a:ln/>
        </p:spPr>
        <p:txBody>
          <a:bodyPr wrap="square" lIns="0" tIns="0" rIns="0" bIns="0" rtlCol="0" anchor="ctr"/>
          <a:lstStyle/>
          <a:p>
            <a:pPr indent="0" marL="0">
              <a:buNone/>
            </a:pPr>
            <a:r>
              <a:rPr lang="en-US" sz="1700" b="1" dirty="0">
                <a:solidFill>
                  <a:srgbClr val="0F2538"/>
                </a:solidFill>
              </a:rPr>
              <a:t>Fast physics model</a:t>
            </a:r>
            <a:endParaRPr lang="en-US" sz="1700" dirty="0"/>
          </a:p>
          <a:p>
            <a:pPr indent="0" marL="0">
              <a:buNone/>
            </a:pPr>
            <a:r>
              <a:rPr lang="en-US" sz="1400" dirty="0">
                <a:solidFill>
                  <a:srgbClr val="0F2538"/>
                </a:solidFill>
              </a:rPr>
              <a:t>thousands of variants, milliseconds each</a:t>
            </a:r>
            <a:endParaRPr lang="en-US" sz="1700" dirty="0"/>
          </a:p>
        </p:txBody>
      </p:sp>
      <p:sp>
        <p:nvSpPr>
          <p:cNvPr id="8" name="Tier 2"/>
          <p:cNvSpPr/>
          <p:nvPr/>
        </p:nvSpPr>
        <p:spPr>
          <a:xfrm>
            <a:off x="960120" y="2926080"/>
            <a:ext cx="5943600" cy="1005840"/>
          </a:xfrm>
          <a:prstGeom prst="roundRect">
            <a:avLst>
              <a:gd name="adj" fmla="val 10909"/>
            </a:avLst>
          </a:prstGeom>
          <a:solidFill>
            <a:srgbClr val="D7E8F2"/>
          </a:solidFill>
          <a:ln w="9525">
            <a:solidFill>
              <a:srgbClr val="D7E8F2"/>
            </a:solidFill>
            <a:prstDash val="solid"/>
          </a:ln>
        </p:spPr>
      </p:sp>
      <p:sp>
        <p:nvSpPr>
          <p:cNvPr id="9" name="Tier 2 circle"/>
          <p:cNvSpPr/>
          <p:nvPr/>
        </p:nvSpPr>
        <p:spPr>
          <a:xfrm>
            <a:off x="1188720" y="3172968"/>
            <a:ext cx="512064" cy="512064"/>
          </a:xfrm>
          <a:prstGeom prst="ellipse">
            <a:avLst/>
          </a:prstGeom>
          <a:solidFill>
            <a:srgbClr val="0070AD"/>
          </a:solidFill>
          <a:ln w="12700">
            <a:solidFill>
              <a:srgbClr val="0070AD"/>
            </a:solidFill>
            <a:prstDash val="solid"/>
          </a:ln>
        </p:spPr>
      </p:sp>
      <p:sp>
        <p:nvSpPr>
          <p:cNvPr id="10" name="Tier 2 number"/>
          <p:cNvSpPr txBox="1"/>
          <p:nvPr/>
        </p:nvSpPr>
        <p:spPr>
          <a:xfrm>
            <a:off x="1188720" y="317296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ier 2 text"/>
          <p:cNvSpPr txBox="1"/>
          <p:nvPr/>
        </p:nvSpPr>
        <p:spPr>
          <a:xfrm>
            <a:off x="1874520" y="3017520"/>
            <a:ext cx="4846320" cy="822960"/>
          </a:xfrm>
          <a:prstGeom prst="rect">
            <a:avLst/>
          </a:prstGeom>
          <a:noFill/>
          <a:ln/>
        </p:spPr>
        <p:txBody>
          <a:bodyPr wrap="square" lIns="0" tIns="0" rIns="0" bIns="0" rtlCol="0" anchor="ctr"/>
          <a:lstStyle/>
          <a:p>
            <a:pPr indent="0" marL="0">
              <a:buNone/>
            </a:pPr>
            <a:r>
              <a:rPr lang="en-US" sz="1700" b="1" dirty="0">
                <a:solidFill>
                  <a:srgbClr val="0F2538"/>
                </a:solidFill>
              </a:rPr>
              <a:t>AI on top</a:t>
            </a:r>
            <a:endParaRPr lang="en-US" sz="1700" dirty="0"/>
          </a:p>
          <a:p>
            <a:pPr indent="0" marL="0">
              <a:buNone/>
            </a:pPr>
            <a:r>
              <a:rPr lang="en-US" sz="1400" dirty="0">
                <a:solidFill>
                  <a:srgbClr val="0F2538"/>
                </a:solidFill>
              </a:rPr>
              <a:t>optimise, learn surrogates, correct the model: tens of candidates</a:t>
            </a:r>
            <a:endParaRPr lang="en-US" sz="1700" dirty="0"/>
          </a:p>
        </p:txBody>
      </p:sp>
      <p:sp>
        <p:nvSpPr>
          <p:cNvPr id="12" name="Tier 3"/>
          <p:cNvSpPr/>
          <p:nvPr/>
        </p:nvSpPr>
        <p:spPr>
          <a:xfrm>
            <a:off x="1371600" y="4114800"/>
            <a:ext cx="5120640" cy="1005840"/>
          </a:xfrm>
          <a:prstGeom prst="roundRect">
            <a:avLst>
              <a:gd name="adj" fmla="val 10909"/>
            </a:avLst>
          </a:prstGeom>
          <a:solidFill>
            <a:srgbClr val="DCEFE9"/>
          </a:solidFill>
          <a:ln w="9525">
            <a:solidFill>
              <a:srgbClr val="DCEFE9"/>
            </a:solidFill>
            <a:prstDash val="solid"/>
          </a:ln>
        </p:spPr>
      </p:sp>
      <p:sp>
        <p:nvSpPr>
          <p:cNvPr id="13" name="Tier 3 circle"/>
          <p:cNvSpPr/>
          <p:nvPr/>
        </p:nvSpPr>
        <p:spPr>
          <a:xfrm>
            <a:off x="1600200" y="4361688"/>
            <a:ext cx="512064" cy="512064"/>
          </a:xfrm>
          <a:prstGeom prst="ellipse">
            <a:avLst/>
          </a:prstGeom>
          <a:solidFill>
            <a:srgbClr val="17876C"/>
          </a:solidFill>
          <a:ln w="12700">
            <a:solidFill>
              <a:srgbClr val="17876C"/>
            </a:solidFill>
            <a:prstDash val="solid"/>
          </a:ln>
        </p:spPr>
      </p:sp>
      <p:sp>
        <p:nvSpPr>
          <p:cNvPr id="14" name="Tier 3 number"/>
          <p:cNvSpPr txBox="1"/>
          <p:nvPr/>
        </p:nvSpPr>
        <p:spPr>
          <a:xfrm>
            <a:off x="1600200" y="43616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ier 3 text"/>
          <p:cNvSpPr txBox="1"/>
          <p:nvPr/>
        </p:nvSpPr>
        <p:spPr>
          <a:xfrm>
            <a:off x="2286000" y="4206240"/>
            <a:ext cx="4023360" cy="822960"/>
          </a:xfrm>
          <a:prstGeom prst="rect">
            <a:avLst/>
          </a:prstGeom>
          <a:noFill/>
          <a:ln/>
        </p:spPr>
        <p:txBody>
          <a:bodyPr wrap="square" lIns="0" tIns="0" rIns="0" bIns="0" rtlCol="0" anchor="ctr"/>
          <a:lstStyle/>
          <a:p>
            <a:pPr indent="0" marL="0">
              <a:buNone/>
            </a:pPr>
            <a:r>
              <a:rPr lang="en-US" sz="1700" b="1" dirty="0">
                <a:solidFill>
                  <a:srgbClr val="17876C"/>
                </a:solidFill>
              </a:rPr>
              <a:t>High fidelity: CFD, rig, prototype</a:t>
            </a:r>
            <a:endParaRPr lang="en-US" sz="1700" dirty="0"/>
          </a:p>
          <a:p>
            <a:pPr indent="0" marL="0">
              <a:buNone/>
            </a:pPr>
            <a:r>
              <a:rPr lang="en-US" sz="1400" dirty="0">
                <a:solidFill>
                  <a:srgbClr val="0F2538"/>
                </a:solidFill>
              </a:rPr>
              <a:t>a few finalists, hours to days each</a:t>
            </a:r>
            <a:endParaRPr lang="en-US" sz="1700" dirty="0"/>
          </a:p>
        </p:txBody>
      </p:sp>
      <p:sp>
        <p:nvSpPr>
          <p:cNvPr id="16" name="Feedback arrow 1"/>
          <p:cNvSpPr/>
          <p:nvPr/>
        </p:nvSpPr>
        <p:spPr>
          <a:xfrm>
            <a:off x="6903720" y="4526280"/>
            <a:ext cx="548640" cy="914"/>
          </a:xfrm>
          <a:prstGeom prst="line">
            <a:avLst/>
          </a:prstGeom>
          <a:noFill/>
          <a:ln w="19050">
            <a:solidFill>
              <a:srgbClr val="0070AD"/>
            </a:solidFill>
            <a:prstDash val="solid"/>
          </a:ln>
        </p:spPr>
      </p:sp>
      <p:sp>
        <p:nvSpPr>
          <p:cNvPr id="17" name="Feedback arrow 2"/>
          <p:cNvSpPr/>
          <p:nvPr/>
        </p:nvSpPr>
        <p:spPr>
          <a:xfrm flipV="1">
            <a:off x="7452360" y="2240280"/>
            <a:ext cx="914" cy="2286000"/>
          </a:xfrm>
          <a:prstGeom prst="line">
            <a:avLst/>
          </a:prstGeom>
          <a:noFill/>
          <a:ln w="19050">
            <a:solidFill>
              <a:srgbClr val="0070AD"/>
            </a:solidFill>
            <a:prstDash val="solid"/>
          </a:ln>
        </p:spPr>
      </p:sp>
      <p:sp>
        <p:nvSpPr>
          <p:cNvPr id="18" name="Feedback arrow 3"/>
          <p:cNvSpPr/>
          <p:nvPr/>
        </p:nvSpPr>
        <p:spPr>
          <a:xfrm flipH="1">
            <a:off x="7333488" y="2240280"/>
            <a:ext cx="118872" cy="914"/>
          </a:xfrm>
          <a:prstGeom prst="line">
            <a:avLst/>
          </a:prstGeom>
          <a:noFill/>
          <a:ln w="19050">
            <a:solidFill>
              <a:srgbClr val="0070AD"/>
            </a:solidFill>
            <a:prstDash val="solid"/>
            <a:tailEnd type="triangle"/>
          </a:ln>
        </p:spPr>
      </p:sp>
      <p:sp>
        <p:nvSpPr>
          <p:cNvPr id="19" name="Feedback label"/>
          <p:cNvSpPr txBox="1"/>
          <p:nvPr/>
        </p:nvSpPr>
        <p:spPr>
          <a:xfrm>
            <a:off x="7589520" y="2971800"/>
            <a:ext cx="1463040" cy="1005840"/>
          </a:xfrm>
          <a:prstGeom prst="rect">
            <a:avLst/>
          </a:prstGeom>
          <a:noFill/>
          <a:ln/>
        </p:spPr>
        <p:txBody>
          <a:bodyPr wrap="square" lIns="0" tIns="0" rIns="0" bIns="0" rtlCol="0" anchor="t"/>
          <a:lstStyle/>
          <a:p>
            <a:pPr indent="0" marL="0">
              <a:buNone/>
            </a:pPr>
            <a:r>
              <a:rPr lang="en-US" sz="1250" dirty="0">
                <a:solidFill>
                  <a:srgbClr val="0070AD"/>
                </a:solidFill>
              </a:rPr>
              <a:t>every expensive run also calibrates the fast model</a:t>
            </a:r>
            <a:endParaRPr lang="en-US" sz="1250" dirty="0"/>
          </a:p>
        </p:txBody>
      </p:sp>
      <p:sp>
        <p:nvSpPr>
          <p:cNvPr id="20" name="Example card"/>
          <p:cNvSpPr/>
          <p:nvPr/>
        </p:nvSpPr>
        <p:spPr>
          <a:xfrm>
            <a:off x="9189720" y="1737360"/>
            <a:ext cx="2450592" cy="3931920"/>
          </a:xfrm>
          <a:prstGeom prst="roundRect">
            <a:avLst>
              <a:gd name="adj" fmla="val 4478"/>
            </a:avLst>
          </a:prstGeom>
          <a:solidFill>
            <a:srgbClr val="F3F5F8"/>
          </a:solidFill>
          <a:ln w="9525">
            <a:solidFill>
              <a:srgbClr val="D8E0E8"/>
            </a:solidFill>
            <a:prstDash val="solid"/>
          </a:ln>
        </p:spPr>
      </p:sp>
      <p:sp>
        <p:nvSpPr>
          <p:cNvPr id="21" name="Example heading"/>
          <p:cNvSpPr txBox="1"/>
          <p:nvPr/>
        </p:nvSpPr>
        <p:spPr>
          <a:xfrm>
            <a:off x="9372600" y="1874520"/>
            <a:ext cx="2103120" cy="320040"/>
          </a:xfrm>
          <a:prstGeom prst="rect">
            <a:avLst/>
          </a:prstGeom>
          <a:noFill/>
          <a:ln/>
        </p:spPr>
        <p:txBody>
          <a:bodyPr wrap="square" lIns="0" tIns="0" rIns="0" bIns="0" rtlCol="0" anchor="t"/>
          <a:lstStyle/>
          <a:p>
            <a:pPr indent="0" marL="0">
              <a:buNone/>
            </a:pPr>
            <a:r>
              <a:rPr lang="en-US" sz="1400" b="1" dirty="0">
                <a:solidFill>
                  <a:srgbClr val="0F2538"/>
                </a:solidFill>
              </a:rPr>
              <a:t>On the toilet flush</a:t>
            </a:r>
            <a:endParaRPr lang="en-US" sz="1400" dirty="0"/>
          </a:p>
        </p:txBody>
      </p:sp>
      <p:sp>
        <p:nvSpPr>
          <p:cNvPr id="22" name="Stat 1 value"/>
          <p:cNvSpPr txBox="1"/>
          <p:nvPr/>
        </p:nvSpPr>
        <p:spPr>
          <a:xfrm>
            <a:off x="9372600" y="2148840"/>
            <a:ext cx="2148840" cy="411480"/>
          </a:xfrm>
          <a:prstGeom prst="rect">
            <a:avLst/>
          </a:prstGeom>
          <a:noFill/>
          <a:ln/>
        </p:spPr>
        <p:txBody>
          <a:bodyPr wrap="square" lIns="0" tIns="0" rIns="0" bIns="0" rtlCol="0" anchor="b"/>
          <a:lstStyle/>
          <a:p>
            <a:pPr indent="0" marL="0">
              <a:buNone/>
            </a:pPr>
            <a:r>
              <a:rPr lang="en-US" sz="2200" b="1" dirty="0">
                <a:solidFill>
                  <a:srgbClr val="0070AD"/>
                </a:solidFill>
              </a:rPr>
              <a:t>20–40 ms</a:t>
            </a:r>
            <a:endParaRPr lang="en-US" sz="2200" dirty="0"/>
          </a:p>
        </p:txBody>
      </p:sp>
      <p:sp>
        <p:nvSpPr>
          <p:cNvPr id="23" name="Stat 1 label"/>
          <p:cNvSpPr txBox="1"/>
          <p:nvPr/>
        </p:nvSpPr>
        <p:spPr>
          <a:xfrm>
            <a:off x="9372600" y="2633472"/>
            <a:ext cx="2148840" cy="457200"/>
          </a:xfrm>
          <a:prstGeom prst="rect">
            <a:avLst/>
          </a:prstGeom>
          <a:noFill/>
          <a:ln/>
        </p:spPr>
        <p:txBody>
          <a:bodyPr wrap="square" lIns="0" tIns="0" rIns="0" bIns="0" rtlCol="0" anchor="t"/>
          <a:lstStyle/>
          <a:p>
            <a:pPr indent="0" marL="0">
              <a:buNone/>
            </a:pPr>
            <a:r>
              <a:rPr lang="en-US" sz="1250" dirty="0">
                <a:solidFill>
                  <a:srgbClr val="0F2538"/>
                </a:solidFill>
              </a:rPr>
              <a:t>per flush, fast model, in a browser</a:t>
            </a:r>
            <a:endParaRPr lang="en-US" sz="1250" dirty="0"/>
          </a:p>
        </p:txBody>
      </p:sp>
      <p:sp>
        <p:nvSpPr>
          <p:cNvPr id="24" name="Stat 2 value"/>
          <p:cNvSpPr txBox="1"/>
          <p:nvPr/>
        </p:nvSpPr>
        <p:spPr>
          <a:xfrm>
            <a:off x="9372600" y="3291840"/>
            <a:ext cx="2148840" cy="411480"/>
          </a:xfrm>
          <a:prstGeom prst="rect">
            <a:avLst/>
          </a:prstGeom>
          <a:noFill/>
          <a:ln/>
        </p:spPr>
        <p:txBody>
          <a:bodyPr wrap="square" lIns="0" tIns="0" rIns="0" bIns="0" rtlCol="0" anchor="b"/>
          <a:lstStyle/>
          <a:p>
            <a:pPr indent="0" marL="0">
              <a:buNone/>
            </a:pPr>
            <a:r>
              <a:rPr lang="en-US" sz="2200" b="1" dirty="0">
                <a:solidFill>
                  <a:srgbClr val="0070AD"/>
                </a:solidFill>
                <a:latin typeface="Arial" pitchFamily="34" charset="0"/>
                <a:ea typeface="Arial" pitchFamily="34" charset="-122"/>
                <a:cs typeface="Arial" pitchFamily="34" charset="-120"/>
              </a:rPr>
              <a:t>≈</a:t>
            </a:r>
            <a:pPr indent="0" marL="0">
              <a:buNone/>
            </a:pPr>
            <a:r>
              <a:rPr lang="en-US" sz="2200" b="1" dirty="0">
                <a:solidFill>
                  <a:srgbClr val="0070AD"/>
                </a:solidFill>
              </a:rPr>
              <a:t> 540</a:t>
            </a:r>
            <a:endParaRPr lang="en-US" sz="2200" dirty="0"/>
          </a:p>
        </p:txBody>
      </p:sp>
      <p:sp>
        <p:nvSpPr>
          <p:cNvPr id="25" name="Stat 2 label"/>
          <p:cNvSpPr txBox="1"/>
          <p:nvPr/>
        </p:nvSpPr>
        <p:spPr>
          <a:xfrm>
            <a:off x="9372600" y="3776472"/>
            <a:ext cx="2148840" cy="457200"/>
          </a:xfrm>
          <a:prstGeom prst="rect">
            <a:avLst/>
          </a:prstGeom>
          <a:noFill/>
          <a:ln/>
        </p:spPr>
        <p:txBody>
          <a:bodyPr wrap="square" lIns="0" tIns="0" rIns="0" bIns="0" rtlCol="0" anchor="t"/>
          <a:lstStyle/>
          <a:p>
            <a:pPr indent="0" marL="0">
              <a:buNone/>
            </a:pPr>
            <a:r>
              <a:rPr lang="en-US" sz="1250" dirty="0">
                <a:solidFill>
                  <a:srgbClr val="0F2538"/>
                </a:solidFill>
              </a:rPr>
              <a:t>designs searched by the AI in about 10 s</a:t>
            </a:r>
            <a:endParaRPr lang="en-US" sz="1250" dirty="0"/>
          </a:p>
        </p:txBody>
      </p:sp>
      <p:sp>
        <p:nvSpPr>
          <p:cNvPr id="26" name="Stat 3 value"/>
          <p:cNvSpPr txBox="1"/>
          <p:nvPr/>
        </p:nvSpPr>
        <p:spPr>
          <a:xfrm>
            <a:off x="9372600" y="4434840"/>
            <a:ext cx="2148840" cy="411480"/>
          </a:xfrm>
          <a:prstGeom prst="rect">
            <a:avLst/>
          </a:prstGeom>
          <a:noFill/>
          <a:ln/>
        </p:spPr>
        <p:txBody>
          <a:bodyPr wrap="square" lIns="0" tIns="0" rIns="0" bIns="0" rtlCol="0" anchor="b"/>
          <a:lstStyle/>
          <a:p>
            <a:pPr indent="0" marL="0">
              <a:buNone/>
            </a:pPr>
            <a:r>
              <a:rPr lang="en-US" sz="2200" b="1" dirty="0">
                <a:solidFill>
                  <a:srgbClr val="17876C"/>
                </a:solidFill>
                <a:latin typeface="Arial" pitchFamily="34" charset="0"/>
                <a:ea typeface="Arial" pitchFamily="34" charset="-122"/>
                <a:cs typeface="Arial" pitchFamily="34" charset="-120"/>
              </a:rPr>
              <a:t>≈</a:t>
            </a:r>
            <a:pPr indent="0" marL="0">
              <a:buNone/>
            </a:pPr>
            <a:r>
              <a:rPr lang="en-US" sz="2200" b="1" dirty="0">
                <a:solidFill>
                  <a:srgbClr val="17876C"/>
                </a:solidFill>
              </a:rPr>
              <a:t> 2 hours</a:t>
            </a:r>
            <a:endParaRPr lang="en-US" sz="2200" dirty="0"/>
          </a:p>
        </p:txBody>
      </p:sp>
      <p:sp>
        <p:nvSpPr>
          <p:cNvPr id="27" name="Stat 3 label"/>
          <p:cNvSpPr txBox="1"/>
          <p:nvPr/>
        </p:nvSpPr>
        <p:spPr>
          <a:xfrm>
            <a:off x="9372600" y="4919472"/>
            <a:ext cx="2148840" cy="640080"/>
          </a:xfrm>
          <a:prstGeom prst="rect">
            <a:avLst/>
          </a:prstGeom>
          <a:noFill/>
          <a:ln/>
        </p:spPr>
        <p:txBody>
          <a:bodyPr wrap="square" lIns="0" tIns="0" rIns="0" bIns="0" rtlCol="0" anchor="t"/>
          <a:lstStyle/>
          <a:p>
            <a:pPr indent="0" marL="0">
              <a:buNone/>
            </a:pPr>
            <a:r>
              <a:rPr lang="en-US" sz="1250" dirty="0">
                <a:solidFill>
                  <a:srgbClr val="0F2538"/>
                </a:solidFill>
              </a:rPr>
              <a:t>for 3.2 s of the same flush in OpenFOAM CFD, 12 cores</a:t>
            </a:r>
            <a:endParaRPr lang="en-US" sz="1250" dirty="0"/>
          </a:p>
        </p:txBody>
      </p:sp>
      <p:sp>
        <p:nvSpPr>
          <p:cNvPr id="28"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answer is not to replace CFD or tests. It is to put the right tool at each stage and connect them, so that the slow tools are spent only on the designs that deserve them.</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1 · THE FAST MODEL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changes are tested while the meeting is still on</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Change the bowl or the jets and see cleaning, waste removal, water use and noise at once. The AI lab searches for designs that meet set targets.</a:t>
            </a:r>
            <a:endParaRPr lang="en-US" sz="1500" dirty="0"/>
          </a:p>
        </p:txBody>
      </p:sp>
      <p:pic>
        <p:nvPicPr>
          <p:cNvPr id="5" name="Optimiser chart" descr="/home/claude/jet-flush-model/media/ai-optimiser-chart.png">    </p:cNvPr>
          <p:cNvPicPr>
            <a:picLocks noChangeAspect="1"/>
          </p:cNvPicPr>
          <p:nvPr/>
        </p:nvPicPr>
        <p:blipFill>
          <a:blip r:embed="rId1"/>
          <a:stretch>
            <a:fillRect/>
          </a:stretch>
        </p:blipFill>
        <p:spPr>
          <a:xfrm>
            <a:off x="548640" y="2011680"/>
            <a:ext cx="5401111" cy="3383280"/>
          </a:xfrm>
          <a:prstGeom prst="rect">
            <a:avLst/>
          </a:prstGeom>
        </p:spPr>
      </p:pic>
      <p:sp>
        <p:nvSpPr>
          <p:cNvPr id="6" name="Caption"/>
          <p:cNvSpPr txBox="1"/>
          <p:nvPr/>
        </p:nvSpPr>
        <p:spPr>
          <a:xfrm>
            <a:off x="548640" y="5440680"/>
            <a:ext cx="5401111" cy="365760"/>
          </a:xfrm>
          <a:prstGeom prst="rect">
            <a:avLst/>
          </a:prstGeom>
          <a:noFill/>
          <a:ln/>
        </p:spPr>
        <p:txBody>
          <a:bodyPr wrap="square" lIns="0" tIns="0" rIns="0" bIns="0" rtlCol="0" anchor="t"/>
          <a:lstStyle/>
          <a:p>
            <a:pPr indent="0" marL="0">
              <a:buNone/>
            </a:pPr>
            <a:r>
              <a:rPr lang="en-US" sz="1050" dirty="0">
                <a:solidFill>
                  <a:srgbClr val="52667A"/>
                </a:solidFill>
              </a:rPr>
              <a:t>AI lab: each dot is one simulated flush; the curve is the best trade-off between score and water.</a:t>
            </a:r>
            <a:endParaRPr lang="en-US" sz="1050" dirty="0"/>
          </a:p>
        </p:txBody>
      </p:sp>
      <p:sp>
        <p:nvSpPr>
          <p:cNvPr id="7" name="Moments heading"/>
          <p:cNvSpPr txBox="1"/>
          <p:nvPr/>
        </p:nvSpPr>
        <p:spPr>
          <a:xfrm>
            <a:off x="7086600" y="2011680"/>
            <a:ext cx="4572000" cy="320040"/>
          </a:xfrm>
          <a:prstGeom prst="rect">
            <a:avLst/>
          </a:prstGeom>
          <a:noFill/>
          <a:ln/>
        </p:spPr>
        <p:txBody>
          <a:bodyPr wrap="square" lIns="0" tIns="0" rIns="0" bIns="0" rtlCol="0" anchor="t"/>
          <a:lstStyle/>
          <a:p>
            <a:pPr indent="0" marL="0">
              <a:buNone/>
            </a:pPr>
            <a:r>
              <a:rPr lang="en-US" sz="1400" b="1" dirty="0">
                <a:solidFill>
                  <a:srgbClr val="0F2538"/>
                </a:solidFill>
              </a:rPr>
              <a:t>From the guided demo, part 1</a:t>
            </a:r>
            <a:endParaRPr lang="en-US" sz="1400" dirty="0"/>
          </a:p>
        </p:txBody>
      </p:sp>
      <p:sp>
        <p:nvSpPr>
          <p:cNvPr id="8" name="Moment 1 circle"/>
          <p:cNvSpPr/>
          <p:nvPr/>
        </p:nvSpPr>
        <p:spPr>
          <a:xfrm>
            <a:off x="7086600" y="2624328"/>
            <a:ext cx="384048" cy="384048"/>
          </a:xfrm>
          <a:prstGeom prst="ellipse">
            <a:avLst/>
          </a:prstGeom>
          <a:solidFill>
            <a:srgbClr val="0070AD"/>
          </a:solidFill>
          <a:ln w="12700">
            <a:solidFill>
              <a:srgbClr val="0070AD"/>
            </a:solidFill>
            <a:prstDash val="solid"/>
          </a:ln>
        </p:spPr>
      </p:sp>
      <p:sp>
        <p:nvSpPr>
          <p:cNvPr id="9" name="Moment 1 number"/>
          <p:cNvSpPr txBox="1"/>
          <p:nvPr/>
        </p:nvSpPr>
        <p:spPr>
          <a:xfrm>
            <a:off x="7086600" y="2624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0" name="Stat 1 value"/>
          <p:cNvSpPr txBox="1"/>
          <p:nvPr/>
        </p:nvSpPr>
        <p:spPr>
          <a:xfrm>
            <a:off x="7635240" y="246888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86 % </a:t>
            </a:r>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79 %</a:t>
            </a:r>
            <a:endParaRPr lang="en-US" sz="2400" dirty="0"/>
          </a:p>
        </p:txBody>
      </p:sp>
      <p:sp>
        <p:nvSpPr>
          <p:cNvPr id="11" name="Stat 1 label"/>
          <p:cNvSpPr txBox="1"/>
          <p:nvPr/>
        </p:nvSpPr>
        <p:spPr>
          <a:xfrm>
            <a:off x="7635240" y="2999232"/>
            <a:ext cx="4023360" cy="502920"/>
          </a:xfrm>
          <a:prstGeom prst="rect">
            <a:avLst/>
          </a:prstGeom>
          <a:noFill/>
          <a:ln/>
        </p:spPr>
        <p:txBody>
          <a:bodyPr wrap="square" lIns="0" tIns="0" rIns="0" bIns="0" rtlCol="0" anchor="t"/>
          <a:lstStyle/>
          <a:p>
            <a:pPr indent="0" marL="0">
              <a:buNone/>
            </a:pPr>
            <a:r>
              <a:rPr lang="en-US" sz="1300" dirty="0">
                <a:solidFill>
                  <a:srgbClr val="0F2538"/>
                </a:solidFill>
              </a:rPr>
              <a:t>wall cleaned when the bowl turns oval, jets at the ends of the long axis</a:t>
            </a:r>
            <a:endParaRPr lang="en-US" sz="1300" dirty="0"/>
          </a:p>
        </p:txBody>
      </p:sp>
      <p:sp>
        <p:nvSpPr>
          <p:cNvPr id="12" name="Moment 2 circle"/>
          <p:cNvSpPr/>
          <p:nvPr/>
        </p:nvSpPr>
        <p:spPr>
          <a:xfrm>
            <a:off x="7086600" y="3721608"/>
            <a:ext cx="384048" cy="384048"/>
          </a:xfrm>
          <a:prstGeom prst="ellipse">
            <a:avLst/>
          </a:prstGeom>
          <a:solidFill>
            <a:srgbClr val="0070AD"/>
          </a:solidFill>
          <a:ln w="12700">
            <a:solidFill>
              <a:srgbClr val="0070AD"/>
            </a:solidFill>
            <a:prstDash val="solid"/>
          </a:ln>
        </p:spPr>
      </p:sp>
      <p:sp>
        <p:nvSpPr>
          <p:cNvPr id="13" name="Moment 2 number"/>
          <p:cNvSpPr txBox="1"/>
          <p:nvPr/>
        </p:nvSpPr>
        <p:spPr>
          <a:xfrm>
            <a:off x="7086600" y="37216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Stat 2 value"/>
          <p:cNvSpPr txBox="1"/>
          <p:nvPr/>
        </p:nvSpPr>
        <p:spPr>
          <a:xfrm>
            <a:off x="7635240" y="3566160"/>
            <a:ext cx="4023360" cy="457200"/>
          </a:xfrm>
          <a:prstGeom prst="rect">
            <a:avLst/>
          </a:prstGeom>
          <a:noFill/>
          <a:ln/>
        </p:spPr>
        <p:txBody>
          <a:bodyPr wrap="square" lIns="0" tIns="0" rIns="0" bIns="0" rtlCol="0" anchor="b"/>
          <a:lstStyle/>
          <a:p>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88 %</a:t>
            </a:r>
            <a:endParaRPr lang="en-US" sz="2400" dirty="0"/>
          </a:p>
        </p:txBody>
      </p:sp>
      <p:sp>
        <p:nvSpPr>
          <p:cNvPr id="15" name="Stat 2 label"/>
          <p:cNvSpPr txBox="1"/>
          <p:nvPr/>
        </p:nvSpPr>
        <p:spPr>
          <a:xfrm>
            <a:off x="7635240" y="4096512"/>
            <a:ext cx="4023360" cy="502920"/>
          </a:xfrm>
          <a:prstGeom prst="rect">
            <a:avLst/>
          </a:prstGeom>
          <a:noFill/>
          <a:ln/>
        </p:spPr>
        <p:txBody>
          <a:bodyPr wrap="square" lIns="0" tIns="0" rIns="0" bIns="0" rtlCol="0" anchor="t"/>
          <a:lstStyle/>
          <a:p>
            <a:pPr indent="0" marL="0">
              <a:buNone/>
            </a:pPr>
            <a:r>
              <a:rPr lang="en-US" sz="1300" dirty="0">
                <a:solidFill>
                  <a:srgbClr val="0F2538"/>
                </a:solidFill>
              </a:rPr>
              <a:t>after moving the jets to the long sides</a:t>
            </a:r>
            <a:endParaRPr lang="en-US" sz="1300" dirty="0"/>
          </a:p>
        </p:txBody>
      </p:sp>
      <p:sp>
        <p:nvSpPr>
          <p:cNvPr id="16" name="Moment 3 circle"/>
          <p:cNvSpPr/>
          <p:nvPr/>
        </p:nvSpPr>
        <p:spPr>
          <a:xfrm>
            <a:off x="7086600" y="4818888"/>
            <a:ext cx="384048" cy="384048"/>
          </a:xfrm>
          <a:prstGeom prst="ellipse">
            <a:avLst/>
          </a:prstGeom>
          <a:solidFill>
            <a:srgbClr val="0070AD"/>
          </a:solidFill>
          <a:ln w="12700">
            <a:solidFill>
              <a:srgbClr val="0070AD"/>
            </a:solidFill>
            <a:prstDash val="solid"/>
          </a:ln>
        </p:spPr>
      </p:sp>
      <p:sp>
        <p:nvSpPr>
          <p:cNvPr id="17" name="Moment 3 number"/>
          <p:cNvSpPr txBox="1"/>
          <p:nvPr/>
        </p:nvSpPr>
        <p:spPr>
          <a:xfrm>
            <a:off x="7086600" y="4818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Stat 3 value"/>
          <p:cNvSpPr txBox="1"/>
          <p:nvPr/>
        </p:nvSpPr>
        <p:spPr>
          <a:xfrm>
            <a:off x="7635240" y="466344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89 % at 4.0 L</a:t>
            </a:r>
            <a:endParaRPr lang="en-US" sz="2400" dirty="0"/>
          </a:p>
        </p:txBody>
      </p:sp>
      <p:sp>
        <p:nvSpPr>
          <p:cNvPr id="19" name="Stat 3 label"/>
          <p:cNvSpPr txBox="1"/>
          <p:nvPr/>
        </p:nvSpPr>
        <p:spPr>
          <a:xfrm>
            <a:off x="7635240" y="5193792"/>
            <a:ext cx="4023360" cy="502920"/>
          </a:xfrm>
          <a:prstGeom prst="rect">
            <a:avLst/>
          </a:prstGeom>
          <a:noFill/>
          <a:ln/>
        </p:spPr>
        <p:txBody>
          <a:bodyPr wrap="square" lIns="0" tIns="0" rIns="0" bIns="0" rtlCol="0" anchor="t"/>
          <a:lstStyle/>
          <a:p>
            <a:pPr indent="0" marL="0">
              <a:buNone/>
            </a:pPr>
            <a:r>
              <a:rPr lang="en-US" sz="1300" dirty="0">
                <a:solidFill>
                  <a:srgbClr val="0F2538"/>
                </a:solidFill>
              </a:rPr>
              <a:t>design found by the AI lab: 0.5 L less water than the start, </a:t>
            </a:r>
            <a:pPr indent="0" marL="0">
              <a:buNone/>
            </a:pPr>
            <a:r>
              <a:rPr lang="en-US" sz="1300" dirty="0">
                <a:solidFill>
                  <a:srgbClr val="0F2538"/>
                </a:solidFill>
                <a:latin typeface="Arial" pitchFamily="34" charset="0"/>
                <a:ea typeface="Arial" pitchFamily="34" charset="-122"/>
                <a:cs typeface="Arial" pitchFamily="34" charset="-120"/>
              </a:rPr>
              <a:t>−</a:t>
            </a:r>
            <a:pPr indent="0" marL="0">
              <a:buNone/>
            </a:pPr>
            <a:r>
              <a:rPr lang="en-US" sz="1300" dirty="0">
                <a:solidFill>
                  <a:srgbClr val="0F2538"/>
                </a:solidFill>
              </a:rPr>
              <a:t>1.1 dB, no louder</a:t>
            </a:r>
            <a:endParaRPr lang="en-US" sz="1300" dirty="0"/>
          </a:p>
        </p:txBody>
      </p:sp>
      <p:sp>
        <p:nvSpPr>
          <p:cNvPr id="20"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Illustrative estimates from the uncalibrated model, for comparing designs. Noise is a relative, experimental indicator. AI suggestions are candidates for a CFD or rig check, not final answers.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2 · CHECKED AGAINST CFD</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Against full CFD: close on the totals, different in the details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bowl and jets in OpenFOAM: about 2 hours on 12 cores for 3.2 s of flush, against about 30 ms for the fast model.</a:t>
            </a:r>
            <a:endParaRPr lang="en-US" sz="1500" dirty="0"/>
          </a:p>
        </p:txBody>
      </p:sp>
      <p:pic>
        <p:nvPicPr>
          <p:cNvPr id="5" name="Wall maps" descr="/home/claude/jet-flush-model/media/cfd-maps.png">    </p:cNvPr>
          <p:cNvPicPr>
            <a:picLocks noChangeAspect="1"/>
          </p:cNvPicPr>
          <p:nvPr/>
        </p:nvPicPr>
        <p:blipFill>
          <a:blip r:embed="rId1"/>
          <a:stretch>
            <a:fillRect/>
          </a:stretch>
        </p:blipFill>
        <p:spPr>
          <a:xfrm>
            <a:off x="548640" y="2011680"/>
            <a:ext cx="7223760" cy="1787698"/>
          </a:xfrm>
          <a:prstGeom prst="rect">
            <a:avLst/>
          </a:prstGeom>
        </p:spPr>
      </p:pic>
      <p:sp>
        <p:nvSpPr>
          <p:cNvPr id="6" name="Caption"/>
          <p:cNvSpPr txBox="1"/>
          <p:nvPr/>
        </p:nvSpPr>
        <p:spPr>
          <a:xfrm>
            <a:off x="548640" y="3845098"/>
            <a:ext cx="7223760" cy="365760"/>
          </a:xfrm>
          <a:prstGeom prst="rect">
            <a:avLst/>
          </a:prstGeom>
          <a:noFill/>
          <a:ln/>
        </p:spPr>
        <p:txBody>
          <a:bodyPr wrap="square" lIns="0" tIns="0" rIns="0" bIns="0" rtlCol="0" anchor="t"/>
          <a:lstStyle/>
          <a:p>
            <a:pPr indent="0" marL="0">
              <a:buNone/>
            </a:pPr>
            <a:r>
              <a:rPr lang="en-US" sz="1050" dirty="0">
                <a:solidFill>
                  <a:srgbClr val="52667A"/>
                </a:solidFill>
              </a:rPr>
              <a:t>What gets cleaned, wall unrolled: CFD left, fast model right (green cleaned, grey wetted only).</a:t>
            </a:r>
            <a:endParaRPr lang="en-US" sz="1050" dirty="0"/>
          </a:p>
        </p:txBody>
      </p:sp>
      <p:pic>
        <p:nvPicPr>
          <p:cNvPr id="7" name="CFD still" descr="/home/claude/jet-flush-model/cfd/washdown/media/cutaway_1.0s.jpg">    </p:cNvPr>
          <p:cNvPicPr>
            <a:picLocks noChangeAspect="1"/>
          </p:cNvPicPr>
          <p:nvPr/>
        </p:nvPicPr>
        <p:blipFill>
          <a:blip r:embed="rId2"/>
          <a:stretch>
            <a:fillRect/>
          </a:stretch>
        </p:blipFill>
        <p:spPr>
          <a:xfrm>
            <a:off x="8074152" y="2011680"/>
            <a:ext cx="3566160" cy="2005965"/>
          </a:xfrm>
          <a:prstGeom prst="rect">
            <a:avLst/>
          </a:prstGeom>
        </p:spPr>
      </p:pic>
      <p:sp>
        <p:nvSpPr>
          <p:cNvPr id="8" name="Caption"/>
          <p:cNvSpPr txBox="1"/>
          <p:nvPr/>
        </p:nvSpPr>
        <p:spPr>
          <a:xfrm>
            <a:off x="8074152" y="4063365"/>
            <a:ext cx="3566160" cy="365760"/>
          </a:xfrm>
          <a:prstGeom prst="rect">
            <a:avLst/>
          </a:prstGeom>
          <a:noFill/>
          <a:ln/>
        </p:spPr>
        <p:txBody>
          <a:bodyPr wrap="square" lIns="0" tIns="0" rIns="0" bIns="0" rtlCol="0" anchor="t"/>
          <a:lstStyle/>
          <a:p>
            <a:pPr indent="0" marL="0">
              <a:buNone/>
            </a:pPr>
            <a:r>
              <a:rPr lang="en-US" sz="1050" dirty="0">
                <a:solidFill>
                  <a:srgbClr val="52667A"/>
                </a:solidFill>
              </a:rPr>
              <a:t>CFD water surface at 1.0 s, front half removed.</a:t>
            </a:r>
            <a:endParaRPr lang="en-US" sz="1050" dirty="0"/>
          </a:p>
        </p:txBody>
      </p:sp>
      <p:sp>
        <p:nvSpPr>
          <p:cNvPr id="9" name="Stat 1 value"/>
          <p:cNvSpPr txBox="1"/>
          <p:nvPr/>
        </p:nvSpPr>
        <p:spPr>
          <a:xfrm>
            <a:off x="54864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89 % vs 86 %</a:t>
            </a:r>
            <a:endParaRPr lang="en-US" sz="2600" dirty="0"/>
          </a:p>
        </p:txBody>
      </p:sp>
      <p:sp>
        <p:nvSpPr>
          <p:cNvPr id="10" name="Stat 1 label"/>
          <p:cNvSpPr txBox="1"/>
          <p:nvPr/>
        </p:nvSpPr>
        <p:spPr>
          <a:xfrm>
            <a:off x="54864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of the wall cleaned, CFD vs fast model: close totals</a:t>
            </a:r>
            <a:endParaRPr lang="en-US" sz="1400" dirty="0"/>
          </a:p>
        </p:txBody>
      </p:sp>
      <p:sp>
        <p:nvSpPr>
          <p:cNvPr id="11" name="Stat 2 value"/>
          <p:cNvSpPr txBox="1"/>
          <p:nvPr/>
        </p:nvSpPr>
        <p:spPr>
          <a:xfrm>
            <a:off x="429768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0.14 s vs 0.54 s</a:t>
            </a:r>
            <a:endParaRPr lang="en-US" sz="2600" dirty="0"/>
          </a:p>
        </p:txBody>
      </p:sp>
      <p:sp>
        <p:nvSpPr>
          <p:cNvPr id="12" name="Stat 2 label"/>
          <p:cNvSpPr txBox="1"/>
          <p:nvPr/>
        </p:nvSpPr>
        <p:spPr>
          <a:xfrm>
            <a:off x="429768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first water in the pool: in the model it arrives later</a:t>
            </a:r>
            <a:endParaRPr lang="en-US" sz="1400" dirty="0"/>
          </a:p>
        </p:txBody>
      </p:sp>
      <p:sp>
        <p:nvSpPr>
          <p:cNvPr id="13" name="Stat 3 value"/>
          <p:cNvSpPr txBox="1"/>
          <p:nvPr/>
        </p:nvSpPr>
        <p:spPr>
          <a:xfrm>
            <a:off x="804672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11 %</a:t>
            </a:r>
            <a:endParaRPr lang="en-US" sz="2600" dirty="0"/>
          </a:p>
        </p:txBody>
      </p:sp>
      <p:sp>
        <p:nvSpPr>
          <p:cNvPr id="14" name="Stat 3 label"/>
          <p:cNvSpPr txBox="1"/>
          <p:nvPr/>
        </p:nvSpPr>
        <p:spPr>
          <a:xfrm>
            <a:off x="804672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overlap of the uncleaned areas: the model gets the total, not where the gaps are</a:t>
            </a:r>
            <a:endParaRPr lang="en-US" sz="1400" dirty="0"/>
          </a:p>
        </p:txBody>
      </p:sp>
      <p:sp>
        <p:nvSpPr>
          <p:cNvPr id="15"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A second simulation of one design, not a measurement or a validation. Trap outflow taken from the model; after 1.3 s the CFD outlet draws air. On two CFD meshes the totals agree and the uncleaned areas overlap 50 %: a sensitivity, not mesh independence.</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3 · AI IN THE ENGINEERING LOOP</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Learning from each run: less than half the iterations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design task, worked eight times: an oval bowl must reach 4.0 L and 87 % cleaning. Every candidate is checked with an expensive run.</a:t>
            </a:r>
            <a:endParaRPr lang="en-US" sz="1500" dirty="0"/>
          </a:p>
        </p:txBody>
      </p:sp>
      <p:graphicFrame>
        <p:nvGraphicFramePr>
          <p:cNvPr id="5" name="Races chart" descr=""/>
          <p:cNvGraphicFramePr/>
          <p:nvPr/>
        </p:nvGraphicFramePr>
        <p:xfrm>
          <a:off x="548640" y="2011680"/>
          <a:ext cx="6675120" cy="3611880"/>
        </p:xfrm>
        <a:graphic xmlns:a="http://schemas.openxmlformats.org/drawingml/2006/main">
          <a:graphicData uri="http://schemas.openxmlformats.org/drawingml/2006/chart">
            <c:chart xmlns:c="http://schemas.openxmlformats.org/drawingml/2006/chart" r:id="rId1"/>
          </a:graphicData>
        </a:graphic>
      </p:graphicFrame>
      <p:sp>
        <p:nvSpPr>
          <p:cNvPr id="6" name="Stat 1 value"/>
          <p:cNvSpPr txBox="1"/>
          <p:nvPr/>
        </p:nvSpPr>
        <p:spPr>
          <a:xfrm>
            <a:off x="7680960" y="196596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10.5 </a:t>
            </a:r>
            <a:pPr indent="0" marL="0">
              <a:buNone/>
            </a:pPr>
            <a:r>
              <a:rPr lang="en-US" sz="3000" b="1" dirty="0">
                <a:solidFill>
                  <a:srgbClr val="0070AD"/>
                </a:solidFill>
                <a:latin typeface="Arial" pitchFamily="34" charset="0"/>
                <a:ea typeface="Arial" pitchFamily="34" charset="-122"/>
                <a:cs typeface="Arial" pitchFamily="34" charset="-120"/>
              </a:rPr>
              <a:t>→</a:t>
            </a:r>
            <a:pPr indent="0" marL="0">
              <a:buNone/>
            </a:pPr>
            <a:r>
              <a:rPr lang="en-US" sz="3000" b="1" dirty="0">
                <a:solidFill>
                  <a:srgbClr val="0070AD"/>
                </a:solidFill>
              </a:rPr>
              <a:t> 4.5</a:t>
            </a:r>
            <a:endParaRPr lang="en-US" sz="3000" dirty="0"/>
          </a:p>
        </p:txBody>
      </p:sp>
      <p:sp>
        <p:nvSpPr>
          <p:cNvPr id="7" name="Stat 1 label"/>
          <p:cNvSpPr txBox="1"/>
          <p:nvPr/>
        </p:nvSpPr>
        <p:spPr>
          <a:xfrm>
            <a:off x="7680960" y="2587752"/>
            <a:ext cx="3931920" cy="685800"/>
          </a:xfrm>
          <a:prstGeom prst="rect">
            <a:avLst/>
          </a:prstGeom>
          <a:noFill/>
          <a:ln/>
        </p:spPr>
        <p:txBody>
          <a:bodyPr wrap="square" lIns="0" tIns="0" rIns="0" bIns="0" rtlCol="0" anchor="t"/>
          <a:lstStyle/>
          <a:p>
            <a:pPr indent="0" marL="0">
              <a:buNone/>
            </a:pPr>
            <a:r>
              <a:rPr lang="en-US" sz="1400" dirty="0">
                <a:solidFill>
                  <a:srgbClr val="0F2538"/>
                </a:solidFill>
              </a:rPr>
              <a:t>iterations in the typical project (median of the eight races), classic against AI-assisted</a:t>
            </a:r>
            <a:endParaRPr lang="en-US" sz="1400" dirty="0"/>
          </a:p>
        </p:txBody>
      </p:sp>
      <p:sp>
        <p:nvSpPr>
          <p:cNvPr id="8" name="Stat 2 value"/>
          <p:cNvSpPr txBox="1"/>
          <p:nvPr/>
        </p:nvSpPr>
        <p:spPr>
          <a:xfrm>
            <a:off x="7680960" y="329184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6 of 8</a:t>
            </a:r>
            <a:endParaRPr lang="en-US" sz="3000" dirty="0"/>
          </a:p>
        </p:txBody>
      </p:sp>
      <p:sp>
        <p:nvSpPr>
          <p:cNvPr id="9" name="Stat 2 label"/>
          <p:cNvSpPr txBox="1"/>
          <p:nvPr/>
        </p:nvSpPr>
        <p:spPr>
          <a:xfrm>
            <a:off x="7680960" y="3913632"/>
            <a:ext cx="3931920" cy="502920"/>
          </a:xfrm>
          <a:prstGeom prst="rect">
            <a:avLst/>
          </a:prstGeom>
          <a:noFill/>
          <a:ln/>
        </p:spPr>
        <p:txBody>
          <a:bodyPr wrap="square" lIns="0" tIns="0" rIns="0" bIns="0" rtlCol="0" anchor="t"/>
          <a:lstStyle/>
          <a:p>
            <a:pPr indent="0" marL="0">
              <a:buNone/>
            </a:pPr>
            <a:r>
              <a:rPr lang="en-US" sz="1400" dirty="0">
                <a:solidFill>
                  <a:srgbClr val="0F2538"/>
                </a:solidFill>
              </a:rPr>
              <a:t>races with fewer iterations for the AI route; 1 tie, 1 with 4 more</a:t>
            </a:r>
            <a:endParaRPr lang="en-US" sz="1400" dirty="0"/>
          </a:p>
        </p:txBody>
      </p:sp>
      <p:sp>
        <p:nvSpPr>
          <p:cNvPr id="10" name="Stat 3 value"/>
          <p:cNvSpPr txBox="1"/>
          <p:nvPr/>
        </p:nvSpPr>
        <p:spPr>
          <a:xfrm>
            <a:off x="7680960" y="4434840"/>
            <a:ext cx="3931920" cy="548640"/>
          </a:xfrm>
          <a:prstGeom prst="rect">
            <a:avLst/>
          </a:prstGeom>
          <a:noFill/>
          <a:ln/>
        </p:spPr>
        <p:txBody>
          <a:bodyPr wrap="square" lIns="0" tIns="0" rIns="0" bIns="0" rtlCol="0" anchor="b"/>
          <a:lstStyle/>
          <a:p>
            <a:pPr indent="0" marL="0">
              <a:buNone/>
            </a:pPr>
            <a:r>
              <a:rPr lang="en-US" sz="3000" b="1" dirty="0">
                <a:solidFill>
                  <a:srgbClr val="8A5A2B"/>
                </a:solidFill>
              </a:rPr>
              <a:t>3 of 8</a:t>
            </a:r>
            <a:endParaRPr lang="en-US" sz="3000" dirty="0"/>
          </a:p>
        </p:txBody>
      </p:sp>
      <p:sp>
        <p:nvSpPr>
          <p:cNvPr id="11" name="Stat 3 label"/>
          <p:cNvSpPr txBox="1"/>
          <p:nvPr/>
        </p:nvSpPr>
        <p:spPr>
          <a:xfrm>
            <a:off x="7680960" y="5056632"/>
            <a:ext cx="3931920" cy="685800"/>
          </a:xfrm>
          <a:prstGeom prst="rect">
            <a:avLst/>
          </a:prstGeom>
          <a:noFill/>
          <a:ln/>
        </p:spPr>
        <p:txBody>
          <a:bodyPr wrap="square" lIns="0" tIns="0" rIns="0" bIns="0" rtlCol="0" anchor="t"/>
          <a:lstStyle/>
          <a:p>
            <a:pPr indent="0" marL="0">
              <a:buNone/>
            </a:pPr>
            <a:r>
              <a:rPr lang="en-US" sz="1400" dirty="0">
                <a:solidFill>
                  <a:srgbClr val="0F2538"/>
                </a:solidFill>
              </a:rPr>
              <a:t>races the fast model alone never finished: without learning from the expensive runs it gets stuck</a:t>
            </a:r>
            <a:endParaRPr lang="en-US" sz="14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expensive runs come from a synthetic reference (the fast model with other coefficients and effects it does not have), not from real CFD. The task has five settings; the classic route is a simple automated search, and design of experiments would need fewer runs.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IT IS WORTH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About 6 working days saved on every design question</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calculation, step by step, with example values. The calculator on the page takes your own figures.</a:t>
            </a:r>
            <a:endParaRPr lang="en-US" sz="1500" dirty="0"/>
          </a:p>
        </p:txBody>
      </p:sp>
      <p:sp>
        <p:nvSpPr>
          <p:cNvPr id="5" name="Time box 1"/>
          <p:cNvSpPr/>
          <p:nvPr/>
        </p:nvSpPr>
        <p:spPr>
          <a:xfrm>
            <a:off x="548640" y="1965960"/>
            <a:ext cx="1911096" cy="1417320"/>
          </a:xfrm>
          <a:prstGeom prst="roundRect">
            <a:avLst>
              <a:gd name="adj" fmla="val 7742"/>
            </a:avLst>
          </a:prstGeom>
          <a:solidFill>
            <a:srgbClr val="F3F5F8"/>
          </a:solidFill>
          <a:ln w="9525">
            <a:solidFill>
              <a:srgbClr val="D8E0E8"/>
            </a:solidFill>
            <a:prstDash val="solid"/>
          </a:ln>
        </p:spPr>
      </p:sp>
      <p:sp>
        <p:nvSpPr>
          <p:cNvPr id="6" name="Time value 1"/>
          <p:cNvSpPr txBox="1"/>
          <p:nvPr/>
        </p:nvSpPr>
        <p:spPr>
          <a:xfrm>
            <a:off x="658368"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10.5</a:t>
            </a:r>
            <a:endParaRPr lang="en-US" sz="2200" dirty="0"/>
          </a:p>
        </p:txBody>
      </p:sp>
      <p:sp>
        <p:nvSpPr>
          <p:cNvPr id="7" name="Time label 1"/>
          <p:cNvSpPr txBox="1"/>
          <p:nvPr/>
        </p:nvSpPr>
        <p:spPr>
          <a:xfrm>
            <a:off x="658368"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classic (typical project)</a:t>
            </a:r>
            <a:endParaRPr lang="en-US" sz="1200" dirty="0"/>
          </a:p>
        </p:txBody>
      </p:sp>
      <p:sp>
        <p:nvSpPr>
          <p:cNvPr id="8" name="Time operator 1"/>
          <p:cNvSpPr txBox="1"/>
          <p:nvPr/>
        </p:nvSpPr>
        <p:spPr>
          <a:xfrm>
            <a:off x="2459736"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9" name="Time box 2"/>
          <p:cNvSpPr/>
          <p:nvPr/>
        </p:nvSpPr>
        <p:spPr>
          <a:xfrm>
            <a:off x="2843784" y="1965960"/>
            <a:ext cx="1911096" cy="1417320"/>
          </a:xfrm>
          <a:prstGeom prst="roundRect">
            <a:avLst>
              <a:gd name="adj" fmla="val 7742"/>
            </a:avLst>
          </a:prstGeom>
          <a:solidFill>
            <a:srgbClr val="F3F5F8"/>
          </a:solidFill>
          <a:ln w="9525">
            <a:solidFill>
              <a:srgbClr val="D8E0E8"/>
            </a:solidFill>
            <a:prstDash val="solid"/>
          </a:ln>
        </p:spPr>
      </p:sp>
      <p:sp>
        <p:nvSpPr>
          <p:cNvPr id="10" name="Time value 2"/>
          <p:cNvSpPr txBox="1"/>
          <p:nvPr/>
        </p:nvSpPr>
        <p:spPr>
          <a:xfrm>
            <a:off x="2953512"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4.5</a:t>
            </a:r>
            <a:endParaRPr lang="en-US" sz="2200" dirty="0"/>
          </a:p>
        </p:txBody>
      </p:sp>
      <p:sp>
        <p:nvSpPr>
          <p:cNvPr id="11" name="Time label 2"/>
          <p:cNvSpPr txBox="1"/>
          <p:nvPr/>
        </p:nvSpPr>
        <p:spPr>
          <a:xfrm>
            <a:off x="2953512"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AI-assisted</a:t>
            </a:r>
            <a:endParaRPr lang="en-US" sz="1200" dirty="0"/>
          </a:p>
        </p:txBody>
      </p:sp>
      <p:sp>
        <p:nvSpPr>
          <p:cNvPr id="12" name="Time operator 2"/>
          <p:cNvSpPr txBox="1"/>
          <p:nvPr/>
        </p:nvSpPr>
        <p:spPr>
          <a:xfrm>
            <a:off x="4754880"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13" name="Time box 3"/>
          <p:cNvSpPr/>
          <p:nvPr/>
        </p:nvSpPr>
        <p:spPr>
          <a:xfrm>
            <a:off x="5138928" y="1965960"/>
            <a:ext cx="1911096" cy="1417320"/>
          </a:xfrm>
          <a:prstGeom prst="roundRect">
            <a:avLst>
              <a:gd name="adj" fmla="val 7742"/>
            </a:avLst>
          </a:prstGeom>
          <a:solidFill>
            <a:srgbClr val="F3F5F8"/>
          </a:solidFill>
          <a:ln w="9525">
            <a:solidFill>
              <a:srgbClr val="D8E0E8"/>
            </a:solidFill>
            <a:prstDash val="solid"/>
          </a:ln>
        </p:spPr>
      </p:sp>
      <p:sp>
        <p:nvSpPr>
          <p:cNvPr id="14" name="Time value 3"/>
          <p:cNvSpPr txBox="1"/>
          <p:nvPr/>
        </p:nvSpPr>
        <p:spPr>
          <a:xfrm>
            <a:off x="5248656"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6</a:t>
            </a:r>
            <a:endParaRPr lang="en-US" sz="2200" dirty="0"/>
          </a:p>
        </p:txBody>
      </p:sp>
      <p:sp>
        <p:nvSpPr>
          <p:cNvPr id="15" name="Time label 3"/>
          <p:cNvSpPr txBox="1"/>
          <p:nvPr/>
        </p:nvSpPr>
        <p:spPr>
          <a:xfrm>
            <a:off x="5248656"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fewer per design question</a:t>
            </a:r>
            <a:endParaRPr lang="en-US" sz="1200" dirty="0"/>
          </a:p>
        </p:txBody>
      </p:sp>
      <p:sp>
        <p:nvSpPr>
          <p:cNvPr id="16" name="Time operator 3"/>
          <p:cNvSpPr txBox="1"/>
          <p:nvPr/>
        </p:nvSpPr>
        <p:spPr>
          <a:xfrm>
            <a:off x="7050024"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17" name="Time box 4"/>
          <p:cNvSpPr/>
          <p:nvPr/>
        </p:nvSpPr>
        <p:spPr>
          <a:xfrm>
            <a:off x="7434072" y="1965960"/>
            <a:ext cx="1911096" cy="1417320"/>
          </a:xfrm>
          <a:prstGeom prst="roundRect">
            <a:avLst>
              <a:gd name="adj" fmla="val 7742"/>
            </a:avLst>
          </a:prstGeom>
          <a:solidFill>
            <a:srgbClr val="F3F5F8"/>
          </a:solidFill>
          <a:ln w="9525">
            <a:solidFill>
              <a:srgbClr val="D8E0E8"/>
            </a:solidFill>
            <a:prstDash val="solid"/>
          </a:ln>
        </p:spPr>
      </p:sp>
      <p:sp>
        <p:nvSpPr>
          <p:cNvPr id="18" name="Time value 4"/>
          <p:cNvSpPr txBox="1"/>
          <p:nvPr/>
        </p:nvSpPr>
        <p:spPr>
          <a:xfrm>
            <a:off x="7543800"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 day</a:t>
            </a:r>
            <a:endParaRPr lang="en-US" sz="2200" dirty="0"/>
          </a:p>
        </p:txBody>
      </p:sp>
      <p:sp>
        <p:nvSpPr>
          <p:cNvPr id="19" name="Time label 4"/>
          <p:cNvSpPr txBox="1"/>
          <p:nvPr/>
        </p:nvSpPr>
        <p:spPr>
          <a:xfrm>
            <a:off x="7543800"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per iteration (example: Geberit)</a:t>
            </a:r>
            <a:endParaRPr lang="en-US" sz="1200" dirty="0"/>
          </a:p>
        </p:txBody>
      </p:sp>
      <p:sp>
        <p:nvSpPr>
          <p:cNvPr id="20" name="Time operator 4"/>
          <p:cNvSpPr txBox="1"/>
          <p:nvPr/>
        </p:nvSpPr>
        <p:spPr>
          <a:xfrm>
            <a:off x="9345168"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21" name="Time box 5"/>
          <p:cNvSpPr/>
          <p:nvPr/>
        </p:nvSpPr>
        <p:spPr>
          <a:xfrm>
            <a:off x="9729216" y="1965960"/>
            <a:ext cx="1911096" cy="1417320"/>
          </a:xfrm>
          <a:prstGeom prst="roundRect">
            <a:avLst>
              <a:gd name="adj" fmla="val 7742"/>
            </a:avLst>
          </a:prstGeom>
          <a:solidFill>
            <a:srgbClr val="D7E8F2"/>
          </a:solidFill>
          <a:ln w="9525">
            <a:solidFill>
              <a:srgbClr val="0070AD"/>
            </a:solidFill>
            <a:prstDash val="solid"/>
          </a:ln>
        </p:spPr>
      </p:sp>
      <p:sp>
        <p:nvSpPr>
          <p:cNvPr id="22" name="Time value 5"/>
          <p:cNvSpPr txBox="1"/>
          <p:nvPr/>
        </p:nvSpPr>
        <p:spPr>
          <a:xfrm>
            <a:off x="9838944" y="2057400"/>
            <a:ext cx="1691640" cy="548640"/>
          </a:xfrm>
          <a:prstGeom prst="rect">
            <a:avLst/>
          </a:prstGeom>
          <a:noFill/>
          <a:ln/>
        </p:spPr>
        <p:txBody>
          <a:bodyPr wrap="square" lIns="0" tIns="0" rIns="0" bIns="0" rtlCol="0" anchor="ctr"/>
          <a:lstStyle/>
          <a:p>
            <a:pPr algn="ctr" indent="0" marL="0">
              <a:buNone/>
            </a:pPr>
            <a:r>
              <a:rPr lang="en-US" sz="2400" b="1" dirty="0">
                <a:solidFill>
                  <a:srgbClr val="0070AD"/>
                </a:solidFill>
              </a:rPr>
              <a:t>6 days</a:t>
            </a:r>
            <a:endParaRPr lang="en-US" sz="2400" dirty="0"/>
          </a:p>
        </p:txBody>
      </p:sp>
      <p:sp>
        <p:nvSpPr>
          <p:cNvPr id="23" name="Time label 5"/>
          <p:cNvSpPr txBox="1"/>
          <p:nvPr/>
        </p:nvSpPr>
        <p:spPr>
          <a:xfrm>
            <a:off x="9838944"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working days saved per design question</a:t>
            </a:r>
            <a:endParaRPr lang="en-US" sz="1200" dirty="0"/>
          </a:p>
        </p:txBody>
      </p:sp>
      <p:sp>
        <p:nvSpPr>
          <p:cNvPr id="24" name="Money box 1"/>
          <p:cNvSpPr/>
          <p:nvPr/>
        </p:nvSpPr>
        <p:spPr>
          <a:xfrm>
            <a:off x="548640" y="3657600"/>
            <a:ext cx="2484882" cy="1417320"/>
          </a:xfrm>
          <a:prstGeom prst="roundRect">
            <a:avLst>
              <a:gd name="adj" fmla="val 7742"/>
            </a:avLst>
          </a:prstGeom>
          <a:solidFill>
            <a:srgbClr val="F3F5F8"/>
          </a:solidFill>
          <a:ln w="9525">
            <a:solidFill>
              <a:srgbClr val="D8E0E8"/>
            </a:solidFill>
            <a:prstDash val="solid"/>
          </a:ln>
        </p:spPr>
      </p:sp>
      <p:sp>
        <p:nvSpPr>
          <p:cNvPr id="25" name="Money value 1"/>
          <p:cNvSpPr txBox="1"/>
          <p:nvPr/>
        </p:nvSpPr>
        <p:spPr>
          <a:xfrm>
            <a:off x="65836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8 h </a:t>
            </a:r>
            <a:pPr algn="ctr" indent="0" marL="0">
              <a:buNone/>
            </a:pPr>
            <a:r>
              <a:rPr lang="en-US" sz="2200" b="1" dirty="0">
                <a:solidFill>
                  <a:srgbClr val="0F2538"/>
                </a:solidFill>
                <a:latin typeface="Arial" pitchFamily="34" charset="0"/>
                <a:ea typeface="Arial" pitchFamily="34" charset="-122"/>
                <a:cs typeface="Arial" pitchFamily="34" charset="-120"/>
              </a:rPr>
              <a:t>×</a:t>
            </a:r>
            <a:pPr algn="ctr" indent="0" marL="0">
              <a:buNone/>
            </a:pPr>
            <a:r>
              <a:rPr lang="en-US" sz="2200" b="1" dirty="0">
                <a:solidFill>
                  <a:srgbClr val="0F2538"/>
                </a:solidFill>
              </a:rPr>
              <a:t> 95 €</a:t>
            </a:r>
            <a:endParaRPr lang="en-US" sz="2200" dirty="0"/>
          </a:p>
        </p:txBody>
      </p:sp>
      <p:sp>
        <p:nvSpPr>
          <p:cNvPr id="26" name="Money label 1"/>
          <p:cNvSpPr txBox="1"/>
          <p:nvPr/>
        </p:nvSpPr>
        <p:spPr>
          <a:xfrm>
            <a:off x="65836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person hours per iteration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cost per hour (examples)</a:t>
            </a:r>
            <a:endParaRPr lang="en-US" sz="1200" dirty="0"/>
          </a:p>
        </p:txBody>
      </p:sp>
      <p:sp>
        <p:nvSpPr>
          <p:cNvPr id="27" name="Money operator 1"/>
          <p:cNvSpPr txBox="1"/>
          <p:nvPr/>
        </p:nvSpPr>
        <p:spPr>
          <a:xfrm>
            <a:off x="303352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28" name="Money box 2"/>
          <p:cNvSpPr/>
          <p:nvPr/>
        </p:nvSpPr>
        <p:spPr>
          <a:xfrm>
            <a:off x="3417570" y="3657600"/>
            <a:ext cx="2484882" cy="1417320"/>
          </a:xfrm>
          <a:prstGeom prst="roundRect">
            <a:avLst>
              <a:gd name="adj" fmla="val 7742"/>
            </a:avLst>
          </a:prstGeom>
          <a:solidFill>
            <a:srgbClr val="F3F5F8"/>
          </a:solidFill>
          <a:ln w="9525">
            <a:solidFill>
              <a:srgbClr val="D8E0E8"/>
            </a:solidFill>
            <a:prstDash val="solid"/>
          </a:ln>
        </p:spPr>
      </p:sp>
      <p:sp>
        <p:nvSpPr>
          <p:cNvPr id="29" name="Money value 2"/>
          <p:cNvSpPr txBox="1"/>
          <p:nvPr/>
        </p:nvSpPr>
        <p:spPr>
          <a:xfrm>
            <a:off x="352729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4,560 €</a:t>
            </a:r>
            <a:endParaRPr lang="en-US" sz="2200" dirty="0"/>
          </a:p>
        </p:txBody>
      </p:sp>
      <p:sp>
        <p:nvSpPr>
          <p:cNvPr id="30" name="Money label 2"/>
          <p:cNvSpPr txBox="1"/>
          <p:nvPr/>
        </p:nvSpPr>
        <p:spPr>
          <a:xfrm>
            <a:off x="352729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 design question: 6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760 €</a:t>
            </a:r>
            <a:endParaRPr lang="en-US" sz="1200" dirty="0"/>
          </a:p>
        </p:txBody>
      </p:sp>
      <p:sp>
        <p:nvSpPr>
          <p:cNvPr id="31" name="Money operator 2"/>
          <p:cNvSpPr txBox="1"/>
          <p:nvPr/>
        </p:nvSpPr>
        <p:spPr>
          <a:xfrm>
            <a:off x="590245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32" name="Money box 3"/>
          <p:cNvSpPr/>
          <p:nvPr/>
        </p:nvSpPr>
        <p:spPr>
          <a:xfrm>
            <a:off x="6286500" y="3657600"/>
            <a:ext cx="2484882" cy="1417320"/>
          </a:xfrm>
          <a:prstGeom prst="roundRect">
            <a:avLst>
              <a:gd name="adj" fmla="val 7742"/>
            </a:avLst>
          </a:prstGeom>
          <a:solidFill>
            <a:srgbClr val="F3F5F8"/>
          </a:solidFill>
          <a:ln w="9525">
            <a:solidFill>
              <a:srgbClr val="D8E0E8"/>
            </a:solidFill>
            <a:prstDash val="solid"/>
          </a:ln>
        </p:spPr>
      </p:sp>
      <p:sp>
        <p:nvSpPr>
          <p:cNvPr id="33" name="Money value 3"/>
          <p:cNvSpPr txBox="1"/>
          <p:nvPr/>
        </p:nvSpPr>
        <p:spPr>
          <a:xfrm>
            <a:off x="639622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10 a year</a:t>
            </a:r>
            <a:endParaRPr lang="en-US" sz="2200" dirty="0"/>
          </a:p>
        </p:txBody>
      </p:sp>
      <p:sp>
        <p:nvSpPr>
          <p:cNvPr id="34" name="Money label 3"/>
          <p:cNvSpPr txBox="1"/>
          <p:nvPr/>
        </p:nvSpPr>
        <p:spPr>
          <a:xfrm>
            <a:off x="639622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design questions like this (example only)</a:t>
            </a:r>
            <a:endParaRPr lang="en-US" sz="1200" dirty="0"/>
          </a:p>
        </p:txBody>
      </p:sp>
      <p:sp>
        <p:nvSpPr>
          <p:cNvPr id="35" name="Money operator 3"/>
          <p:cNvSpPr txBox="1"/>
          <p:nvPr/>
        </p:nvSpPr>
        <p:spPr>
          <a:xfrm>
            <a:off x="877138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36" name="Money box 4"/>
          <p:cNvSpPr/>
          <p:nvPr/>
        </p:nvSpPr>
        <p:spPr>
          <a:xfrm>
            <a:off x="9155430" y="3657600"/>
            <a:ext cx="2484882" cy="1417320"/>
          </a:xfrm>
          <a:prstGeom prst="roundRect">
            <a:avLst>
              <a:gd name="adj" fmla="val 7742"/>
            </a:avLst>
          </a:prstGeom>
          <a:solidFill>
            <a:srgbClr val="D7E8F2"/>
          </a:solidFill>
          <a:ln w="9525">
            <a:solidFill>
              <a:srgbClr val="0070AD"/>
            </a:solidFill>
            <a:prstDash val="solid"/>
          </a:ln>
        </p:spPr>
      </p:sp>
      <p:sp>
        <p:nvSpPr>
          <p:cNvPr id="37" name="Money value 4"/>
          <p:cNvSpPr txBox="1"/>
          <p:nvPr/>
        </p:nvSpPr>
        <p:spPr>
          <a:xfrm>
            <a:off x="9265158" y="3749040"/>
            <a:ext cx="2265426" cy="548640"/>
          </a:xfrm>
          <a:prstGeom prst="rect">
            <a:avLst/>
          </a:prstGeom>
          <a:noFill/>
          <a:ln/>
        </p:spPr>
        <p:txBody>
          <a:bodyPr wrap="square" lIns="0" tIns="0" rIns="0" bIns="0" rtlCol="0" anchor="ctr"/>
          <a:lstStyle/>
          <a:p>
            <a:pPr algn="ctr" indent="0" marL="0">
              <a:buNone/>
            </a:pPr>
            <a:r>
              <a:rPr lang="en-US" sz="2400" b="1" dirty="0">
                <a:solidFill>
                  <a:srgbClr val="0070AD"/>
                </a:solidFill>
              </a:rPr>
              <a:t>45,600 € a year</a:t>
            </a:r>
            <a:endParaRPr lang="en-US" sz="2400" dirty="0"/>
          </a:p>
        </p:txBody>
      </p:sp>
      <p:sp>
        <p:nvSpPr>
          <p:cNvPr id="38" name="Money label 4"/>
          <p:cNvSpPr txBox="1"/>
          <p:nvPr/>
        </p:nvSpPr>
        <p:spPr>
          <a:xfrm>
            <a:off x="926515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the break-even budget for building and calibrating a fast model</a:t>
            </a:r>
            <a:endParaRPr lang="en-US" sz="1200" dirty="0"/>
          </a:p>
        </p:txBody>
      </p:sp>
      <p:sp>
        <p:nvSpPr>
          <p:cNvPr id="39" name="Caveat"/>
          <p:cNvSpPr txBox="1"/>
          <p:nvPr/>
        </p:nvSpPr>
        <p:spPr>
          <a:xfrm>
            <a:off x="548640" y="53492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Iteration counts from the challenge (synthetic reference, eight races; race by race the saving ranged from −4 to 24, median 5.5, average 6.75). Examples: 1 working day per iteration from the Geberit report (CADFEM); 95 € per hour, average rate of freelance engineers in Germany (freelancermap, Feb 2026); 10 questions a year is an example only. Time to market is not priced in.</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BEYOND THE TOILET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The toilet is the example, not the limit</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same pattern fits wherever design loops wait for simulation or tests. Read the calculator's words for your product:</a:t>
            </a:r>
            <a:endParaRPr lang="en-US" sz="1500" dirty="0"/>
          </a:p>
        </p:txBody>
      </p:sp>
      <p:graphicFrame>
        <p:nvGraphicFramePr>
          <p:cNvPr id="9" name="Product area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743200"/>
                <a:gridCol w="4160520"/>
                <a:gridCol w="4160520"/>
              </a:tblGrid>
              <a:tr h="566928">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Product area</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Fast model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Expensive run</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Sanitary ware (this demo)</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Reduced-order flush model: jets, wall film, pool, trap</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Free-surface CFD, or a ceramic prototype on the rig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Vehicle water management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Film and droplet paths over body, seals and drains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Full-vehicle CFD of rain or wading; climatic wind tunnel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Lubrication and cooling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Network model of oil flow and splash in gearbox or e-motor</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Particle (SPH) simulation of oil splash; rig with a transparent housing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Appliances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Spray and drainage model of dishwasher or washing machine</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spray arms or drum flow; wash test with a soiled load</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Sensors and ADAS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Droplets and airflow over camera and lidar covers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droplets in airflow; wind tunnel spray test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bl>
          </a:graphicData>
        </a:graphic>
      </p:graphicFrame>
      <p:sp>
        <p:nvSpPr>
          <p:cNvPr id="6" name="Caveat"/>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One iteration is one variant through the expensive run and its evaluation. These rows are examples of where the pattern fits, not results: none of these fast models is part of the demo.</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MORE THAN CFD</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CFD is one of six steps, and the fast model helps in two</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Each step can send a design back. The costly loops are often in moulds and firing, not in simulation.</a:t>
            </a:r>
            <a:endParaRPr lang="en-US" sz="1500" dirty="0"/>
          </a:p>
        </p:txBody>
      </p:sp>
      <p:sp>
        <p:nvSpPr>
          <p:cNvPr id="5" name="Chain step 1 card"/>
          <p:cNvSpPr/>
          <p:nvPr/>
        </p:nvSpPr>
        <p:spPr>
          <a:xfrm>
            <a:off x="548640" y="1874520"/>
            <a:ext cx="1734312" cy="1463040"/>
          </a:xfrm>
          <a:prstGeom prst="roundRect">
            <a:avLst>
              <a:gd name="adj" fmla="val 6250"/>
            </a:avLst>
          </a:prstGeom>
          <a:solidFill>
            <a:srgbClr val="F3F5F8"/>
          </a:solidFill>
          <a:ln w="9525">
            <a:solidFill>
              <a:srgbClr val="D8E0E8"/>
            </a:solidFill>
            <a:prstDash val="solid"/>
          </a:ln>
        </p:spPr>
      </p:sp>
      <p:sp>
        <p:nvSpPr>
          <p:cNvPr id="6" name="Chain step 1 text"/>
          <p:cNvSpPr txBox="1"/>
          <p:nvPr/>
        </p:nvSpPr>
        <p:spPr>
          <a:xfrm>
            <a:off x="640080" y="1947672"/>
            <a:ext cx="1551432" cy="914400"/>
          </a:xfrm>
          <a:prstGeom prst="rect">
            <a:avLst/>
          </a:prstGeom>
          <a:noFill/>
          <a:ln/>
        </p:spPr>
        <p:txBody>
          <a:bodyPr wrap="square" lIns="0" tIns="0" rIns="0" bIns="0" rtlCol="0" anchor="t"/>
          <a:lstStyle/>
          <a:p>
            <a:pPr indent="0" marL="0">
              <a:buNone/>
            </a:pPr>
            <a:r>
              <a:rPr lang="en-US" sz="1250" b="1" dirty="0">
                <a:solidFill>
                  <a:srgbClr val="0F2538"/>
                </a:solidFill>
              </a:rPr>
              <a:t>1 · Industrial design</a:t>
            </a:r>
            <a:endParaRPr lang="en-US" sz="1250" dirty="0"/>
          </a:p>
          <a:p>
            <a:pPr indent="0" marL="0">
              <a:buNone/>
            </a:pPr>
            <a:r>
              <a:rPr lang="en-US" sz="1050" dirty="0">
                <a:solidFill>
                  <a:srgbClr val="0F2538"/>
                </a:solidFill>
              </a:rPr>
              <a:t>Shape, look and what users need</a:t>
            </a:r>
            <a:endParaRPr lang="en-US" sz="1250" dirty="0"/>
          </a:p>
        </p:txBody>
      </p:sp>
      <p:sp>
        <p:nvSpPr>
          <p:cNvPr id="7" name="Chain step 1 status"/>
          <p:cNvSpPr txBox="1"/>
          <p:nvPr/>
        </p:nvSpPr>
        <p:spPr>
          <a:xfrm>
            <a:off x="640080" y="2953512"/>
            <a:ext cx="1551432" cy="310896"/>
          </a:xfrm>
          <a:prstGeom prst="rect">
            <a:avLst/>
          </a:prstGeom>
          <a:noFill/>
          <a:ln/>
        </p:spPr>
        <p:txBody>
          <a:bodyPr wrap="square" lIns="0" tIns="0" rIns="0" bIns="0" rtlCol="0" anchor="b"/>
          <a:lstStyle/>
          <a:p>
            <a:pPr indent="0" marL="0">
              <a:buNone/>
            </a:pPr>
            <a:r>
              <a:rPr lang="en-US" sz="1050" b="1" dirty="0">
                <a:solidFill>
                  <a:srgbClr val="52667A"/>
                </a:solidFill>
              </a:rPr>
              <a:t>Not in the model</a:t>
            </a:r>
            <a:endParaRPr lang="en-US" sz="1050" dirty="0"/>
          </a:p>
        </p:txBody>
      </p:sp>
      <p:sp>
        <p:nvSpPr>
          <p:cNvPr id="8" name="Chain step 2 card"/>
          <p:cNvSpPr/>
          <p:nvPr/>
        </p:nvSpPr>
        <p:spPr>
          <a:xfrm>
            <a:off x="2420112" y="1874520"/>
            <a:ext cx="1734312" cy="1463040"/>
          </a:xfrm>
          <a:prstGeom prst="roundRect">
            <a:avLst>
              <a:gd name="adj" fmla="val 6250"/>
            </a:avLst>
          </a:prstGeom>
          <a:solidFill>
            <a:srgbClr val="DCEFE9"/>
          </a:solidFill>
          <a:ln w="15875">
            <a:solidFill>
              <a:srgbClr val="17876C"/>
            </a:solidFill>
            <a:prstDash val="solid"/>
          </a:ln>
        </p:spPr>
      </p:sp>
      <p:sp>
        <p:nvSpPr>
          <p:cNvPr id="9" name="Chain step 2 text"/>
          <p:cNvSpPr txBox="1"/>
          <p:nvPr/>
        </p:nvSpPr>
        <p:spPr>
          <a:xfrm>
            <a:off x="2511552" y="1947672"/>
            <a:ext cx="1551432" cy="914400"/>
          </a:xfrm>
          <a:prstGeom prst="rect">
            <a:avLst/>
          </a:prstGeom>
          <a:noFill/>
          <a:ln/>
        </p:spPr>
        <p:txBody>
          <a:bodyPr wrap="square" lIns="0" tIns="0" rIns="0" bIns="0" rtlCol="0" anchor="t"/>
          <a:lstStyle/>
          <a:p>
            <a:pPr indent="0" marL="0">
              <a:buNone/>
            </a:pPr>
            <a:r>
              <a:rPr lang="en-US" sz="1250" b="1" dirty="0">
                <a:solidFill>
                  <a:srgbClr val="0F2538"/>
                </a:solidFill>
              </a:rPr>
              <a:t>2 · Product engineering</a:t>
            </a:r>
            <a:endParaRPr lang="en-US" sz="1250" dirty="0"/>
          </a:p>
          <a:p>
            <a:pPr indent="0" marL="0">
              <a:buNone/>
            </a:pPr>
            <a:r>
              <a:rPr lang="en-US" sz="1050" dirty="0">
                <a:solidFill>
                  <a:srgbClr val="0F2538"/>
                </a:solidFill>
              </a:rPr>
              <a:t>Hydraulics, structure, interfaces, ceramic design rules</a:t>
            </a:r>
            <a:endParaRPr lang="en-US" sz="1250" dirty="0"/>
          </a:p>
        </p:txBody>
      </p:sp>
      <p:sp>
        <p:nvSpPr>
          <p:cNvPr id="10" name="Chain step 2 status"/>
          <p:cNvSpPr txBox="1"/>
          <p:nvPr/>
        </p:nvSpPr>
        <p:spPr>
          <a:xfrm>
            <a:off x="2511552" y="2953512"/>
            <a:ext cx="1551432" cy="310896"/>
          </a:xfrm>
          <a:prstGeom prst="rect">
            <a:avLst/>
          </a:prstGeom>
          <a:noFill/>
          <a:ln/>
        </p:spPr>
        <p:txBody>
          <a:bodyPr wrap="square" lIns="0" tIns="0" rIns="0" bIns="0" rtlCol="0" anchor="b"/>
          <a:lstStyle/>
          <a:p>
            <a:pPr indent="0" marL="0">
              <a:buNone/>
            </a:pPr>
            <a:r>
              <a:rPr lang="en-US" sz="1050" b="1" dirty="0">
                <a:solidFill>
                  <a:srgbClr val="17876C"/>
                </a:solidFill>
              </a:rPr>
              <a:t>Helps today: hydraulics</a:t>
            </a:r>
            <a:endParaRPr lang="en-US" sz="1050" dirty="0"/>
          </a:p>
        </p:txBody>
      </p:sp>
      <p:sp>
        <p:nvSpPr>
          <p:cNvPr id="11" name="Chain step 3 card"/>
          <p:cNvSpPr/>
          <p:nvPr/>
        </p:nvSpPr>
        <p:spPr>
          <a:xfrm>
            <a:off x="4291584" y="1874520"/>
            <a:ext cx="1734312" cy="1463040"/>
          </a:xfrm>
          <a:prstGeom prst="roundRect">
            <a:avLst>
              <a:gd name="adj" fmla="val 6250"/>
            </a:avLst>
          </a:prstGeom>
          <a:solidFill>
            <a:srgbClr val="DCEFE9"/>
          </a:solidFill>
          <a:ln w="15875">
            <a:solidFill>
              <a:srgbClr val="17876C"/>
            </a:solidFill>
            <a:prstDash val="solid"/>
          </a:ln>
        </p:spPr>
      </p:sp>
      <p:sp>
        <p:nvSpPr>
          <p:cNvPr id="12" name="Chain step 3 text"/>
          <p:cNvSpPr txBox="1"/>
          <p:nvPr/>
        </p:nvSpPr>
        <p:spPr>
          <a:xfrm>
            <a:off x="4383024" y="1947672"/>
            <a:ext cx="1551432" cy="914400"/>
          </a:xfrm>
          <a:prstGeom prst="rect">
            <a:avLst/>
          </a:prstGeom>
          <a:noFill/>
          <a:ln/>
        </p:spPr>
        <p:txBody>
          <a:bodyPr wrap="square" lIns="0" tIns="0" rIns="0" bIns="0" rtlCol="0" anchor="t"/>
          <a:lstStyle/>
          <a:p>
            <a:pPr indent="0" marL="0">
              <a:buNone/>
            </a:pPr>
            <a:r>
              <a:rPr lang="en-US" sz="1250" b="1" dirty="0">
                <a:solidFill>
                  <a:srgbClr val="0F2538"/>
                </a:solidFill>
              </a:rPr>
              <a:t>3 · Prototypes and tests</a:t>
            </a:r>
            <a:endParaRPr lang="en-US" sz="1250" dirty="0"/>
          </a:p>
          <a:p>
            <a:pPr indent="0" marL="0">
              <a:buNone/>
            </a:pPr>
            <a:r>
              <a:rPr lang="en-US" sz="1050" dirty="0">
                <a:solidFill>
                  <a:srgbClr val="0F2538"/>
                </a:solidFill>
              </a:rPr>
              <a:t>Prototypes, rig tests, EN 997 type tests</a:t>
            </a:r>
            <a:endParaRPr lang="en-US" sz="1250" dirty="0"/>
          </a:p>
        </p:txBody>
      </p:sp>
      <p:sp>
        <p:nvSpPr>
          <p:cNvPr id="13" name="Chain step 3 status"/>
          <p:cNvSpPr txBox="1"/>
          <p:nvPr/>
        </p:nvSpPr>
        <p:spPr>
          <a:xfrm>
            <a:off x="4383024" y="2953512"/>
            <a:ext cx="1551432" cy="310896"/>
          </a:xfrm>
          <a:prstGeom prst="rect">
            <a:avLst/>
          </a:prstGeom>
          <a:noFill/>
          <a:ln/>
        </p:spPr>
        <p:txBody>
          <a:bodyPr wrap="square" lIns="0" tIns="0" rIns="0" bIns="0" rtlCol="0" anchor="b"/>
          <a:lstStyle/>
          <a:p>
            <a:pPr indent="0" marL="0">
              <a:buNone/>
            </a:pPr>
            <a:r>
              <a:rPr lang="en-US" sz="1050" b="1" dirty="0">
                <a:solidFill>
                  <a:srgbClr val="17876C"/>
                </a:solidFill>
              </a:rPr>
              <a:t>Helps today: fewer rounds</a:t>
            </a:r>
            <a:endParaRPr lang="en-US" sz="1050" dirty="0"/>
          </a:p>
        </p:txBody>
      </p:sp>
      <p:sp>
        <p:nvSpPr>
          <p:cNvPr id="14" name="Chain step 4 card"/>
          <p:cNvSpPr/>
          <p:nvPr/>
        </p:nvSpPr>
        <p:spPr>
          <a:xfrm>
            <a:off x="6163056" y="1874520"/>
            <a:ext cx="1734312" cy="1463040"/>
          </a:xfrm>
          <a:prstGeom prst="roundRect">
            <a:avLst>
              <a:gd name="adj" fmla="val 6250"/>
            </a:avLst>
          </a:prstGeom>
          <a:solidFill>
            <a:srgbClr val="E3EEF5"/>
          </a:solidFill>
          <a:ln w="15875">
            <a:solidFill>
              <a:srgbClr val="0070AD"/>
            </a:solidFill>
            <a:prstDash val="dash"/>
          </a:ln>
        </p:spPr>
      </p:sp>
      <p:sp>
        <p:nvSpPr>
          <p:cNvPr id="15" name="Chain step 4 text"/>
          <p:cNvSpPr txBox="1"/>
          <p:nvPr/>
        </p:nvSpPr>
        <p:spPr>
          <a:xfrm>
            <a:off x="6254496" y="1947672"/>
            <a:ext cx="1551432" cy="914400"/>
          </a:xfrm>
          <a:prstGeom prst="rect">
            <a:avLst/>
          </a:prstGeom>
          <a:noFill/>
          <a:ln/>
        </p:spPr>
        <p:txBody>
          <a:bodyPr wrap="square" lIns="0" tIns="0" rIns="0" bIns="0" rtlCol="0" anchor="t"/>
          <a:lstStyle/>
          <a:p>
            <a:pPr indent="0" marL="0">
              <a:buNone/>
            </a:pPr>
            <a:r>
              <a:rPr lang="en-US" sz="1250" b="1" dirty="0">
                <a:solidFill>
                  <a:srgbClr val="0F2538"/>
                </a:solidFill>
              </a:rPr>
              <a:t>4 · Moulds and firing</a:t>
            </a:r>
            <a:endParaRPr lang="en-US" sz="1250" dirty="0"/>
          </a:p>
          <a:p>
            <a:pPr indent="0" marL="0">
              <a:buNone/>
            </a:pPr>
            <a:r>
              <a:rPr lang="en-US" sz="1050" dirty="0">
                <a:solidFill>
                  <a:srgbClr val="0F2538"/>
                </a:solidFill>
              </a:rPr>
              <a:t>Mould, pilot casting; about 10 % shrinkage in firing, sagging</a:t>
            </a:r>
            <a:endParaRPr lang="en-US" sz="1250" dirty="0"/>
          </a:p>
        </p:txBody>
      </p:sp>
      <p:sp>
        <p:nvSpPr>
          <p:cNvPr id="16" name="Chain step 4 status"/>
          <p:cNvSpPr txBox="1"/>
          <p:nvPr/>
        </p:nvSpPr>
        <p:spPr>
          <a:xfrm>
            <a:off x="6254496" y="2953512"/>
            <a:ext cx="1551432" cy="310896"/>
          </a:xfrm>
          <a:prstGeom prst="rect">
            <a:avLst/>
          </a:prstGeom>
          <a:noFill/>
          <a:ln/>
        </p:spPr>
        <p:txBody>
          <a:bodyPr wrap="square" lIns="0" tIns="0" rIns="0" bIns="0" rtlCol="0" anchor="b"/>
          <a:lstStyle/>
          <a:p>
            <a:pPr indent="0" marL="0">
              <a:buNone/>
            </a:pPr>
            <a:r>
              <a:rPr lang="en-US" sz="1050" b="1" dirty="0">
                <a:solidFill>
                  <a:srgbClr val="0070AD"/>
                </a:solidFill>
              </a:rPr>
              <a:t>Possible next step</a:t>
            </a:r>
            <a:endParaRPr lang="en-US" sz="1050" dirty="0"/>
          </a:p>
        </p:txBody>
      </p:sp>
      <p:sp>
        <p:nvSpPr>
          <p:cNvPr id="17" name="Chain step 5 card"/>
          <p:cNvSpPr/>
          <p:nvPr/>
        </p:nvSpPr>
        <p:spPr>
          <a:xfrm>
            <a:off x="8034528" y="1874520"/>
            <a:ext cx="1734312" cy="1463040"/>
          </a:xfrm>
          <a:prstGeom prst="roundRect">
            <a:avLst>
              <a:gd name="adj" fmla="val 6250"/>
            </a:avLst>
          </a:prstGeom>
          <a:solidFill>
            <a:srgbClr val="F3F5F8"/>
          </a:solidFill>
          <a:ln w="9525">
            <a:solidFill>
              <a:srgbClr val="D8E0E8"/>
            </a:solidFill>
            <a:prstDash val="solid"/>
          </a:ln>
        </p:spPr>
      </p:sp>
      <p:sp>
        <p:nvSpPr>
          <p:cNvPr id="18" name="Chain step 5 text"/>
          <p:cNvSpPr txBox="1"/>
          <p:nvPr/>
        </p:nvSpPr>
        <p:spPr>
          <a:xfrm>
            <a:off x="8125968" y="1947672"/>
            <a:ext cx="1551432" cy="914400"/>
          </a:xfrm>
          <a:prstGeom prst="rect">
            <a:avLst/>
          </a:prstGeom>
          <a:noFill/>
          <a:ln/>
        </p:spPr>
        <p:txBody>
          <a:bodyPr wrap="square" lIns="0" tIns="0" rIns="0" bIns="0" rtlCol="0" anchor="t"/>
          <a:lstStyle/>
          <a:p>
            <a:pPr indent="0" marL="0">
              <a:buNone/>
            </a:pPr>
            <a:r>
              <a:rPr lang="en-US" sz="1250" b="1" dirty="0">
                <a:solidFill>
                  <a:srgbClr val="0F2538"/>
                </a:solidFill>
              </a:rPr>
              <a:t>5 · Series production</a:t>
            </a:r>
            <a:endParaRPr lang="en-US" sz="1250" dirty="0"/>
          </a:p>
          <a:p>
            <a:pPr indent="0" marL="0">
              <a:buNone/>
            </a:pPr>
            <a:r>
              <a:rPr lang="en-US" sz="1050" dirty="0">
                <a:solidFill>
                  <a:srgbClr val="0F2538"/>
                </a:solidFill>
              </a:rPr>
              <a:t>Casting, glazing, firing, sorting</a:t>
            </a:r>
            <a:endParaRPr lang="en-US" sz="1250" dirty="0"/>
          </a:p>
        </p:txBody>
      </p:sp>
      <p:sp>
        <p:nvSpPr>
          <p:cNvPr id="19" name="Chain step 5 status"/>
          <p:cNvSpPr txBox="1"/>
          <p:nvPr/>
        </p:nvSpPr>
        <p:spPr>
          <a:xfrm>
            <a:off x="8125968" y="2953512"/>
            <a:ext cx="1551432" cy="310896"/>
          </a:xfrm>
          <a:prstGeom prst="rect">
            <a:avLst/>
          </a:prstGeom>
          <a:noFill/>
          <a:ln/>
        </p:spPr>
        <p:txBody>
          <a:bodyPr wrap="square" lIns="0" tIns="0" rIns="0" bIns="0" rtlCol="0" anchor="b"/>
          <a:lstStyle/>
          <a:p>
            <a:pPr indent="0" marL="0">
              <a:buNone/>
            </a:pPr>
            <a:r>
              <a:rPr lang="en-US" sz="1050" b="1" dirty="0">
                <a:solidFill>
                  <a:srgbClr val="52667A"/>
                </a:solidFill>
              </a:rPr>
              <a:t>Not in the model</a:t>
            </a:r>
            <a:endParaRPr lang="en-US" sz="1050" dirty="0"/>
          </a:p>
        </p:txBody>
      </p:sp>
      <p:sp>
        <p:nvSpPr>
          <p:cNvPr id="20" name="Chain step 6 card"/>
          <p:cNvSpPr/>
          <p:nvPr/>
        </p:nvSpPr>
        <p:spPr>
          <a:xfrm>
            <a:off x="9906000" y="1874520"/>
            <a:ext cx="1734312" cy="1463040"/>
          </a:xfrm>
          <a:prstGeom prst="roundRect">
            <a:avLst>
              <a:gd name="adj" fmla="val 6250"/>
            </a:avLst>
          </a:prstGeom>
          <a:solidFill>
            <a:srgbClr val="F3F5F8"/>
          </a:solidFill>
          <a:ln w="9525">
            <a:solidFill>
              <a:srgbClr val="D8E0E8"/>
            </a:solidFill>
            <a:prstDash val="solid"/>
          </a:ln>
        </p:spPr>
      </p:sp>
      <p:sp>
        <p:nvSpPr>
          <p:cNvPr id="21" name="Chain step 6 text"/>
          <p:cNvSpPr txBox="1"/>
          <p:nvPr/>
        </p:nvSpPr>
        <p:spPr>
          <a:xfrm>
            <a:off x="9997440" y="1947672"/>
            <a:ext cx="1551432" cy="914400"/>
          </a:xfrm>
          <a:prstGeom prst="rect">
            <a:avLst/>
          </a:prstGeom>
          <a:noFill/>
          <a:ln/>
        </p:spPr>
        <p:txBody>
          <a:bodyPr wrap="square" lIns="0" tIns="0" rIns="0" bIns="0" rtlCol="0" anchor="t"/>
          <a:lstStyle/>
          <a:p>
            <a:pPr indent="0" marL="0">
              <a:buNone/>
            </a:pPr>
            <a:r>
              <a:rPr lang="en-US" sz="1250" b="1" dirty="0">
                <a:solidFill>
                  <a:srgbClr val="0F2538"/>
                </a:solidFill>
              </a:rPr>
              <a:t>6 · Certification</a:t>
            </a:r>
            <a:endParaRPr lang="en-US" sz="1250" dirty="0"/>
          </a:p>
          <a:p>
            <a:pPr indent="0" marL="0">
              <a:buNone/>
            </a:pPr>
            <a:r>
              <a:rPr lang="en-US" sz="1050" dirty="0">
                <a:solidFill>
                  <a:srgbClr val="0F2538"/>
                </a:solidFill>
              </a:rPr>
              <a:t>Type tests, production control, CE marking</a:t>
            </a:r>
            <a:endParaRPr lang="en-US" sz="1250" dirty="0"/>
          </a:p>
        </p:txBody>
      </p:sp>
      <p:sp>
        <p:nvSpPr>
          <p:cNvPr id="22" name="Chain step 6 status"/>
          <p:cNvSpPr txBox="1"/>
          <p:nvPr/>
        </p:nvSpPr>
        <p:spPr>
          <a:xfrm>
            <a:off x="9997440" y="2953512"/>
            <a:ext cx="1551432" cy="310896"/>
          </a:xfrm>
          <a:prstGeom prst="rect">
            <a:avLst/>
          </a:prstGeom>
          <a:noFill/>
          <a:ln/>
        </p:spPr>
        <p:txBody>
          <a:bodyPr wrap="square" lIns="0" tIns="0" rIns="0" bIns="0" rtlCol="0" anchor="b"/>
          <a:lstStyle/>
          <a:p>
            <a:pPr indent="0" marL="0">
              <a:buNone/>
            </a:pPr>
            <a:r>
              <a:rPr lang="en-US" sz="1050" b="1" dirty="0">
                <a:solidFill>
                  <a:srgbClr val="52667A"/>
                </a:solidFill>
              </a:rPr>
              <a:t>Not in the model</a:t>
            </a:r>
            <a:endParaRPr lang="en-US" sz="1050" dirty="0"/>
          </a:p>
        </p:txBody>
      </p:sp>
      <p:sp>
        <p:nvSpPr>
          <p:cNvPr id="23" name="Roles heading"/>
          <p:cNvSpPr txBox="1"/>
          <p:nvPr/>
        </p:nvSpPr>
        <p:spPr>
          <a:xfrm>
            <a:off x="548640" y="3520440"/>
            <a:ext cx="5486400" cy="274320"/>
          </a:xfrm>
          <a:prstGeom prst="rect">
            <a:avLst/>
          </a:prstGeom>
          <a:noFill/>
          <a:ln/>
        </p:spPr>
        <p:txBody>
          <a:bodyPr wrap="square" lIns="0" tIns="0" rIns="0" bIns="0" rtlCol="0" anchor="t"/>
          <a:lstStyle/>
          <a:p>
            <a:pPr indent="0" marL="0">
              <a:buNone/>
            </a:pPr>
            <a:r>
              <a:rPr lang="en-US" sz="1400" b="1" dirty="0">
                <a:solidFill>
                  <a:srgbClr val="0F2538"/>
                </a:solidFill>
              </a:rPr>
              <a:t>Who does what, by role</a:t>
            </a:r>
            <a:endParaRPr lang="en-US" sz="1400" dirty="0"/>
          </a:p>
        </p:txBody>
      </p:sp>
      <p:sp>
        <p:nvSpPr>
          <p:cNvPr id="24" name="Role manufacturer card"/>
          <p:cNvSpPr/>
          <p:nvPr/>
        </p:nvSpPr>
        <p:spPr>
          <a:xfrm>
            <a:off x="548640" y="3840480"/>
            <a:ext cx="2514600" cy="1938528"/>
          </a:xfrm>
          <a:prstGeom prst="roundRect">
            <a:avLst>
              <a:gd name="adj" fmla="val 5660"/>
            </a:avLst>
          </a:prstGeom>
          <a:solidFill>
            <a:srgbClr val="E3EEF5"/>
          </a:solidFill>
          <a:ln w="9525">
            <a:solidFill>
              <a:srgbClr val="C9D6E2"/>
            </a:solidFill>
            <a:prstDash val="solid"/>
          </a:ln>
        </p:spPr>
      </p:sp>
      <p:sp>
        <p:nvSpPr>
          <p:cNvPr id="25" name="Role manufacturer text"/>
          <p:cNvSpPr txBox="1"/>
          <p:nvPr/>
        </p:nvSpPr>
        <p:spPr>
          <a:xfrm>
            <a:off x="685800" y="3950208"/>
            <a:ext cx="2240280" cy="1737360"/>
          </a:xfrm>
          <a:prstGeom prst="rect">
            <a:avLst/>
          </a:prstGeom>
          <a:noFill/>
          <a:ln/>
        </p:spPr>
        <p:txBody>
          <a:bodyPr wrap="square" lIns="0" tIns="0" rIns="0" bIns="0" rtlCol="0" anchor="t"/>
          <a:lstStyle/>
          <a:p>
            <a:pPr indent="0" marL="0">
              <a:buNone/>
            </a:pPr>
            <a:r>
              <a:rPr lang="en-US" sz="1300" b="1" dirty="0">
                <a:solidFill>
                  <a:srgbClr val="0F2538"/>
                </a:solidFill>
              </a:rPr>
              <a:t>The manufacturer</a:t>
            </a:r>
            <a:endParaRPr lang="en-US" sz="1300" dirty="0"/>
          </a:p>
          <a:p>
            <a:pPr indent="0" marL="0">
              <a:buNone/>
            </a:pPr>
            <a:r>
              <a:rPr lang="en-US" sz="1150" dirty="0">
                <a:solidFill>
                  <a:srgbClr val="0F2538"/>
                </a:solidFill>
              </a:rPr>
              <a:t>Owns the product, the brand, the know-how and the data, and makes the decisions.</a:t>
            </a:r>
            <a:endParaRPr lang="en-US" sz="1300" dirty="0"/>
          </a:p>
        </p:txBody>
      </p:sp>
      <p:sp>
        <p:nvSpPr>
          <p:cNvPr id="26" name="Role 1 card"/>
          <p:cNvSpPr/>
          <p:nvPr/>
        </p:nvSpPr>
        <p:spPr>
          <a:xfrm>
            <a:off x="3200400" y="3840480"/>
            <a:ext cx="2721864" cy="914400"/>
          </a:xfrm>
          <a:prstGeom prst="roundRect">
            <a:avLst>
              <a:gd name="adj" fmla="val 12000"/>
            </a:avLst>
          </a:prstGeom>
          <a:solidFill>
            <a:srgbClr val="F3F5F8"/>
          </a:solidFill>
          <a:ln w="9525">
            <a:solidFill>
              <a:srgbClr val="D8E0E8"/>
            </a:solidFill>
            <a:prstDash val="solid"/>
          </a:ln>
        </p:spPr>
      </p:sp>
      <p:sp>
        <p:nvSpPr>
          <p:cNvPr id="27" name="Role 1 text"/>
          <p:cNvSpPr txBox="1"/>
          <p:nvPr/>
        </p:nvSpPr>
        <p:spPr>
          <a:xfrm>
            <a:off x="3310128" y="3913632"/>
            <a:ext cx="2502408" cy="804672"/>
          </a:xfrm>
          <a:prstGeom prst="rect">
            <a:avLst/>
          </a:prstGeom>
          <a:noFill/>
          <a:ln/>
        </p:spPr>
        <p:txBody>
          <a:bodyPr wrap="square" lIns="0" tIns="0" rIns="0" bIns="0" rtlCol="0" anchor="t"/>
          <a:lstStyle/>
          <a:p>
            <a:pPr indent="0" marL="0">
              <a:buNone/>
            </a:pPr>
            <a:r>
              <a:rPr lang="en-US" sz="1200" b="1" dirty="0">
                <a:solidFill>
                  <a:srgbClr val="0F2538"/>
                </a:solidFill>
              </a:rPr>
              <a:t>CAD and simulation software vendors</a:t>
            </a:r>
            <a:endParaRPr lang="en-US" sz="1200" dirty="0"/>
          </a:p>
          <a:p>
            <a:pPr indent="0" marL="0">
              <a:buNone/>
            </a:pPr>
            <a:r>
              <a:rPr lang="en-US" sz="1050" dirty="0">
                <a:solidFill>
                  <a:srgbClr val="0F2538"/>
                </a:solidFill>
              </a:rPr>
              <a:t>Tools for design, CFD and FEM, licensed to the manufacturer.</a:t>
            </a:r>
            <a:endParaRPr lang="en-US" sz="1200" dirty="0"/>
          </a:p>
        </p:txBody>
      </p:sp>
      <p:sp>
        <p:nvSpPr>
          <p:cNvPr id="28" name="Role 2 card"/>
          <p:cNvSpPr/>
          <p:nvPr/>
        </p:nvSpPr>
        <p:spPr>
          <a:xfrm>
            <a:off x="6059424" y="3840480"/>
            <a:ext cx="2721864" cy="914400"/>
          </a:xfrm>
          <a:prstGeom prst="roundRect">
            <a:avLst>
              <a:gd name="adj" fmla="val 12000"/>
            </a:avLst>
          </a:prstGeom>
          <a:solidFill>
            <a:srgbClr val="F3F5F8"/>
          </a:solidFill>
          <a:ln w="9525">
            <a:solidFill>
              <a:srgbClr val="D8E0E8"/>
            </a:solidFill>
            <a:prstDash val="solid"/>
          </a:ln>
        </p:spPr>
      </p:sp>
      <p:sp>
        <p:nvSpPr>
          <p:cNvPr id="29" name="Role 2 text"/>
          <p:cNvSpPr txBox="1"/>
          <p:nvPr/>
        </p:nvSpPr>
        <p:spPr>
          <a:xfrm>
            <a:off x="6169152" y="3913632"/>
            <a:ext cx="2502408" cy="804672"/>
          </a:xfrm>
          <a:prstGeom prst="rect">
            <a:avLst/>
          </a:prstGeom>
          <a:noFill/>
          <a:ln/>
        </p:spPr>
        <p:txBody>
          <a:bodyPr wrap="square" lIns="0" tIns="0" rIns="0" bIns="0" rtlCol="0" anchor="t"/>
          <a:lstStyle/>
          <a:p>
            <a:pPr indent="0" marL="0">
              <a:buNone/>
            </a:pPr>
            <a:r>
              <a:rPr lang="en-US" sz="1200" b="1" dirty="0">
                <a:solidFill>
                  <a:srgbClr val="0F2538"/>
                </a:solidFill>
              </a:rPr>
              <a:t>AI and agent platforms</a:t>
            </a:r>
            <a:endParaRPr lang="en-US" sz="1200" dirty="0"/>
          </a:p>
          <a:p>
            <a:pPr indent="0" marL="0">
              <a:buNone/>
            </a:pPr>
            <a:r>
              <a:rPr lang="en-US" sz="1050" dirty="0">
                <a:solidFill>
                  <a:srgbClr val="0F2538"/>
                </a:solidFill>
              </a:rPr>
              <a:t>Connect tools and run studies automatically.</a:t>
            </a:r>
            <a:endParaRPr lang="en-US" sz="1200" dirty="0"/>
          </a:p>
        </p:txBody>
      </p:sp>
      <p:sp>
        <p:nvSpPr>
          <p:cNvPr id="30" name="Role 3 card"/>
          <p:cNvSpPr/>
          <p:nvPr/>
        </p:nvSpPr>
        <p:spPr>
          <a:xfrm>
            <a:off x="8918448" y="3840480"/>
            <a:ext cx="2721864" cy="914400"/>
          </a:xfrm>
          <a:prstGeom prst="roundRect">
            <a:avLst>
              <a:gd name="adj" fmla="val 12000"/>
            </a:avLst>
          </a:prstGeom>
          <a:solidFill>
            <a:srgbClr val="F3F5F8"/>
          </a:solidFill>
          <a:ln w="9525">
            <a:solidFill>
              <a:srgbClr val="D8E0E8"/>
            </a:solidFill>
            <a:prstDash val="solid"/>
          </a:ln>
        </p:spPr>
      </p:sp>
      <p:sp>
        <p:nvSpPr>
          <p:cNvPr id="31" name="Role 3 text"/>
          <p:cNvSpPr txBox="1"/>
          <p:nvPr/>
        </p:nvSpPr>
        <p:spPr>
          <a:xfrm>
            <a:off x="9028176" y="3913632"/>
            <a:ext cx="2502408" cy="804672"/>
          </a:xfrm>
          <a:prstGeom prst="rect">
            <a:avLst/>
          </a:prstGeom>
          <a:noFill/>
          <a:ln/>
        </p:spPr>
        <p:txBody>
          <a:bodyPr wrap="square" lIns="0" tIns="0" rIns="0" bIns="0" rtlCol="0" anchor="t"/>
          <a:lstStyle/>
          <a:p>
            <a:pPr indent="0" marL="0">
              <a:buNone/>
            </a:pPr>
            <a:r>
              <a:rPr lang="en-US" sz="1200" b="1" dirty="0">
                <a:solidFill>
                  <a:srgbClr val="0F2538"/>
                </a:solidFill>
              </a:rPr>
              <a:t>Equipment and plant suppliers</a:t>
            </a:r>
            <a:endParaRPr lang="en-US" sz="1200" dirty="0"/>
          </a:p>
          <a:p>
            <a:pPr indent="0" marL="0">
              <a:buNone/>
            </a:pPr>
            <a:r>
              <a:rPr lang="en-US" sz="1050" dirty="0">
                <a:solidFill>
                  <a:srgbClr val="0F2538"/>
                </a:solidFill>
              </a:rPr>
              <a:t>Machines and plants, moulds, ceramic process know-how, pilot trials, factory software.</a:t>
            </a:r>
            <a:endParaRPr lang="en-US" sz="1200" dirty="0"/>
          </a:p>
        </p:txBody>
      </p:sp>
      <p:sp>
        <p:nvSpPr>
          <p:cNvPr id="32" name="Role 4 card"/>
          <p:cNvSpPr/>
          <p:nvPr/>
        </p:nvSpPr>
        <p:spPr>
          <a:xfrm>
            <a:off x="3200400" y="4864608"/>
            <a:ext cx="2721864" cy="914400"/>
          </a:xfrm>
          <a:prstGeom prst="roundRect">
            <a:avLst>
              <a:gd name="adj" fmla="val 12000"/>
            </a:avLst>
          </a:prstGeom>
          <a:solidFill>
            <a:srgbClr val="F3F5F8"/>
          </a:solidFill>
          <a:ln w="9525">
            <a:solidFill>
              <a:srgbClr val="D8E0E8"/>
            </a:solidFill>
            <a:prstDash val="solid"/>
          </a:ln>
        </p:spPr>
      </p:sp>
      <p:sp>
        <p:nvSpPr>
          <p:cNvPr id="33" name="Role 4 text"/>
          <p:cNvSpPr txBox="1"/>
          <p:nvPr/>
        </p:nvSpPr>
        <p:spPr>
          <a:xfrm>
            <a:off x="3310128" y="4937760"/>
            <a:ext cx="2502408" cy="804672"/>
          </a:xfrm>
          <a:prstGeom prst="rect">
            <a:avLst/>
          </a:prstGeom>
          <a:noFill/>
          <a:ln/>
        </p:spPr>
        <p:txBody>
          <a:bodyPr wrap="square" lIns="0" tIns="0" rIns="0" bIns="0" rtlCol="0" anchor="t"/>
          <a:lstStyle/>
          <a:p>
            <a:pPr indent="0" marL="0">
              <a:buNone/>
            </a:pPr>
            <a:r>
              <a:rPr lang="en-US" sz="1200" b="1" dirty="0">
                <a:solidFill>
                  <a:srgbClr val="0F2538"/>
                </a:solidFill>
              </a:rPr>
              <a:t>Research institutes</a:t>
            </a:r>
            <a:endParaRPr lang="en-US" sz="1200" dirty="0"/>
          </a:p>
          <a:p>
            <a:pPr indent="0" marL="0">
              <a:buNone/>
            </a:pPr>
            <a:r>
              <a:rPr lang="en-US" sz="1050" dirty="0">
                <a:solidFill>
                  <a:srgbClr val="0F2538"/>
                </a:solidFill>
              </a:rPr>
              <a:t>New methods, such as physics-informed AI or firing simulation.</a:t>
            </a:r>
            <a:endParaRPr lang="en-US" sz="1200" dirty="0"/>
          </a:p>
        </p:txBody>
      </p:sp>
      <p:sp>
        <p:nvSpPr>
          <p:cNvPr id="34" name="Role 5 card"/>
          <p:cNvSpPr/>
          <p:nvPr/>
        </p:nvSpPr>
        <p:spPr>
          <a:xfrm>
            <a:off x="6059424" y="4864608"/>
            <a:ext cx="2721864" cy="914400"/>
          </a:xfrm>
          <a:prstGeom prst="roundRect">
            <a:avLst>
              <a:gd name="adj" fmla="val 12000"/>
            </a:avLst>
          </a:prstGeom>
          <a:solidFill>
            <a:srgbClr val="D7E8F2"/>
          </a:solidFill>
          <a:ln w="9525">
            <a:solidFill>
              <a:srgbClr val="0070AD"/>
            </a:solidFill>
            <a:prstDash val="solid"/>
          </a:ln>
        </p:spPr>
      </p:sp>
      <p:sp>
        <p:nvSpPr>
          <p:cNvPr id="35" name="Role 5 text"/>
          <p:cNvSpPr txBox="1"/>
          <p:nvPr/>
        </p:nvSpPr>
        <p:spPr>
          <a:xfrm>
            <a:off x="6169152" y="4937760"/>
            <a:ext cx="2502408" cy="804672"/>
          </a:xfrm>
          <a:prstGeom prst="rect">
            <a:avLst/>
          </a:prstGeom>
          <a:noFill/>
          <a:ln/>
        </p:spPr>
        <p:txBody>
          <a:bodyPr wrap="square" lIns="0" tIns="0" rIns="0" bIns="0" rtlCol="0" anchor="t"/>
          <a:lstStyle/>
          <a:p>
            <a:pPr indent="0" marL="0">
              <a:buNone/>
            </a:pPr>
            <a:r>
              <a:rPr lang="en-US" sz="1200" b="1" dirty="0">
                <a:solidFill>
                  <a:srgbClr val="0070AD"/>
                </a:solidFill>
              </a:rPr>
              <a:t>Our role: engineering partner</a:t>
            </a:r>
            <a:endParaRPr lang="en-US" sz="1200" dirty="0"/>
          </a:p>
          <a:p>
            <a:pPr indent="0" marL="0">
              <a:buNone/>
            </a:pPr>
            <a:r>
              <a:rPr lang="en-US" sz="1050" dirty="0">
                <a:solidFill>
                  <a:srgbClr val="0F2538"/>
                </a:solidFill>
              </a:rPr>
              <a:t>Fast models on the manufacturer's own data, connecting its tools, method and process change, extra capacity.</a:t>
            </a:r>
            <a:endParaRPr lang="en-US" sz="1200" dirty="0"/>
          </a:p>
        </p:txBody>
      </p:sp>
      <p:sp>
        <p:nvSpPr>
          <p:cNvPr id="36" name="Key message card"/>
          <p:cNvSpPr/>
          <p:nvPr/>
        </p:nvSpPr>
        <p:spPr>
          <a:xfrm>
            <a:off x="8918448" y="4864608"/>
            <a:ext cx="2721864" cy="914400"/>
          </a:xfrm>
          <a:prstGeom prst="roundRect">
            <a:avLst>
              <a:gd name="adj" fmla="val 12000"/>
            </a:avLst>
          </a:prstGeom>
          <a:solidFill>
            <a:srgbClr val="0F2538"/>
          </a:solidFill>
          <a:ln w="9525">
            <a:solidFill>
              <a:srgbClr val="0F2538"/>
            </a:solidFill>
            <a:prstDash val="solid"/>
          </a:ln>
        </p:spPr>
      </p:sp>
      <p:sp>
        <p:nvSpPr>
          <p:cNvPr id="37" name="Key message"/>
          <p:cNvSpPr txBox="1"/>
          <p:nvPr/>
        </p:nvSpPr>
        <p:spPr>
          <a:xfrm>
            <a:off x="9028176" y="4910328"/>
            <a:ext cx="2502408" cy="822960"/>
          </a:xfrm>
          <a:prstGeom prst="rect">
            <a:avLst/>
          </a:prstGeom>
          <a:noFill/>
          <a:ln/>
        </p:spPr>
        <p:txBody>
          <a:bodyPr wrap="square" lIns="0" tIns="0" rIns="0" bIns="0" rtlCol="0" anchor="ctr"/>
          <a:lstStyle/>
          <a:p>
            <a:pPr indent="0" marL="0">
              <a:buNone/>
            </a:pPr>
            <a:r>
              <a:rPr lang="en-US" sz="1150" b="1" dirty="0">
                <a:solidFill>
                  <a:srgbClr val="FFFFFF"/>
                </a:solidFill>
              </a:rPr>
              <a:t>We don't build machines and we don't add one more tool. We help the people and tools you have work faster together.</a:t>
            </a:r>
            <a:endParaRPr lang="en-US" sz="1150" dirty="0"/>
          </a:p>
        </p:txBody>
      </p:sp>
      <p:sp>
        <p:nvSpPr>
          <p:cNvPr id="38" name="Caveat"/>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Players named by role, not by company. Shrinkage figures from published work on sanitary ware firing (sources page, section 11). The fast model covers the hydraulics only.</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CHANGES ON EACH LEVEL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 new tool alone is not enough: six levels have to change</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Today as questions, since every company starts elsewhere. Step 1 is what the demo shows; step 2 is where it can lead.</a:t>
            </a:r>
            <a:endParaRPr lang="en-US" sz="1500" dirty="0"/>
          </a:p>
        </p:txBody>
      </p:sp>
      <p:graphicFrame>
        <p:nvGraphicFramePr>
          <p:cNvPr id="11" name="Levels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03120"/>
                <a:gridCol w="2926080"/>
                <a:gridCol w="3017520"/>
                <a:gridCol w="3017520"/>
              </a:tblGrid>
              <a:tr h="530352">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Level</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Today: questions to ask</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9FE3C9"/>
                          </a:solidFill>
                          <a:latin typeface="Ubuntu" pitchFamily="34" charset="0"/>
                          <a:ea typeface="Ubuntu" pitchFamily="34" charset="-122"/>
                          <a:cs typeface="Ubuntu" pitchFamily="34" charset="-120"/>
                        </a:rPr>
                        <a:t>Step 1: faster variants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12ABDB"/>
                          </a:solidFill>
                          <a:latin typeface="Ubuntu" pitchFamily="34" charset="0"/>
                          <a:ea typeface="Ubuntu" pitchFamily="34" charset="-122"/>
                          <a:cs typeface="Ubuntu" pitchFamily="34" charset="-120"/>
                        </a:rPr>
                        <a:t>Step 2: AI methods and agents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Value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long does a new variant take, and what does it cost?</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More variants per year, fewer prototypes and mould corrections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Quicker reaction to market needs, know-how kept in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Organization and people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Where do projects wait: design, CFD, test rig, mould shop?</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Design, hydraulics and mould teams work on one shared model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New roles, clear rules on when to trust AI results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Process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many loops from design to the first good fired piece?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Variants screened early, physical trials only to confirm</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Agents run studies, engineers review and decide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Method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Is each step checked on its own, one design at a time?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flush model calibrated with CFD and test 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Physics-informed networks, firing distortion prediction, designs derived from targets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Tool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Which CAD, CFD, FEM and test tools are in use?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model next to the existing tools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 platform connecting CAD, simulation and mould design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Are test, pilot casting and scan data reused?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Existing CFD and test results used for calibration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Each test, pilot casting and scan improves the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bl>
          </a:graphicData>
        </a:graphic>
      </p:graphicFrame>
      <p:sp>
        <p:nvSpPr>
          <p:cNvPr id="6" name="Caveat"/>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Step 2 needs step 1 first: agents and AI methods only work well on calibrated models and clean data.</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HONEST ABOUT THE LIMITS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What the demo shows, and what it does not show yet</a:t>
            </a:r>
            <a:endParaRPr lang="en-US" sz="3000" dirty="0"/>
          </a:p>
        </p:txBody>
      </p:sp>
      <p:sp>
        <p:nvSpPr>
          <p:cNvPr id="4" name="Shown card"/>
          <p:cNvSpPr/>
          <p:nvPr/>
        </p:nvSpPr>
        <p:spPr>
          <a:xfrm>
            <a:off x="548640" y="1645920"/>
            <a:ext cx="5349240" cy="3566160"/>
          </a:xfrm>
          <a:prstGeom prst="roundRect">
            <a:avLst>
              <a:gd name="adj" fmla="val 3077"/>
            </a:avLst>
          </a:prstGeom>
          <a:solidFill>
            <a:srgbClr val="F3F5F8"/>
          </a:solidFill>
          <a:ln w="9525">
            <a:solidFill>
              <a:srgbClr val="D8E0E8"/>
            </a:solidFill>
            <a:prstDash val="solid"/>
          </a:ln>
        </p:spPr>
      </p:sp>
      <p:sp>
        <p:nvSpPr>
          <p:cNvPr id="5" name="Shown heading"/>
          <p:cNvSpPr txBox="1"/>
          <p:nvPr/>
        </p:nvSpPr>
        <p:spPr>
          <a:xfrm>
            <a:off x="822960" y="1810512"/>
            <a:ext cx="4846320" cy="365760"/>
          </a:xfrm>
          <a:prstGeom prst="rect">
            <a:avLst/>
          </a:prstGeom>
          <a:noFill/>
          <a:ln/>
        </p:spPr>
        <p:txBody>
          <a:bodyPr wrap="square" lIns="0" tIns="0" rIns="0" bIns="0" rtlCol="0" anchor="t"/>
          <a:lstStyle/>
          <a:p>
            <a:pPr indent="0" marL="0">
              <a:buNone/>
            </a:pPr>
            <a:r>
              <a:rPr lang="en-US" sz="1800" b="1" dirty="0">
                <a:solidFill>
                  <a:srgbClr val="17876C"/>
                </a:solidFill>
              </a:rPr>
              <a:t>Shown</a:t>
            </a:r>
            <a:endParaRPr lang="en-US" sz="1800" dirty="0"/>
          </a:p>
        </p:txBody>
      </p:sp>
      <p:sp>
        <p:nvSpPr>
          <p:cNvPr id="6" name="Shown points"/>
          <p:cNvSpPr txBox="1"/>
          <p:nvPr/>
        </p:nvSpPr>
        <p:spPr>
          <a:xfrm>
            <a:off x="822960"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The model solves its own equations correctly: </a:t>
            </a:r>
            <a:pPr indent="0" marL="0">
              <a:spcAft>
                <a:spcPts val="1000"/>
              </a:spcAft>
              <a:buNone/>
            </a:pPr>
            <a:r>
              <a:rPr lang="en-US" sz="1400" dirty="0">
                <a:solidFill>
                  <a:srgbClr val="0F2538"/>
                </a:solidFill>
              </a:rPr>
              <a:t>61 physics checks, from energy and water balance to grid and time-step convergence.</a:t>
            </a:r>
            <a:endParaRPr lang="en-US" sz="1400" dirty="0"/>
          </a:p>
          <a:p>
            <a:pPr indent="0" marL="0">
              <a:spcAft>
                <a:spcPts val="1000"/>
              </a:spcAft>
              <a:buNone/>
            </a:pPr>
            <a:r>
              <a:rPr lang="en-US" sz="1400" b="1" dirty="0">
                <a:solidFill>
                  <a:srgbClr val="0F2538"/>
                </a:solidFill>
              </a:rPr>
              <a:t>One check against full CFD: </a:t>
            </a:r>
            <a:pPr indent="0" marL="0">
              <a:spcAft>
                <a:spcPts val="1000"/>
              </a:spcAft>
              <a:buNone/>
            </a:pPr>
            <a:r>
              <a:rPr lang="en-US" sz="1400" dirty="0">
                <a:solidFill>
                  <a:srgbClr val="0F2538"/>
                </a:solidFill>
              </a:rPr>
              <a:t>the same bowl in OpenFOAM on two meshes, with where the two differ.</a:t>
            </a:r>
            <a:endParaRPr lang="en-US" sz="1400" dirty="0"/>
          </a:p>
          <a:p>
            <a:pPr indent="0" marL="0">
              <a:spcAft>
                <a:spcPts val="1000"/>
              </a:spcAft>
              <a:buNone/>
            </a:pPr>
            <a:r>
              <a:rPr lang="en-US" sz="1400" b="1" dirty="0">
                <a:solidFill>
                  <a:srgbClr val="0F2538"/>
                </a:solidFill>
              </a:rPr>
              <a:t>The AI workflow end to end: </a:t>
            </a:r>
            <a:pPr indent="0" marL="0">
              <a:spcAft>
                <a:spcPts val="1000"/>
              </a:spcAft>
              <a:buNone/>
            </a:pPr>
            <a:r>
              <a:rPr lang="en-US" sz="1400" dirty="0">
                <a:solidFill>
                  <a:srgbClr val="0F2538"/>
                </a:solidFill>
              </a:rPr>
              <a:t>search, surrogates, calibration and learning from expensive runs, all live in the browser.</a:t>
            </a:r>
            <a:endParaRPr lang="en-US" sz="1400" dirty="0"/>
          </a:p>
          <a:p>
            <a:pPr indent="0" marL="0">
              <a:spcAft>
                <a:spcPts val="1000"/>
              </a:spcAft>
              <a:buNone/>
            </a:pPr>
            <a:r>
              <a:rPr lang="en-US" sz="1400" b="1" dirty="0">
                <a:solidFill>
                  <a:srgbClr val="0F2538"/>
                </a:solidFill>
              </a:rPr>
              <a:t>Every figure is traceable: </a:t>
            </a:r>
            <a:pPr indent="0" marL="0">
              <a:spcAft>
                <a:spcPts val="1000"/>
              </a:spcAft>
              <a:buNone/>
            </a:pPr>
            <a:r>
              <a:rPr lang="en-US" sz="1400" dirty="0">
                <a:solidFill>
                  <a:srgbClr val="0F2538"/>
                </a:solidFill>
              </a:rPr>
              <a:t>to a check script or to data stored with the page.</a:t>
            </a:r>
            <a:endParaRPr lang="en-US" sz="1400" dirty="0"/>
          </a:p>
        </p:txBody>
      </p:sp>
      <p:sp>
        <p:nvSpPr>
          <p:cNvPr id="7" name="Not yet card"/>
          <p:cNvSpPr/>
          <p:nvPr/>
        </p:nvSpPr>
        <p:spPr>
          <a:xfrm>
            <a:off x="6291072" y="1645920"/>
            <a:ext cx="5349240" cy="3566160"/>
          </a:xfrm>
          <a:prstGeom prst="roundRect">
            <a:avLst>
              <a:gd name="adj" fmla="val 3077"/>
            </a:avLst>
          </a:prstGeom>
          <a:solidFill>
            <a:srgbClr val="F3F5F8"/>
          </a:solidFill>
          <a:ln w="9525">
            <a:solidFill>
              <a:srgbClr val="D8E0E8"/>
            </a:solidFill>
            <a:prstDash val="solid"/>
          </a:ln>
        </p:spPr>
      </p:sp>
      <p:sp>
        <p:nvSpPr>
          <p:cNvPr id="8" name="Not yet heading"/>
          <p:cNvSpPr txBox="1"/>
          <p:nvPr/>
        </p:nvSpPr>
        <p:spPr>
          <a:xfrm>
            <a:off x="6565392" y="1810512"/>
            <a:ext cx="4846320" cy="365760"/>
          </a:xfrm>
          <a:prstGeom prst="rect">
            <a:avLst/>
          </a:prstGeom>
          <a:noFill/>
          <a:ln/>
        </p:spPr>
        <p:txBody>
          <a:bodyPr wrap="square" lIns="0" tIns="0" rIns="0" bIns="0" rtlCol="0" anchor="t"/>
          <a:lstStyle/>
          <a:p>
            <a:pPr indent="0" marL="0">
              <a:buNone/>
            </a:pPr>
            <a:r>
              <a:rPr lang="en-US" sz="1800" b="1" dirty="0">
                <a:solidFill>
                  <a:srgbClr val="8A5A2B"/>
                </a:solidFill>
              </a:rPr>
              <a:t>Not shown yet</a:t>
            </a:r>
            <a:endParaRPr lang="en-US" sz="1800" dirty="0"/>
          </a:p>
        </p:txBody>
      </p:sp>
      <p:sp>
        <p:nvSpPr>
          <p:cNvPr id="9" name="Not yet points"/>
          <p:cNvSpPr txBox="1"/>
          <p:nvPr/>
        </p:nvSpPr>
        <p:spPr>
          <a:xfrm>
            <a:off x="6565392"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Calibration against real bowls: </a:t>
            </a:r>
            <a:pPr indent="0" marL="0">
              <a:spcAft>
                <a:spcPts val="1000"/>
              </a:spcAft>
              <a:buNone/>
            </a:pPr>
            <a:r>
              <a:rPr lang="en-US" sz="1400" dirty="0">
                <a:solidFill>
                  <a:srgbClr val="0F2538"/>
                </a:solidFill>
              </a:rPr>
              <a:t>the coefficients are physics-based but not fitted to rig data.</a:t>
            </a:r>
            <a:endParaRPr lang="en-US" sz="1400" dirty="0"/>
          </a:p>
          <a:p>
            <a:pPr indent="0" marL="0">
              <a:spcAft>
                <a:spcPts val="1000"/>
              </a:spcAft>
              <a:buNone/>
            </a:pPr>
            <a:r>
              <a:rPr lang="en-US" sz="1400" b="1" dirty="0">
                <a:solidFill>
                  <a:srgbClr val="0F2538"/>
                </a:solidFill>
              </a:rPr>
              <a:t>Design trends against CFD: </a:t>
            </a:r>
            <a:pPr indent="0" marL="0">
              <a:spcAft>
                <a:spcPts val="1000"/>
              </a:spcAft>
              <a:buNone/>
            </a:pPr>
            <a:r>
              <a:rPr lang="en-US" sz="1400" dirty="0">
                <a:solidFill>
                  <a:srgbClr val="0F2538"/>
                </a:solidFill>
              </a:rPr>
              <a:t>one design was checked; trends need CFD runs of several designs.</a:t>
            </a:r>
            <a:endParaRPr lang="en-US" sz="1400" dirty="0"/>
          </a:p>
          <a:p>
            <a:pPr indent="0" marL="0">
              <a:spcAft>
                <a:spcPts val="1000"/>
              </a:spcAft>
              <a:buNone/>
            </a:pPr>
            <a:r>
              <a:rPr lang="en-US" sz="1400" b="1" dirty="0">
                <a:solidFill>
                  <a:srgbClr val="0F2538"/>
                </a:solidFill>
              </a:rPr>
              <a:t>Real CFD in the challenge: </a:t>
            </a:r>
            <a:pPr indent="0" marL="0">
              <a:spcAft>
                <a:spcPts val="1000"/>
              </a:spcAft>
              <a:buNone/>
            </a:pPr>
            <a:r>
              <a:rPr lang="en-US" sz="1400" dirty="0">
                <a:solidFill>
                  <a:srgbClr val="0F2538"/>
                </a:solidFill>
              </a:rPr>
              <a:t>the expensive runs come from a synthetic reference.</a:t>
            </a:r>
            <a:endParaRPr lang="en-US" sz="1400" dirty="0"/>
          </a:p>
          <a:p>
            <a:pPr indent="0" marL="0">
              <a:spcAft>
                <a:spcPts val="1000"/>
              </a:spcAft>
              <a:buNone/>
            </a:pPr>
            <a:r>
              <a:rPr lang="en-US" sz="1400" b="1" dirty="0">
                <a:solidFill>
                  <a:srgbClr val="0F2538"/>
                </a:solidFill>
              </a:rPr>
              <a:t>Noise against recordings: </a:t>
            </a:r>
            <a:pPr indent="0" marL="0">
              <a:spcAft>
                <a:spcPts val="1000"/>
              </a:spcAft>
              <a:buNone/>
            </a:pPr>
            <a:r>
              <a:rPr lang="en-US" sz="1400" dirty="0">
                <a:solidFill>
                  <a:srgbClr val="0F2538"/>
                </a:solidFill>
              </a:rPr>
              <a:t>noise is a relative indicator, fitted so far only to synthetic recordings.</a:t>
            </a:r>
            <a:endParaRPr lang="en-US" sz="1400" dirty="0"/>
          </a:p>
        </p:txBody>
      </p:sp>
      <p:sp>
        <p:nvSpPr>
          <p:cNvPr id="10" name="Caveat"/>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Use the demo to compare designs and to decide what to test, not as validated values. The presets are generic EU washdown and siphonic bowls, not any manufacturer's product.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HOW A TEAM WOULD START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Start with one design question, in four steps</a:t>
            </a:r>
            <a:endParaRPr lang="en-US" sz="3000" dirty="0"/>
          </a:p>
        </p:txBody>
      </p:sp>
      <p:sp>
        <p:nvSpPr>
          <p:cNvPr id="4" name="Step 1 card"/>
          <p:cNvSpPr/>
          <p:nvPr/>
        </p:nvSpPr>
        <p:spPr>
          <a:xfrm>
            <a:off x="548640" y="1783080"/>
            <a:ext cx="2542032" cy="2743200"/>
          </a:xfrm>
          <a:prstGeom prst="roundRect">
            <a:avLst>
              <a:gd name="adj" fmla="val 4317"/>
            </a:avLst>
          </a:prstGeom>
          <a:solidFill>
            <a:srgbClr val="F3F5F8"/>
          </a:solidFill>
          <a:ln w="9525">
            <a:solidFill>
              <a:srgbClr val="D8E0E8"/>
            </a:solidFill>
            <a:prstDash val="solid"/>
          </a:ln>
        </p:spPr>
      </p:sp>
      <p:sp>
        <p:nvSpPr>
          <p:cNvPr id="5" name="Step 1 circle"/>
          <p:cNvSpPr/>
          <p:nvPr/>
        </p:nvSpPr>
        <p:spPr>
          <a:xfrm>
            <a:off x="777240" y="2011680"/>
            <a:ext cx="566928" cy="566928"/>
          </a:xfrm>
          <a:prstGeom prst="ellipse">
            <a:avLst/>
          </a:prstGeom>
          <a:solidFill>
            <a:srgbClr val="0070AD"/>
          </a:solidFill>
          <a:ln w="12700">
            <a:solidFill>
              <a:srgbClr val="0070AD"/>
            </a:solidFill>
            <a:prstDash val="solid"/>
          </a:ln>
        </p:spPr>
      </p:sp>
      <p:sp>
        <p:nvSpPr>
          <p:cNvPr id="6" name="Step 1 number"/>
          <p:cNvSpPr txBox="1"/>
          <p:nvPr/>
        </p:nvSpPr>
        <p:spPr>
          <a:xfrm>
            <a:off x="777240"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Step 1 heading"/>
          <p:cNvSpPr txBox="1"/>
          <p:nvPr/>
        </p:nvSpPr>
        <p:spPr>
          <a:xfrm>
            <a:off x="777240"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Pick one question</a:t>
            </a:r>
            <a:endParaRPr lang="en-US" sz="1800" dirty="0"/>
          </a:p>
        </p:txBody>
      </p:sp>
      <p:sp>
        <p:nvSpPr>
          <p:cNvPr id="8" name="Step 1 text"/>
          <p:cNvSpPr txBox="1"/>
          <p:nvPr/>
        </p:nvSpPr>
        <p:spPr>
          <a:xfrm>
            <a:off x="777240"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one recurring design question that today waits for CFD or tests</a:t>
            </a:r>
            <a:endParaRPr lang="en-US" sz="1500" dirty="0"/>
          </a:p>
        </p:txBody>
      </p:sp>
      <p:sp>
        <p:nvSpPr>
          <p:cNvPr id="9" name="Step arrow 1"/>
          <p:cNvSpPr/>
          <p:nvPr/>
        </p:nvSpPr>
        <p:spPr>
          <a:xfrm>
            <a:off x="3127248" y="3154680"/>
            <a:ext cx="228600" cy="914"/>
          </a:xfrm>
          <a:prstGeom prst="line">
            <a:avLst/>
          </a:prstGeom>
          <a:noFill/>
          <a:ln w="19050">
            <a:solidFill>
              <a:srgbClr val="0070AD"/>
            </a:solidFill>
            <a:prstDash val="solid"/>
            <a:tailEnd type="triangle"/>
          </a:ln>
        </p:spPr>
      </p:sp>
      <p:sp>
        <p:nvSpPr>
          <p:cNvPr id="10" name="Step 2 card"/>
          <p:cNvSpPr/>
          <p:nvPr/>
        </p:nvSpPr>
        <p:spPr>
          <a:xfrm>
            <a:off x="3392424" y="1783080"/>
            <a:ext cx="2542032" cy="2743200"/>
          </a:xfrm>
          <a:prstGeom prst="roundRect">
            <a:avLst>
              <a:gd name="adj" fmla="val 4317"/>
            </a:avLst>
          </a:prstGeom>
          <a:solidFill>
            <a:srgbClr val="F3F5F8"/>
          </a:solidFill>
          <a:ln w="9525">
            <a:solidFill>
              <a:srgbClr val="D8E0E8"/>
            </a:solidFill>
            <a:prstDash val="solid"/>
          </a:ln>
        </p:spPr>
      </p:sp>
      <p:sp>
        <p:nvSpPr>
          <p:cNvPr id="11" name="Step 2 circle"/>
          <p:cNvSpPr/>
          <p:nvPr/>
        </p:nvSpPr>
        <p:spPr>
          <a:xfrm>
            <a:off x="3621024" y="2011680"/>
            <a:ext cx="566928" cy="566928"/>
          </a:xfrm>
          <a:prstGeom prst="ellipse">
            <a:avLst/>
          </a:prstGeom>
          <a:solidFill>
            <a:srgbClr val="0070AD"/>
          </a:solidFill>
          <a:ln w="12700">
            <a:solidFill>
              <a:srgbClr val="0070AD"/>
            </a:solidFill>
            <a:prstDash val="solid"/>
          </a:ln>
        </p:spPr>
      </p:sp>
      <p:sp>
        <p:nvSpPr>
          <p:cNvPr id="12" name="Step 2 number"/>
          <p:cNvSpPr txBox="1"/>
          <p:nvPr/>
        </p:nvSpPr>
        <p:spPr>
          <a:xfrm>
            <a:off x="3621024"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3" name="Step 2 heading"/>
          <p:cNvSpPr txBox="1"/>
          <p:nvPr/>
        </p:nvSpPr>
        <p:spPr>
          <a:xfrm>
            <a:off x="3621024"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Build a fast model</a:t>
            </a:r>
            <a:endParaRPr lang="en-US" sz="1800" dirty="0"/>
          </a:p>
        </p:txBody>
      </p:sp>
      <p:sp>
        <p:nvSpPr>
          <p:cNvPr id="14" name="Step 2 text"/>
          <p:cNvSpPr txBox="1"/>
          <p:nvPr/>
        </p:nvSpPr>
        <p:spPr>
          <a:xfrm>
            <a:off x="3621024"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of its main mechanisms, with the people who know them</a:t>
            </a:r>
            <a:endParaRPr lang="en-US" sz="1500" dirty="0"/>
          </a:p>
        </p:txBody>
      </p:sp>
      <p:sp>
        <p:nvSpPr>
          <p:cNvPr id="15" name="Step arrow 2"/>
          <p:cNvSpPr/>
          <p:nvPr/>
        </p:nvSpPr>
        <p:spPr>
          <a:xfrm>
            <a:off x="5971032" y="3154680"/>
            <a:ext cx="228600" cy="914"/>
          </a:xfrm>
          <a:prstGeom prst="line">
            <a:avLst/>
          </a:prstGeom>
          <a:noFill/>
          <a:ln w="19050">
            <a:solidFill>
              <a:srgbClr val="0070AD"/>
            </a:solidFill>
            <a:prstDash val="solid"/>
            <a:tailEnd type="triangle"/>
          </a:ln>
        </p:spPr>
      </p:sp>
      <p:sp>
        <p:nvSpPr>
          <p:cNvPr id="16" name="Step 3 card"/>
          <p:cNvSpPr/>
          <p:nvPr/>
        </p:nvSpPr>
        <p:spPr>
          <a:xfrm>
            <a:off x="6236208" y="1783080"/>
            <a:ext cx="2542032" cy="2743200"/>
          </a:xfrm>
          <a:prstGeom prst="roundRect">
            <a:avLst>
              <a:gd name="adj" fmla="val 4317"/>
            </a:avLst>
          </a:prstGeom>
          <a:solidFill>
            <a:srgbClr val="F3F5F8"/>
          </a:solidFill>
          <a:ln w="9525">
            <a:solidFill>
              <a:srgbClr val="D8E0E8"/>
            </a:solidFill>
            <a:prstDash val="solid"/>
          </a:ln>
        </p:spPr>
      </p:sp>
      <p:sp>
        <p:nvSpPr>
          <p:cNvPr id="17" name="Step 3 circle"/>
          <p:cNvSpPr/>
          <p:nvPr/>
        </p:nvSpPr>
        <p:spPr>
          <a:xfrm>
            <a:off x="6464808" y="2011680"/>
            <a:ext cx="566928" cy="566928"/>
          </a:xfrm>
          <a:prstGeom prst="ellipse">
            <a:avLst/>
          </a:prstGeom>
          <a:solidFill>
            <a:srgbClr val="0070AD"/>
          </a:solidFill>
          <a:ln w="12700">
            <a:solidFill>
              <a:srgbClr val="0070AD"/>
            </a:solidFill>
            <a:prstDash val="solid"/>
          </a:ln>
        </p:spPr>
      </p:sp>
      <p:sp>
        <p:nvSpPr>
          <p:cNvPr id="18" name="Step 3 number"/>
          <p:cNvSpPr txBox="1"/>
          <p:nvPr/>
        </p:nvSpPr>
        <p:spPr>
          <a:xfrm>
            <a:off x="6464808"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9" name="Step 3 heading"/>
          <p:cNvSpPr txBox="1"/>
          <p:nvPr/>
        </p:nvSpPr>
        <p:spPr>
          <a:xfrm>
            <a:off x="6464808"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Calibrate it</a:t>
            </a:r>
            <a:endParaRPr lang="en-US" sz="1800" dirty="0"/>
          </a:p>
        </p:txBody>
      </p:sp>
      <p:sp>
        <p:nvSpPr>
          <p:cNvPr id="20" name="Step 3 text"/>
          <p:cNvSpPr txBox="1"/>
          <p:nvPr/>
        </p:nvSpPr>
        <p:spPr>
          <a:xfrm>
            <a:off x="6464808"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with CFD or test data you already have, and check it on cases it has not seen</a:t>
            </a:r>
            <a:endParaRPr lang="en-US" sz="1500" dirty="0"/>
          </a:p>
        </p:txBody>
      </p:sp>
      <p:sp>
        <p:nvSpPr>
          <p:cNvPr id="21" name="Step arrow 3"/>
          <p:cNvSpPr/>
          <p:nvPr/>
        </p:nvSpPr>
        <p:spPr>
          <a:xfrm>
            <a:off x="8814816" y="3154680"/>
            <a:ext cx="228600" cy="914"/>
          </a:xfrm>
          <a:prstGeom prst="line">
            <a:avLst/>
          </a:prstGeom>
          <a:noFill/>
          <a:ln w="19050">
            <a:solidFill>
              <a:srgbClr val="0070AD"/>
            </a:solidFill>
            <a:prstDash val="solid"/>
            <a:tailEnd type="triangle"/>
          </a:ln>
        </p:spPr>
      </p:sp>
      <p:sp>
        <p:nvSpPr>
          <p:cNvPr id="22" name="Step 4 card"/>
          <p:cNvSpPr/>
          <p:nvPr/>
        </p:nvSpPr>
        <p:spPr>
          <a:xfrm>
            <a:off x="9079992" y="1783080"/>
            <a:ext cx="2542032" cy="2743200"/>
          </a:xfrm>
          <a:prstGeom prst="roundRect">
            <a:avLst>
              <a:gd name="adj" fmla="val 4317"/>
            </a:avLst>
          </a:prstGeom>
          <a:solidFill>
            <a:srgbClr val="F3F5F8"/>
          </a:solidFill>
          <a:ln w="9525">
            <a:solidFill>
              <a:srgbClr val="D8E0E8"/>
            </a:solidFill>
            <a:prstDash val="solid"/>
          </a:ln>
        </p:spPr>
      </p:sp>
      <p:sp>
        <p:nvSpPr>
          <p:cNvPr id="23" name="Step 4 circle"/>
          <p:cNvSpPr/>
          <p:nvPr/>
        </p:nvSpPr>
        <p:spPr>
          <a:xfrm>
            <a:off x="9308592" y="2011680"/>
            <a:ext cx="566928" cy="566928"/>
          </a:xfrm>
          <a:prstGeom prst="ellipse">
            <a:avLst/>
          </a:prstGeom>
          <a:solidFill>
            <a:srgbClr val="0070AD"/>
          </a:solidFill>
          <a:ln w="12700">
            <a:solidFill>
              <a:srgbClr val="0070AD"/>
            </a:solidFill>
            <a:prstDash val="solid"/>
          </a:ln>
        </p:spPr>
      </p:sp>
      <p:sp>
        <p:nvSpPr>
          <p:cNvPr id="24" name="Step 4 number"/>
          <p:cNvSpPr txBox="1"/>
          <p:nvPr/>
        </p:nvSpPr>
        <p:spPr>
          <a:xfrm>
            <a:off x="9308592"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5" name="Step 4 heading"/>
          <p:cNvSpPr txBox="1"/>
          <p:nvPr/>
        </p:nvSpPr>
        <p:spPr>
          <a:xfrm>
            <a:off x="9308592"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Close the loop</a:t>
            </a:r>
            <a:endParaRPr lang="en-US" sz="1800" dirty="0"/>
          </a:p>
        </p:txBody>
      </p:sp>
      <p:sp>
        <p:nvSpPr>
          <p:cNvPr id="26" name="Step 4 text"/>
          <p:cNvSpPr txBox="1"/>
          <p:nvPr/>
        </p:nvSpPr>
        <p:spPr>
          <a:xfrm>
            <a:off x="9308592"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optimisation on top, and every new expensive run correcting the model</a:t>
            </a:r>
            <a:endParaRPr lang="en-US" sz="1500" dirty="0"/>
          </a:p>
        </p:txBody>
      </p:sp>
      <p:sp>
        <p:nvSpPr>
          <p:cNvPr id="27" name="Workshop card"/>
          <p:cNvSpPr/>
          <p:nvPr/>
        </p:nvSpPr>
        <p:spPr>
          <a:xfrm>
            <a:off x="548640" y="4846320"/>
            <a:ext cx="11091672" cy="1097280"/>
          </a:xfrm>
          <a:prstGeom prst="roundRect">
            <a:avLst>
              <a:gd name="adj" fmla="val 10000"/>
            </a:avLst>
          </a:prstGeom>
          <a:solidFill>
            <a:srgbClr val="D7E8F2"/>
          </a:solidFill>
          <a:ln w="9525">
            <a:solidFill>
              <a:srgbClr val="0070AD"/>
            </a:solidFill>
            <a:prstDash val="solid"/>
          </a:ln>
        </p:spPr>
      </p:sp>
      <p:sp>
        <p:nvSpPr>
          <p:cNvPr id="28" name="Workshop text"/>
          <p:cNvSpPr txBox="1"/>
          <p:nvPr/>
        </p:nvSpPr>
        <p:spPr>
          <a:xfrm>
            <a:off x="777240" y="4846320"/>
            <a:ext cx="10652760" cy="1097280"/>
          </a:xfrm>
          <a:prstGeom prst="rect">
            <a:avLst/>
          </a:prstGeom>
          <a:noFill/>
          <a:ln/>
        </p:spPr>
        <p:txBody>
          <a:bodyPr wrap="square" lIns="0" tIns="0" rIns="0" bIns="0" rtlCol="0" anchor="ctr"/>
          <a:lstStyle/>
          <a:p>
            <a:pPr indent="0" marL="0">
              <a:buNone/>
            </a:pPr>
            <a:r>
              <a:rPr lang="en-US" sz="1600" b="1" dirty="0">
                <a:solidFill>
                  <a:srgbClr val="0070AD"/>
                </a:solidFill>
              </a:rPr>
              <a:t>In a workshop </a:t>
            </a:r>
            <a:pPr indent="0" marL="0">
              <a:buNone/>
            </a:pPr>
            <a:r>
              <a:rPr lang="en-US" sz="1600" dirty="0">
                <a:solidFill>
                  <a:srgbClr val="0F2538"/>
                </a:solidFill>
              </a:rPr>
              <a:t>we take one of your design questions through these steps on paper: where the loop waits, which mechanisms a fast model needs, which data you already have to calibrate it, and what it would save with your own figures.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NEXT STEP</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Try it, then bring us one of your design questions</a:t>
            </a:r>
            <a:endParaRPr lang="en-US" sz="3800" dirty="0"/>
          </a:p>
        </p:txBody>
      </p:sp>
      <p:sp>
        <p:nvSpPr>
          <p:cNvPr id="4" name="Action 1 circle"/>
          <p:cNvSpPr/>
          <p:nvPr/>
        </p:nvSpPr>
        <p:spPr>
          <a:xfrm>
            <a:off x="548640" y="2834640"/>
            <a:ext cx="502920" cy="502920"/>
          </a:xfrm>
          <a:prstGeom prst="ellipse">
            <a:avLst/>
          </a:prstGeom>
          <a:solidFill>
            <a:srgbClr val="12ABDB"/>
          </a:solidFill>
          <a:ln w="12700">
            <a:solidFill>
              <a:srgbClr val="12ABDB"/>
            </a:solidFill>
            <a:prstDash val="solid"/>
          </a:ln>
        </p:spPr>
      </p:sp>
      <p:sp>
        <p:nvSpPr>
          <p:cNvPr id="5" name="Action 1 number"/>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1</a:t>
            </a:r>
            <a:endParaRPr lang="en-US" sz="1600" dirty="0"/>
          </a:p>
        </p:txBody>
      </p:sp>
      <p:sp>
        <p:nvSpPr>
          <p:cNvPr id="6" name="Action 1 text"/>
          <p:cNvSpPr txBox="1"/>
          <p:nvPr/>
        </p:nvSpPr>
        <p:spPr>
          <a:xfrm>
            <a:off x="1234440" y="2743200"/>
            <a:ext cx="4206240" cy="914400"/>
          </a:xfrm>
          <a:prstGeom prst="rect">
            <a:avLst/>
          </a:prstGeom>
          <a:noFill/>
          <a:ln/>
        </p:spPr>
        <p:txBody>
          <a:bodyPr wrap="square" lIns="0" tIns="0" rIns="0" bIns="0" rtlCol="0" anchor="t"/>
          <a:lstStyle/>
          <a:p>
            <a:pPr indent="0" marL="0">
              <a:buNone/>
            </a:pPr>
            <a:r>
              <a:rPr lang="en-US" sz="1700" b="1" dirty="0">
                <a:solidFill>
                  <a:srgbClr val="FFFFFF"/>
                </a:solidFill>
              </a:rPr>
              <a:t>Try the page</a:t>
            </a:r>
            <a:endParaRPr lang="en-US" sz="1700" dirty="0"/>
          </a:p>
          <a:p>
            <a:pPr indent="0" marL="0">
              <a:buNone/>
            </a:pPr>
            <a:r>
              <a:rPr lang="en-US" sz="1300" dirty="0">
                <a:solidFill>
                  <a:srgbClr val="C9D6E2"/>
                </a:solidFill>
              </a:rPr>
              <a:t>The guided story in four parts, the calculator and every tool, live in the browser. </a:t>
            </a:r>
            <a:pPr indent="0" marL="0">
              <a:buNone/>
            </a:pPr>
            <a:r>
              <a:rPr lang="en-US" sz="1300" u="sng" dirty="0">
                <a:solidFill>
                  <a:srgbClr val="12ABDB"/>
                </a:solidFill>
                <a:hlinkClick r:id="rId1"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700" dirty="0"/>
          </a:p>
        </p:txBody>
      </p:sp>
      <p:sp>
        <p:nvSpPr>
          <p:cNvPr id="7" name="Action 2 circle"/>
          <p:cNvSpPr/>
          <p:nvPr/>
        </p:nvSpPr>
        <p:spPr>
          <a:xfrm>
            <a:off x="548640" y="3822192"/>
            <a:ext cx="502920" cy="502920"/>
          </a:xfrm>
          <a:prstGeom prst="ellipse">
            <a:avLst/>
          </a:prstGeom>
          <a:solidFill>
            <a:srgbClr val="12ABDB"/>
          </a:solidFill>
          <a:ln w="12700">
            <a:solidFill>
              <a:srgbClr val="12ABDB"/>
            </a:solidFill>
            <a:prstDash val="solid"/>
          </a:ln>
        </p:spPr>
      </p:sp>
      <p:sp>
        <p:nvSpPr>
          <p:cNvPr id="8" name="Action 2 number"/>
          <p:cNvSpPr txBox="1"/>
          <p:nvPr/>
        </p:nvSpPr>
        <p:spPr>
          <a:xfrm>
            <a:off x="548640" y="3822192"/>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2</a:t>
            </a:r>
            <a:endParaRPr lang="en-US" sz="1600" dirty="0"/>
          </a:p>
        </p:txBody>
      </p:sp>
      <p:sp>
        <p:nvSpPr>
          <p:cNvPr id="9" name="Action 2 text"/>
          <p:cNvSpPr txBox="1"/>
          <p:nvPr/>
        </p:nvSpPr>
        <p:spPr>
          <a:xfrm>
            <a:off x="1234440" y="3730752"/>
            <a:ext cx="4206240" cy="914400"/>
          </a:xfrm>
          <a:prstGeom prst="rect">
            <a:avLst/>
          </a:prstGeom>
          <a:noFill/>
          <a:ln/>
        </p:spPr>
        <p:txBody>
          <a:bodyPr wrap="square" lIns="0" tIns="0" rIns="0" bIns="0" rtlCol="0" anchor="t"/>
          <a:lstStyle/>
          <a:p>
            <a:pPr indent="0" marL="0">
              <a:buNone/>
            </a:pPr>
            <a:r>
              <a:rPr lang="en-US" sz="1700" b="1" dirty="0">
                <a:solidFill>
                  <a:srgbClr val="FFFFFF"/>
                </a:solidFill>
              </a:rPr>
              <a:t>Watch the story</a:t>
            </a:r>
            <a:endParaRPr lang="en-US" sz="1700" dirty="0"/>
          </a:p>
          <a:p>
            <a:pPr indent="0" marL="0">
              <a:buNone/>
            </a:pPr>
            <a:r>
              <a:rPr lang="en-US" sz="1300" dirty="0">
                <a:solidFill>
                  <a:srgbClr val="C9D6E2"/>
                </a:solidFill>
              </a:rPr>
              <a:t>All four parts, recorded at reading pace. </a:t>
            </a:r>
            <a:pPr indent="0" marL="0">
              <a:buNone/>
            </a:pPr>
            <a:r>
              <a:rPr lang="en-US" sz="1300" dirty="0">
                <a:solidFill>
                  <a:srgbClr val="8FA3B5"/>
                </a:solidFill>
              </a:rPr>
              <a:t>The video is on the right.</a:t>
            </a:r>
            <a:endParaRPr lang="en-US" sz="1700" dirty="0"/>
          </a:p>
        </p:txBody>
      </p:sp>
      <p:sp>
        <p:nvSpPr>
          <p:cNvPr id="10" name="Action 3 circle"/>
          <p:cNvSpPr/>
          <p:nvPr/>
        </p:nvSpPr>
        <p:spPr>
          <a:xfrm>
            <a:off x="548640" y="4809744"/>
            <a:ext cx="502920" cy="502920"/>
          </a:xfrm>
          <a:prstGeom prst="ellipse">
            <a:avLst/>
          </a:prstGeom>
          <a:solidFill>
            <a:srgbClr val="12ABDB"/>
          </a:solidFill>
          <a:ln w="12700">
            <a:solidFill>
              <a:srgbClr val="12ABDB"/>
            </a:solidFill>
            <a:prstDash val="solid"/>
          </a:ln>
        </p:spPr>
      </p:sp>
      <p:sp>
        <p:nvSpPr>
          <p:cNvPr id="11" name="Action 3 number"/>
          <p:cNvSpPr txBox="1"/>
          <p:nvPr/>
        </p:nvSpPr>
        <p:spPr>
          <a:xfrm>
            <a:off x="548640" y="4809744"/>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3</a:t>
            </a:r>
            <a:endParaRPr lang="en-US" sz="1600" dirty="0"/>
          </a:p>
        </p:txBody>
      </p:sp>
      <p:sp>
        <p:nvSpPr>
          <p:cNvPr id="12" name="Action 3 text"/>
          <p:cNvSpPr txBox="1"/>
          <p:nvPr/>
        </p:nvSpPr>
        <p:spPr>
          <a:xfrm>
            <a:off x="1234440" y="4718304"/>
            <a:ext cx="4206240" cy="914400"/>
          </a:xfrm>
          <a:prstGeom prst="rect">
            <a:avLst/>
          </a:prstGeom>
          <a:noFill/>
          <a:ln/>
        </p:spPr>
        <p:txBody>
          <a:bodyPr wrap="square" lIns="0" tIns="0" rIns="0" bIns="0" rtlCol="0" anchor="t"/>
          <a:lstStyle/>
          <a:p>
            <a:pPr indent="0" marL="0">
              <a:buNone/>
            </a:pPr>
            <a:r>
              <a:rPr lang="en-US" sz="1700" b="1" dirty="0">
                <a:solidFill>
                  <a:srgbClr val="FFFFFF"/>
                </a:solidFill>
              </a:rPr>
              <a:t>Contact Peter Fintl</a:t>
            </a:r>
            <a:endParaRPr lang="en-US" sz="1700" dirty="0"/>
          </a:p>
          <a:p>
            <a:pPr indent="0" marL="0">
              <a:buNone/>
            </a:pPr>
            <a:r>
              <a:rPr lang="en-US" sz="1300" dirty="0">
                <a:solidFill>
                  <a:srgbClr val="C9D6E2"/>
                </a:solidFill>
              </a:rPr>
              <a:t>Ask for a workshop on one of your own design questions. </a:t>
            </a:r>
            <a:pPr indent="0" marL="0">
              <a:buNone/>
            </a:pPr>
            <a:r>
              <a:rPr lang="en-US" sz="1300" u="sng" dirty="0">
                <a:solidFill>
                  <a:srgbClr val="12ABDB"/>
                </a:solidFill>
                <a:hlinkClick r:id="rId2" invalidUrl="" action="" tgtFrame="" tooltip="" history="1" highlightClick="0" endSnd="0">
                  <a:extLst>
                    <a:ext uri="{A12FA001-AC4F-418D-AE19-62706E023703}">
                      <ahyp:hlinkClr xmlns:ahyp="http://schemas.microsoft.com/office/drawing/2018/hyperlinkcolor" val="tx"/>
                    </a:ext>
                  </a:extLst>
                </a:hlinkClick>
              </a:rPr>
              <a:t>fintlp.github.io/latest-news/#contact</a:t>
            </a:r>
            <a:endParaRPr lang="en-US" sz="1700" dirty="0"/>
          </a:p>
        </p:txBody>
      </p:sp>
      <p:pic>
        <p:nvPicPr>
          <p:cNvPr id="5" name="Guided story video">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7068312" y="685800"/>
            <a:ext cx="4572000" cy="2857500"/>
          </a:xfrm>
          <a:prstGeom prst="rect">
            <a:avLst/>
          </a:prstGeom>
        </p:spPr>
      </p:pic>
      <p:sp>
        <p:nvSpPr>
          <p:cNvPr id="14" name="Caption"/>
          <p:cNvSpPr txBox="1"/>
          <p:nvPr/>
        </p:nvSpPr>
        <p:spPr>
          <a:xfrm>
            <a:off x="7068312" y="3607308"/>
            <a:ext cx="4572000" cy="365760"/>
          </a:xfrm>
          <a:prstGeom prst="rect">
            <a:avLst/>
          </a:prstGeom>
          <a:noFill/>
          <a:ln/>
        </p:spPr>
        <p:txBody>
          <a:bodyPr wrap="square" lIns="0" tIns="0" rIns="0" bIns="0" rtlCol="0" anchor="t"/>
          <a:lstStyle/>
          <a:p>
            <a:pPr indent="0" marL="0">
              <a:buNone/>
            </a:pPr>
            <a:r>
              <a:rPr lang="en-US" sz="1050" dirty="0">
                <a:solidFill>
                  <a:srgbClr val="8FA3B5"/>
                </a:solidFill>
              </a:rPr>
              <a:t>The guided story, recorded from the page (v2.1.0) on 22 October 2026.</a:t>
            </a:r>
            <a:endParaRPr lang="en-US" sz="1050" dirty="0"/>
          </a:p>
        </p:txBody>
      </p:sp>
      <p:pic>
        <p:nvPicPr>
          <p:cNvPr id="15" name="QR code to the live page" descr="/home/claude/jet-flush-model/media/qr-live.png">    </p:cNvPr>
          <p:cNvPicPr>
            <a:picLocks noChangeAspect="1"/>
          </p:cNvPicPr>
          <p:nvPr/>
        </p:nvPicPr>
        <p:blipFill>
          <a:blip r:embed="rId6"/>
          <a:stretch>
            <a:fillRect/>
          </a:stretch>
        </p:blipFill>
        <p:spPr>
          <a:xfrm>
            <a:off x="10314432" y="4434840"/>
            <a:ext cx="1325880" cy="1325880"/>
          </a:xfrm>
          <a:prstGeom prst="rect">
            <a:avLst/>
          </a:prstGeom>
        </p:spPr>
      </p:pic>
      <p:sp>
        <p:nvSpPr>
          <p:cNvPr id="16" name="QR label"/>
          <p:cNvSpPr txBox="1"/>
          <p:nvPr/>
        </p:nvSpPr>
        <p:spPr>
          <a:xfrm>
            <a:off x="8211312" y="4846320"/>
            <a:ext cx="1965960" cy="548640"/>
          </a:xfrm>
          <a:prstGeom prst="rect">
            <a:avLst/>
          </a:prstGeom>
          <a:noFill/>
          <a:ln/>
        </p:spPr>
        <p:txBody>
          <a:bodyPr wrap="square" lIns="0" tIns="0" rIns="0" bIns="0" rtlCol="0" anchor="t"/>
          <a:lstStyle/>
          <a:p>
            <a:pPr algn="r" indent="0" marL="0">
              <a:buNone/>
            </a:pPr>
            <a:r>
              <a:rPr lang="en-US" sz="1200" dirty="0">
                <a:solidFill>
                  <a:srgbClr val="C9D6E2"/>
                </a:solidFill>
              </a:rPr>
              <a:t>Scan to open the live page</a:t>
            </a:r>
            <a:endParaRPr lang="en-US" sz="1200" dirty="0"/>
          </a:p>
        </p:txBody>
      </p:sp>
      <p:sp>
        <p:nvSpPr>
          <p:cNvPr id="1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with a physics model that is not yet calibrated; synthetic references are labelled on the page; the CFD is a second simulation of one design, not a measurement.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Jet Flush 2.1">
  <a:themeElements>
    <a:clrScheme name="Jet Flush 2.1">
      <a:dk1>
        <a:srgbClr val="0F2538"/>
      </a:dk1>
      <a:lt1>
        <a:srgbClr val="FFFFFF"/>
      </a:lt1>
      <a:dk2>
        <a:srgbClr val="0070AD"/>
      </a:dk2>
      <a:lt2>
        <a:srgbClr val="F3F5F8"/>
      </a:lt2>
      <a:accent1>
        <a:srgbClr val="0070AD"/>
      </a:accent1>
      <a:accent2>
        <a:srgbClr val="12ABDB"/>
      </a:accent2>
      <a:accent3>
        <a:srgbClr val="17876C"/>
      </a:accent3>
      <a:accent4>
        <a:srgbClr val="8A5A2B"/>
      </a:accent4>
      <a:accent5>
        <a:srgbClr val="52667A"/>
      </a:accent5>
      <a:accent6>
        <a:srgbClr val="B0341D"/>
      </a:accent6>
      <a:hlink>
        <a:srgbClr val="0070AD"/>
      </a:hlink>
      <a:folHlink>
        <a:srgbClr val="005A8C"/>
      </a:folHlink>
    </a:clrScheme>
    <a:fontScheme name="Jet Flush 2.1">
      <a:majorFont>
        <a:latin typeface="Ubuntu"/>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buntu"/>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 2.1: faster design loops with a fast physics model and AI</dc:title>
  <dc:subject>PptxGenJS Presentation</dc:subject>
  <dc:creator>Peter Fintl</dc:creator>
  <cp:lastModifiedBy>Peter Fintl</cp:lastModifiedBy>
  <cp:revision>1</cp:revision>
  <dcterms:created xsi:type="dcterms:W3CDTF">2026-10-26T21:49:50Z</dcterms:created>
  <dcterms:modified xsi:type="dcterms:W3CDTF">2026-10-26T21:49:50Z</dcterms:modified>
</cp:coreProperties>
</file>