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imulator" id="{d62a69e1-8b55-7166-4709-d42c8ca7c129}">
          <p14:sldIdLst>
            <p14:sldId id="256"/>
            <p14:sldId id="257"/>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video shows the first 8 seconds of a full 4.5 L flush at 0.6x speed.
Left view: bowl from above. Green wall areas have received enough shear to count as cleaned. The white dashed lines are the two jet films, and the pool shows the swirl.
Right view: section through cistern, bowl and trap with live water levels.
To show the live simulator on this slide instead of the video, install the Web Viewer add-in from the Office Store (Insert &gt; Get Add-ins), add it to the slide and enter https://fintlp.github.io/jet-flush-model/. It needs internet during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is a real optimiser run: the AI lab was asked for a design with at most 4.0 L that still cleans at least 90 % and removes 95 % of solids and 80 % of paper.
Speed figures: the physics model is measured in the browser; the surrogate figure is measured after training; the PreonLab range is a rough estimate extrapolated from FIFTY2 published GPU runtimes, not a benchmark.
Hybrid calibration: the reference data comes from a hidden model with different coefficients and extra effects, standing in for PreonLab. With real PreonLab runs the steps are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video is a screen recording of the Demo me walkthrough, about 75 seconds.
Opening the link with #demo at the end starts the same walkthrough live; it needs internet. The visitor can stop it at any time with Esc and gets their own design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858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r>
              <a:rPr lang="en-US" sz="3600" b="1" dirty="0">
                <a:solidFill>
                  <a:schemeClr val="tx1"/>
                </a:solidFill>
              </a:rPr>
              <a:t>Title</a:t>
            </a:r>
            <a:endParaRPr lang="en-US" sz="3600" dirty="0"/>
          </a:p>
        </p:txBody>
      </p:sp>
      <p:sp>
        <p:nvSpPr>
          <p:cNvPr id="3" name="Shape 0"/>
          <p:cNvSpPr/>
          <p:nvPr/>
        </p:nvSpPr>
        <p:spPr>
          <a:xfrm>
            <a:off x="457200" y="6400800"/>
            <a:ext cx="11274552" cy="0"/>
          </a:xfrm>
          <a:prstGeom prst="line">
            <a:avLst/>
          </a:prstGeom>
          <a:noFill/>
          <a:ln w="9525">
            <a:solidFill>
              <a:srgbClr val="D3DCDF"/>
            </a:solidFill>
            <a:prstDash val="solid"/>
          </a:ln>
        </p:spPr>
      </p:sp>
      <p:sp>
        <p:nvSpPr>
          <p:cNvPr id="25" name="Slide Number Placeholder 0"/>
          <p:cNvSpPr>
            <a:spLocks noGrp="1"/>
          </p:cNvSpPr>
          <p:nvPr>
            <p:ph type="sldNum" sz="quarter" idx="4294967295"/>
          </p:nvPr>
        </p:nvSpPr>
        <p:spPr>
          <a:xfrm>
            <a:off x="11274552" y="645566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6F"/>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5566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6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fintlp/jet-flush-model" TargetMode="External"/><Relationship Id="rId5" Type="http://schemas.openxmlformats.org/officeDocument/2006/relationships/hyperlink" Target="https://fintlp.github.io/jet-flush-model/" TargetMode="External"/><Relationship Id="rId2" Type="http://schemas.openxmlformats.org/officeDocument/2006/relationships/video" Target="../media/media-1-1.mp4"/><Relationship Id="rId3" Type="http://schemas.microsoft.com/office/2007/relationships/media" Target="../media/media-1-1.mp4"/><Relationship Id="rId4" Type="http://schemas.openxmlformats.org/officeDocument/2006/relationships/image" Target="../media/image-1-3.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github.com/fintlp/jet-flush-model"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github.com/fintlp/jet-flush-model" TargetMode="External"/><Relationship Id="rId5" Type="http://schemas.openxmlformats.org/officeDocument/2006/relationships/hyperlink" Target="https://fintlp.github.io/jet-flush-model/#demo" TargetMode="External"/><Relationship Id="rId2" Type="http://schemas.openxmlformats.org/officeDocument/2006/relationships/video" Target="../media/media-3-1.mp4"/><Relationship Id="rId3" Type="http://schemas.microsoft.com/office/2007/relationships/media" Target="../media/media-3-1.mp4"/><Relationship Id="rId4" Type="http://schemas.openxmlformats.org/officeDocument/2006/relationships/image" Target="../media/image-3-3.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85800"/>
          </a:xfrm>
          <a:prstGeom prst="rect">
            <a:avLst/>
          </a:prstGeom>
          <a:noFill/>
          <a:ln/>
        </p:spPr>
        <p:txBody>
          <a:bodyPr wrap="square" lIns="0" tIns="0" rIns="0" bIns="0" rtlCol="0" anchor="t"/>
          <a:lstStyle/>
          <a:p>
            <a:pPr algn="l" indent="0" marL="0">
              <a:buNone/>
            </a:pPr>
            <a:r>
              <a:rPr lang="en-US" sz="3600" b="1" dirty="0">
                <a:solidFill>
                  <a:schemeClr val="tx1"/>
                </a:solidFill>
              </a:rPr>
              <a:t>Tangential jet flush model</a:t>
            </a:r>
            <a:endParaRPr lang="en-US" sz="3600" dirty="0"/>
          </a:p>
        </p:txBody>
      </p:sp>
      <p:sp>
        <p:nvSpPr>
          <p:cNvPr id="3" name="Footer"/>
          <p:cNvSpPr txBox="1"/>
          <p:nvPr/>
        </p:nvSpPr>
        <p:spPr>
          <a:xfrm>
            <a:off x="457200" y="6455664"/>
            <a:ext cx="9601200" cy="274320"/>
          </a:xfrm>
          <a:prstGeom prst="rect">
            <a:avLst/>
          </a:prstGeom>
          <a:noFill/>
          <a:ln/>
        </p:spPr>
        <p:txBody>
          <a:bodyPr wrap="square" lIns="0" tIns="0" rIns="0" bIns="0" rtlCol="0" anchor="ctr"/>
          <a:lstStyle/>
          <a:p>
            <a:pPr indent="0" marL="0">
              <a:buNone/>
            </a:pPr>
            <a:r>
              <a:rPr lang="en-US" sz="1000" b="1" dirty="0">
                <a:solidFill>
                  <a:schemeClr val="accent5"/>
                </a:solidFill>
              </a:rPr>
              <a:t>Peter Fintl</a:t>
            </a:r>
            <a:pPr indent="0" marL="0">
              <a:buNone/>
            </a:pPr>
            <a:r>
              <a:rPr lang="en-US" sz="1000" dirty="0">
                <a:solidFill>
                  <a:schemeClr val="accent5"/>
                </a:solidFill>
              </a:rPr>
              <a:t>   ·   </a:t>
            </a:r>
            <a:pPr indent="0" marL="0">
              <a:buNone/>
            </a:pPr>
            <a:r>
              <a:rPr lang="en-US" sz="1000" u="sng" dirty="0">
                <a:solidFill>
                  <a:schemeClr val="accent5"/>
                </a:solidFill>
                <a:hlinkClick r:id="rId1" invalidUrl="" action="" tgtFrame="" tooltip="Open the repository" history="1" highlightClick="0" endSnd="0">
                  <a:extLst>
                    <a:ext uri="{A12FA001-AC4F-418D-AE19-62706E023703}">
                      <ahyp:hlinkClr xmlns:ahyp="http://schemas.microsoft.com/office/drawing/2018/hyperlinkcolor" val="tx"/>
                    </a:ext>
                  </a:extLst>
                </a:hlinkClick>
              </a:rPr>
              <a:t>github.com/fintlp/jet-flush-model</a:t>
            </a:r>
            <a:pPr indent="0" marL="0">
              <a:buNone/>
            </a:pPr>
            <a:r>
              <a:rPr lang="en-US" sz="1000" dirty="0">
                <a:solidFill>
                  <a:schemeClr val="accent5"/>
                </a:solidFill>
              </a:rPr>
              <a:t>   ·   v1.2.0   ·   20 October 2026</a:t>
            </a:r>
            <a:endParaRPr lang="en-US" sz="1000" dirty="0"/>
          </a:p>
        </p:txBody>
      </p:sp>
      <p:sp>
        <p:nvSpPr>
          <p:cNvPr id="4" name="Text 2"/>
          <p:cNvSpPr txBox="1"/>
          <p:nvPr/>
        </p:nvSpPr>
        <p:spPr>
          <a:xfrm>
            <a:off x="457200" y="960120"/>
            <a:ext cx="11274552" cy="365760"/>
          </a:xfrm>
          <a:prstGeom prst="rect">
            <a:avLst/>
          </a:prstGeom>
          <a:noFill/>
          <a:ln/>
        </p:spPr>
        <p:txBody>
          <a:bodyPr wrap="square" lIns="0" tIns="0" rIns="0" bIns="0" rtlCol="0" anchor="ctr"/>
          <a:lstStyle/>
          <a:p>
            <a:pPr indent="0" marL="0">
              <a:buNone/>
            </a:pPr>
            <a:r>
              <a:rPr lang="en-US" sz="1600" dirty="0">
                <a:solidFill>
                  <a:schemeClr val="tx2"/>
                </a:solidFill>
              </a:rPr>
              <a:t>One flush in milliseconds: compare designs quickly, then check the best ones with CFD</a:t>
            </a:r>
            <a:endParaRPr lang="en-US" sz="1600" dirty="0"/>
          </a:p>
        </p:txBody>
      </p:sp>
      <p:pic>
        <p:nvPicPr>
          <p:cNvPr id="4" name="Flush playback video">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457200" y="1508760"/>
            <a:ext cx="6675120" cy="4543514"/>
          </a:xfrm>
          <a:prstGeom prst="rect">
            <a:avLst/>
          </a:prstGeom>
        </p:spPr>
      </p:pic>
      <p:sp>
        <p:nvSpPr>
          <p:cNvPr id="6" name="Estimate label"/>
          <p:cNvSpPr txBox="1"/>
          <p:nvPr/>
        </p:nvSpPr>
        <p:spPr>
          <a:xfrm>
            <a:off x="7955280" y="1371600"/>
            <a:ext cx="3776472" cy="201168"/>
          </a:xfrm>
          <a:prstGeom prst="rect">
            <a:avLst/>
          </a:prstGeom>
          <a:noFill/>
          <a:ln/>
        </p:spPr>
        <p:txBody>
          <a:bodyPr wrap="square" lIns="0" tIns="0" rIns="0" bIns="0" rtlCol="0" anchor="ctr"/>
          <a:lstStyle/>
          <a:p>
            <a:pPr indent="0" marL="0">
              <a:buNone/>
            </a:pPr>
            <a:r>
              <a:rPr lang="en-US" sz="1000" b="1" spc="100" kern="0" dirty="0">
                <a:solidFill>
                  <a:schemeClr val="accent5"/>
                </a:solidFill>
              </a:rPr>
              <a:t>ILLUSTRATIVE ESTIMATES, DEFAULT DESIGN</a:t>
            </a:r>
            <a:endParaRPr lang="en-US" sz="1000" dirty="0"/>
          </a:p>
        </p:txBody>
      </p:sp>
      <p:sp>
        <p:nvSpPr>
          <p:cNvPr id="7" name="Stat 1 value"/>
          <p:cNvSpPr txBox="1"/>
          <p:nvPr/>
        </p:nvSpPr>
        <p:spPr>
          <a:xfrm>
            <a:off x="7955280" y="1645920"/>
            <a:ext cx="3776472" cy="621792"/>
          </a:xfrm>
          <a:prstGeom prst="rect">
            <a:avLst/>
          </a:prstGeom>
          <a:noFill/>
          <a:ln/>
        </p:spPr>
        <p:txBody>
          <a:bodyPr wrap="square" lIns="0" tIns="0" rIns="0" bIns="0" rtlCol="0" anchor="b"/>
          <a:lstStyle/>
          <a:p>
            <a:pPr indent="0" marL="0">
              <a:buNone/>
            </a:pPr>
            <a:r>
              <a:rPr lang="en-US" sz="4400" b="1" dirty="0">
                <a:solidFill>
                  <a:schemeClr val="accent1"/>
                </a:solidFill>
              </a:rPr>
              <a:t>88 %</a:t>
            </a:r>
            <a:endParaRPr lang="en-US" sz="4400" dirty="0"/>
          </a:p>
        </p:txBody>
      </p:sp>
      <p:sp>
        <p:nvSpPr>
          <p:cNvPr id="8" name="Stat 1 label"/>
          <p:cNvSpPr txBox="1"/>
          <p:nvPr/>
        </p:nvSpPr>
        <p:spPr>
          <a:xfrm>
            <a:off x="7955280" y="2286000"/>
            <a:ext cx="3776472" cy="411480"/>
          </a:xfrm>
          <a:prstGeom prst="rect">
            <a:avLst/>
          </a:prstGeom>
          <a:noFill/>
          <a:ln/>
        </p:spPr>
        <p:txBody>
          <a:bodyPr wrap="square" lIns="0" tIns="0" rIns="0" bIns="0" rtlCol="0" anchor="t"/>
          <a:lstStyle/>
          <a:p>
            <a:pPr indent="0" marL="0">
              <a:buNone/>
            </a:pPr>
            <a:r>
              <a:rPr lang="en-US" sz="1400" dirty="0">
                <a:solidFill>
                  <a:schemeClr val="accent5"/>
                </a:solidFill>
              </a:rPr>
              <a:t>of the bowl wall above the waterline cleaned</a:t>
            </a:r>
            <a:endParaRPr lang="en-US" sz="1400" dirty="0"/>
          </a:p>
        </p:txBody>
      </p:sp>
      <p:sp>
        <p:nvSpPr>
          <p:cNvPr id="9" name="Stat 2 value"/>
          <p:cNvSpPr txBox="1"/>
          <p:nvPr/>
        </p:nvSpPr>
        <p:spPr>
          <a:xfrm>
            <a:off x="7955280" y="2743200"/>
            <a:ext cx="3776472" cy="621792"/>
          </a:xfrm>
          <a:prstGeom prst="rect">
            <a:avLst/>
          </a:prstGeom>
          <a:noFill/>
          <a:ln/>
        </p:spPr>
        <p:txBody>
          <a:bodyPr wrap="square" lIns="0" tIns="0" rIns="0" bIns="0" rtlCol="0" anchor="b"/>
          <a:lstStyle/>
          <a:p>
            <a:pPr indent="0" marL="0">
              <a:buNone/>
            </a:pPr>
            <a:r>
              <a:rPr lang="en-US" sz="4400" b="1" dirty="0">
                <a:solidFill>
                  <a:schemeClr val="accent2"/>
                </a:solidFill>
              </a:rPr>
              <a:t>99 %</a:t>
            </a:r>
            <a:endParaRPr lang="en-US" sz="4400" dirty="0"/>
          </a:p>
        </p:txBody>
      </p:sp>
      <p:sp>
        <p:nvSpPr>
          <p:cNvPr id="10" name="Stat 2 label"/>
          <p:cNvSpPr txBox="1"/>
          <p:nvPr/>
        </p:nvSpPr>
        <p:spPr>
          <a:xfrm>
            <a:off x="7955280" y="3383280"/>
            <a:ext cx="3776472" cy="411480"/>
          </a:xfrm>
          <a:prstGeom prst="rect">
            <a:avLst/>
          </a:prstGeom>
          <a:noFill/>
          <a:ln/>
        </p:spPr>
        <p:txBody>
          <a:bodyPr wrap="square" lIns="0" tIns="0" rIns="0" bIns="0" rtlCol="0" anchor="t"/>
          <a:lstStyle/>
          <a:p>
            <a:pPr indent="0" marL="0">
              <a:buNone/>
            </a:pPr>
            <a:r>
              <a:rPr lang="en-US" sz="1400" dirty="0">
                <a:solidFill>
                  <a:schemeClr val="accent5"/>
                </a:solidFill>
              </a:rPr>
              <a:t>of a 250 g solid test load removed</a:t>
            </a:r>
            <a:endParaRPr lang="en-US" sz="1400" dirty="0"/>
          </a:p>
        </p:txBody>
      </p:sp>
      <p:sp>
        <p:nvSpPr>
          <p:cNvPr id="11" name="Stat 3 value"/>
          <p:cNvSpPr txBox="1"/>
          <p:nvPr/>
        </p:nvSpPr>
        <p:spPr>
          <a:xfrm>
            <a:off x="7955280" y="3840480"/>
            <a:ext cx="3776472" cy="621792"/>
          </a:xfrm>
          <a:prstGeom prst="rect">
            <a:avLst/>
          </a:prstGeom>
          <a:noFill/>
          <a:ln/>
        </p:spPr>
        <p:txBody>
          <a:bodyPr wrap="square" lIns="0" tIns="0" rIns="0" bIns="0" rtlCol="0" anchor="b"/>
          <a:lstStyle/>
          <a:p>
            <a:pPr indent="0" marL="0">
              <a:buNone/>
            </a:pPr>
            <a:r>
              <a:rPr lang="en-US" sz="4400" b="1" dirty="0">
                <a:solidFill>
                  <a:schemeClr val="tx1"/>
                </a:solidFill>
              </a:rPr>
              <a:t>4.5 L</a:t>
            </a:r>
            <a:endParaRPr lang="en-US" sz="4400" dirty="0"/>
          </a:p>
        </p:txBody>
      </p:sp>
      <p:sp>
        <p:nvSpPr>
          <p:cNvPr id="12" name="Stat 3 label"/>
          <p:cNvSpPr txBox="1"/>
          <p:nvPr/>
        </p:nvSpPr>
        <p:spPr>
          <a:xfrm>
            <a:off x="7955280" y="4480560"/>
            <a:ext cx="3776472" cy="411480"/>
          </a:xfrm>
          <a:prstGeom prst="rect">
            <a:avLst/>
          </a:prstGeom>
          <a:noFill/>
          <a:ln/>
        </p:spPr>
        <p:txBody>
          <a:bodyPr wrap="square" lIns="0" tIns="0" rIns="0" bIns="0" rtlCol="0" anchor="t"/>
          <a:lstStyle/>
          <a:p>
            <a:pPr indent="0" marL="0">
              <a:buNone/>
            </a:pPr>
            <a:r>
              <a:rPr lang="en-US" sz="1400" dirty="0">
                <a:solidFill>
                  <a:schemeClr val="accent5"/>
                </a:solidFill>
              </a:rPr>
              <a:t>water per flush, EU washdown, full flush</a:t>
            </a:r>
            <a:endParaRPr lang="en-US" sz="1400" dirty="0"/>
          </a:p>
        </p:txBody>
      </p:sp>
      <p:sp>
        <p:nvSpPr>
          <p:cNvPr id="13" name="Live link card"/>
          <p:cNvSpPr/>
          <p:nvPr/>
        </p:nvSpPr>
        <p:spPr>
          <a:xfrm>
            <a:off x="7955280" y="4937760"/>
            <a:ext cx="3776472" cy="1033272"/>
          </a:xfrm>
          <a:prstGeom prst="roundRect">
            <a:avLst>
              <a:gd name="adj" fmla="val 7080"/>
            </a:avLst>
          </a:prstGeom>
          <a:solidFill>
            <a:schemeClr val="bg2"/>
          </a:solidFill>
          <a:ln w="12700">
            <a:solidFill>
              <a:schemeClr val="bg2"/>
            </a:solidFill>
            <a:prstDash val="solid"/>
          </a:ln>
        </p:spPr>
      </p:sp>
      <p:sp>
        <p:nvSpPr>
          <p:cNvPr id="14" name="Live link"/>
          <p:cNvSpPr txBox="1"/>
          <p:nvPr/>
        </p:nvSpPr>
        <p:spPr>
          <a:xfrm>
            <a:off x="8138160" y="5047488"/>
            <a:ext cx="3410712" cy="804672"/>
          </a:xfrm>
          <a:prstGeom prst="rect">
            <a:avLst/>
          </a:prstGeom>
          <a:noFill/>
          <a:ln/>
        </p:spPr>
        <p:txBody>
          <a:bodyPr wrap="square" lIns="0" tIns="0" rIns="0" bIns="0" rtlCol="0" anchor="ctr"/>
          <a:lstStyle/>
          <a:p>
            <a:pPr indent="0" marL="0">
              <a:buNone/>
            </a:pPr>
            <a:r>
              <a:rPr lang="en-US" sz="1400" b="1" dirty="0">
                <a:solidFill>
                  <a:schemeClr val="tx1"/>
                </a:solidFill>
              </a:rPr>
              <a:t>Try it live</a:t>
            </a:r>
            <a:endParaRPr lang="en-US" sz="1400" dirty="0"/>
          </a:p>
          <a:p>
            <a:pPr indent="0" marL="0">
              <a:buNone/>
            </a:pPr>
            <a:r>
              <a:rPr lang="en-US" sz="1400" u="sng" dirty="0">
                <a:solidFill>
                  <a:schemeClr val="accent3"/>
                </a:solidFill>
                <a:hlinkClick r:id="rId5" invalidUrl="" action="" tgtFrame="" tooltip="Open the live simulator" history="1" highlightClick="0" endSnd="0">
                  <a:extLst>
                    <a:ext uri="{A12FA001-AC4F-418D-AE19-62706E023703}">
                      <ahyp:hlinkClr xmlns:ahyp="http://schemas.microsoft.com/office/drawing/2018/hyperlinkcolor" val="tx"/>
                    </a:ext>
                  </a:extLst>
                </a:hlinkClick>
              </a:rPr>
              <a:t>fintlp.github.io/jet-flush-model</a:t>
            </a:r>
            <a:endParaRPr lang="en-US" sz="1400" dirty="0"/>
          </a:p>
        </p:txBody>
      </p:sp>
      <p:sp>
        <p:nvSpPr>
          <p:cNvPr id="15" name="Model caveat"/>
          <p:cNvSpPr txBox="1"/>
          <p:nvPr/>
        </p:nvSpPr>
        <p:spPr>
          <a:xfrm>
            <a:off x="457200" y="6089904"/>
            <a:ext cx="11274552" cy="256032"/>
          </a:xfrm>
          <a:prstGeom prst="rect">
            <a:avLst/>
          </a:prstGeom>
          <a:noFill/>
          <a:ln/>
        </p:spPr>
        <p:txBody>
          <a:bodyPr wrap="square" lIns="0" tIns="0" rIns="0" bIns="0" rtlCol="0" anchor="ctr"/>
          <a:lstStyle/>
          <a:p>
            <a:pPr indent="0" marL="0">
              <a:buNone/>
            </a:pPr>
            <a:r>
              <a:rPr lang="en-US" sz="1000" dirty="0">
                <a:solidFill>
                  <a:schemeClr val="accent5"/>
                </a:solidFill>
              </a:rPr>
              <a:t>Illustrative estimates from a reduced-order model. Coefficients are not yet calibrated against CFD or rig data, so results show trends between designs, not validated values.</a:t>
            </a:r>
            <a:endParaRPr lang="en-US" sz="1000" dirty="0"/>
          </a:p>
        </p:txBody>
      </p:sp>
      <p:sp>
        <p:nvSpPr>
          <p:cNvPr id="25" name="Slide Number Placeholder 0"/>
          <p:cNvSpPr>
            <a:spLocks noGrp="1"/>
          </p:cNvSpPr>
          <p:nvPr>
            <p:ph type="sldNum" sz="quarter" idx="4294967295"/>
          </p:nvPr>
        </p:nvSpPr>
        <p:spPr>
          <a:xfrm>
            <a:off x="11274552" y="645566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6F"/>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85800"/>
          </a:xfrm>
          <a:prstGeom prst="rect">
            <a:avLst/>
          </a:prstGeom>
          <a:noFill/>
          <a:ln/>
        </p:spPr>
        <p:txBody>
          <a:bodyPr wrap="square" lIns="0" tIns="0" rIns="0" bIns="0" rtlCol="0" anchor="t"/>
          <a:lstStyle/>
          <a:p>
            <a:pPr algn="l" indent="0" marL="0">
              <a:buNone/>
            </a:pPr>
            <a:r>
              <a:rPr lang="en-US" sz="3600" b="1" dirty="0">
                <a:solidFill>
                  <a:schemeClr val="tx1"/>
                </a:solidFill>
              </a:rPr>
              <a:t>AI lab: let the model search</a:t>
            </a:r>
            <a:endParaRPr lang="en-US" sz="3600" dirty="0"/>
          </a:p>
        </p:txBody>
      </p:sp>
      <p:sp>
        <p:nvSpPr>
          <p:cNvPr id="3" name="Footer"/>
          <p:cNvSpPr txBox="1"/>
          <p:nvPr/>
        </p:nvSpPr>
        <p:spPr>
          <a:xfrm>
            <a:off x="457200" y="6455664"/>
            <a:ext cx="9601200" cy="274320"/>
          </a:xfrm>
          <a:prstGeom prst="rect">
            <a:avLst/>
          </a:prstGeom>
          <a:noFill/>
          <a:ln/>
        </p:spPr>
        <p:txBody>
          <a:bodyPr wrap="square" lIns="0" tIns="0" rIns="0" bIns="0" rtlCol="0" anchor="ctr"/>
          <a:lstStyle/>
          <a:p>
            <a:pPr indent="0" marL="0">
              <a:buNone/>
            </a:pPr>
            <a:r>
              <a:rPr lang="en-US" sz="1000" b="1" dirty="0">
                <a:solidFill>
                  <a:schemeClr val="accent5"/>
                </a:solidFill>
              </a:rPr>
              <a:t>Peter Fintl</a:t>
            </a:r>
            <a:pPr indent="0" marL="0">
              <a:buNone/>
            </a:pPr>
            <a:r>
              <a:rPr lang="en-US" sz="1000" dirty="0">
                <a:solidFill>
                  <a:schemeClr val="accent5"/>
                </a:solidFill>
              </a:rPr>
              <a:t>   ·   </a:t>
            </a:r>
            <a:pPr indent="0" marL="0">
              <a:buNone/>
            </a:pPr>
            <a:r>
              <a:rPr lang="en-US" sz="1000" u="sng" dirty="0">
                <a:solidFill>
                  <a:schemeClr val="accent5"/>
                </a:solidFill>
                <a:hlinkClick r:id="rId1" invalidUrl="" action="" tgtFrame="" tooltip="Open the repository" history="1" highlightClick="0" endSnd="0">
                  <a:extLst>
                    <a:ext uri="{A12FA001-AC4F-418D-AE19-62706E023703}">
                      <ahyp:hlinkClr xmlns:ahyp="http://schemas.microsoft.com/office/drawing/2018/hyperlinkcolor" val="tx"/>
                    </a:ext>
                  </a:extLst>
                </a:hlinkClick>
              </a:rPr>
              <a:t>github.com/fintlp/jet-flush-model</a:t>
            </a:r>
            <a:pPr indent="0" marL="0">
              <a:buNone/>
            </a:pPr>
            <a:r>
              <a:rPr lang="en-US" sz="1000" dirty="0">
                <a:solidFill>
                  <a:schemeClr val="accent5"/>
                </a:solidFill>
              </a:rPr>
              <a:t>   ·   v1.2.0   ·   20 October 2026</a:t>
            </a:r>
            <a:endParaRPr lang="en-US" sz="1000" dirty="0"/>
          </a:p>
        </p:txBody>
      </p:sp>
      <p:sp>
        <p:nvSpPr>
          <p:cNvPr id="4" name="Text 2"/>
          <p:cNvSpPr txBox="1"/>
          <p:nvPr/>
        </p:nvSpPr>
        <p:spPr>
          <a:xfrm>
            <a:off x="457200" y="960120"/>
            <a:ext cx="11274552" cy="365760"/>
          </a:xfrm>
          <a:prstGeom prst="rect">
            <a:avLst/>
          </a:prstGeom>
          <a:noFill/>
          <a:ln/>
        </p:spPr>
        <p:txBody>
          <a:bodyPr wrap="square" lIns="0" tIns="0" rIns="0" bIns="0" rtlCol="0" anchor="ctr"/>
          <a:lstStyle/>
          <a:p>
            <a:pPr indent="0" marL="0">
              <a:buNone/>
            </a:pPr>
            <a:r>
              <a:rPr lang="en-US" sz="1600" dirty="0">
                <a:solidFill>
                  <a:schemeClr val="tx2"/>
                </a:solidFill>
              </a:rPr>
              <a:t>Three ways AI works with the physics model, all running in the browser</a:t>
            </a:r>
            <a:endParaRPr lang="en-US" sz="1600" dirty="0"/>
          </a:p>
        </p:txBody>
      </p:sp>
      <p:pic>
        <p:nvPicPr>
          <p:cNvPr id="5" name="Optimiser chart" descr="Optimiser result: every simulated design as a dot, water per flush against score, best trade-off curve and the best design meeting the targets">    </p:cNvPr>
          <p:cNvPicPr>
            <a:picLocks noChangeAspect="1"/>
          </p:cNvPicPr>
          <p:nvPr/>
        </p:nvPicPr>
        <p:blipFill>
          <a:blip r:embed="rId2"/>
          <a:stretch>
            <a:fillRect/>
          </a:stretch>
        </p:blipFill>
        <p:spPr>
          <a:xfrm>
            <a:off x="457200" y="1508760"/>
            <a:ext cx="6949440" cy="3130758"/>
          </a:xfrm>
          <a:prstGeom prst="rect">
            <a:avLst/>
          </a:prstGeom>
        </p:spPr>
      </p:pic>
      <p:sp>
        <p:nvSpPr>
          <p:cNvPr id="6" name="Chart caption"/>
          <p:cNvSpPr txBox="1"/>
          <p:nvPr/>
        </p:nvSpPr>
        <p:spPr>
          <a:xfrm>
            <a:off x="457200" y="4730958"/>
            <a:ext cx="6949440" cy="502920"/>
          </a:xfrm>
          <a:prstGeom prst="rect">
            <a:avLst/>
          </a:prstGeom>
          <a:noFill/>
          <a:ln/>
        </p:spPr>
        <p:txBody>
          <a:bodyPr wrap="square" lIns="0" tIns="0" rIns="0" bIns="0" rtlCol="0" anchor="t"/>
          <a:lstStyle/>
          <a:p>
            <a:pPr indent="0" marL="0">
              <a:buNone/>
            </a:pPr>
            <a:r>
              <a:rPr lang="en-US" sz="1200" dirty="0">
                <a:solidFill>
                  <a:schemeClr val="accent5"/>
                </a:solidFill>
              </a:rPr>
              <a:t>Each dot is one simulated flush; red rings miss a target. The blue curve is the best trade-off between score and water, and the green star is the best design that meets all targets.</a:t>
            </a:r>
            <a:endParaRPr lang="en-US" sz="1200" dirty="0"/>
          </a:p>
        </p:txBody>
      </p:sp>
      <p:sp>
        <p:nvSpPr>
          <p:cNvPr id="7" name="Speed 1 value"/>
          <p:cNvSpPr txBox="1"/>
          <p:nvPr/>
        </p:nvSpPr>
        <p:spPr>
          <a:xfrm>
            <a:off x="457200" y="5257800"/>
            <a:ext cx="2225040" cy="457200"/>
          </a:xfrm>
          <a:prstGeom prst="rect">
            <a:avLst/>
          </a:prstGeom>
          <a:noFill/>
          <a:ln/>
        </p:spPr>
        <p:txBody>
          <a:bodyPr wrap="square" lIns="0" tIns="0" rIns="0" bIns="0" rtlCol="0" anchor="b"/>
          <a:lstStyle/>
          <a:p>
            <a:pPr indent="0" marL="0">
              <a:buNone/>
            </a:pPr>
            <a:r>
              <a:rPr lang="en-US" sz="2000" b="1" dirty="0">
                <a:solidFill>
                  <a:schemeClr val="accent3"/>
                </a:solidFill>
              </a:rPr>
              <a:t>5–20 ms</a:t>
            </a:r>
            <a:endParaRPr lang="en-US" sz="2000" dirty="0"/>
          </a:p>
        </p:txBody>
      </p:sp>
      <p:sp>
        <p:nvSpPr>
          <p:cNvPr id="8" name="Speed 1 label"/>
          <p:cNvSpPr txBox="1"/>
          <p:nvPr/>
        </p:nvSpPr>
        <p:spPr>
          <a:xfrm>
            <a:off x="457200" y="5733288"/>
            <a:ext cx="2133600" cy="320040"/>
          </a:xfrm>
          <a:prstGeom prst="rect">
            <a:avLst/>
          </a:prstGeom>
          <a:noFill/>
          <a:ln/>
        </p:spPr>
        <p:txBody>
          <a:bodyPr wrap="square" lIns="0" tIns="0" rIns="0" bIns="0" rtlCol="0" anchor="t"/>
          <a:lstStyle/>
          <a:p>
            <a:pPr indent="0" marL="0">
              <a:buNone/>
            </a:pPr>
            <a:r>
              <a:rPr lang="en-US" sz="1200" dirty="0">
                <a:solidFill>
                  <a:schemeClr val="accent5"/>
                </a:solidFill>
              </a:rPr>
              <a:t>physics model, per flush</a:t>
            </a:r>
            <a:endParaRPr lang="en-US" sz="1200" dirty="0"/>
          </a:p>
        </p:txBody>
      </p:sp>
      <p:sp>
        <p:nvSpPr>
          <p:cNvPr id="9" name="Speed 2 value"/>
          <p:cNvSpPr txBox="1"/>
          <p:nvPr/>
        </p:nvSpPr>
        <p:spPr>
          <a:xfrm>
            <a:off x="2773680" y="5257800"/>
            <a:ext cx="2225040" cy="457200"/>
          </a:xfrm>
          <a:prstGeom prst="rect">
            <a:avLst/>
          </a:prstGeom>
          <a:noFill/>
          <a:ln/>
        </p:spPr>
        <p:txBody>
          <a:bodyPr wrap="square" lIns="0" tIns="0" rIns="0" bIns="0" rtlCol="0" anchor="b"/>
          <a:lstStyle/>
          <a:p>
            <a:pPr indent="0" marL="0">
              <a:buNone/>
            </a:pPr>
            <a:r>
              <a:rPr lang="en-US" sz="2000" b="1" dirty="0">
                <a:solidFill>
                  <a:schemeClr val="accent3"/>
                </a:solidFill>
              </a:rPr>
              <a:t>≈ 5 µs</a:t>
            </a:r>
            <a:endParaRPr lang="en-US" sz="2000" dirty="0"/>
          </a:p>
        </p:txBody>
      </p:sp>
      <p:sp>
        <p:nvSpPr>
          <p:cNvPr id="10" name="Speed 2 label"/>
          <p:cNvSpPr txBox="1"/>
          <p:nvPr/>
        </p:nvSpPr>
        <p:spPr>
          <a:xfrm>
            <a:off x="2773680" y="5733288"/>
            <a:ext cx="2133600" cy="320040"/>
          </a:xfrm>
          <a:prstGeom prst="rect">
            <a:avLst/>
          </a:prstGeom>
          <a:noFill/>
          <a:ln/>
        </p:spPr>
        <p:txBody>
          <a:bodyPr wrap="square" lIns="0" tIns="0" rIns="0" bIns="0" rtlCol="0" anchor="t"/>
          <a:lstStyle/>
          <a:p>
            <a:pPr indent="0" marL="0">
              <a:buNone/>
            </a:pPr>
            <a:r>
              <a:rPr lang="en-US" sz="1200" dirty="0">
                <a:solidFill>
                  <a:schemeClr val="accent5"/>
                </a:solidFill>
              </a:rPr>
              <a:t>neural surrogate, per design</a:t>
            </a:r>
            <a:endParaRPr lang="en-US" sz="1200" dirty="0"/>
          </a:p>
        </p:txBody>
      </p:sp>
      <p:sp>
        <p:nvSpPr>
          <p:cNvPr id="11" name="Speed 3 value"/>
          <p:cNvSpPr txBox="1"/>
          <p:nvPr/>
        </p:nvSpPr>
        <p:spPr>
          <a:xfrm>
            <a:off x="5090160" y="5257800"/>
            <a:ext cx="2225040" cy="457200"/>
          </a:xfrm>
          <a:prstGeom prst="rect">
            <a:avLst/>
          </a:prstGeom>
          <a:noFill/>
          <a:ln/>
        </p:spPr>
        <p:txBody>
          <a:bodyPr wrap="square" lIns="0" tIns="0" rIns="0" bIns="0" rtlCol="0" anchor="b"/>
          <a:lstStyle/>
          <a:p>
            <a:pPr indent="0" marL="0">
              <a:buNone/>
            </a:pPr>
            <a:r>
              <a:rPr lang="en-US" sz="2000" b="1" dirty="0">
                <a:solidFill>
                  <a:schemeClr val="accent5"/>
                </a:solidFill>
              </a:rPr>
              <a:t>minutes to hours</a:t>
            </a:r>
            <a:endParaRPr lang="en-US" sz="2000" dirty="0"/>
          </a:p>
        </p:txBody>
      </p:sp>
      <p:sp>
        <p:nvSpPr>
          <p:cNvPr id="12" name="Speed 3 label"/>
          <p:cNvSpPr txBox="1"/>
          <p:nvPr/>
        </p:nvSpPr>
        <p:spPr>
          <a:xfrm>
            <a:off x="5090160" y="5733288"/>
            <a:ext cx="2133600" cy="320040"/>
          </a:xfrm>
          <a:prstGeom prst="rect">
            <a:avLst/>
          </a:prstGeom>
          <a:noFill/>
          <a:ln/>
        </p:spPr>
        <p:txBody>
          <a:bodyPr wrap="square" lIns="0" tIns="0" rIns="0" bIns="0" rtlCol="0" anchor="t"/>
          <a:lstStyle/>
          <a:p>
            <a:pPr indent="0" marL="0">
              <a:buNone/>
            </a:pPr>
            <a:r>
              <a:rPr lang="en-US" sz="1200" dirty="0">
                <a:solidFill>
                  <a:schemeClr val="accent5"/>
                </a:solidFill>
              </a:rPr>
              <a:t>PreonLab or CFD, rough estimate</a:t>
            </a:r>
            <a:endParaRPr lang="en-US" sz="1200" dirty="0"/>
          </a:p>
        </p:txBody>
      </p:sp>
      <p:sp>
        <p:nvSpPr>
          <p:cNvPr id="13" name="Tool 1 badge"/>
          <p:cNvSpPr/>
          <p:nvPr/>
        </p:nvSpPr>
        <p:spPr>
          <a:xfrm>
            <a:off x="7955280" y="1527048"/>
            <a:ext cx="384048" cy="384048"/>
          </a:xfrm>
          <a:prstGeom prst="ellipse">
            <a:avLst/>
          </a:prstGeom>
          <a:solidFill>
            <a:schemeClr val="accent3"/>
          </a:solidFill>
          <a:ln w="12700">
            <a:solidFill>
              <a:schemeClr val="accent3"/>
            </a:solidFill>
            <a:prstDash val="solid"/>
          </a:ln>
        </p:spPr>
      </p:sp>
      <p:sp>
        <p:nvSpPr>
          <p:cNvPr id="14" name="Tool 1 number"/>
          <p:cNvSpPr txBox="1"/>
          <p:nvPr/>
        </p:nvSpPr>
        <p:spPr>
          <a:xfrm>
            <a:off x="7955280" y="15270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5" name="Tool 1 title"/>
          <p:cNvSpPr txBox="1"/>
          <p:nvPr/>
        </p:nvSpPr>
        <p:spPr>
          <a:xfrm>
            <a:off x="8485632" y="1508760"/>
            <a:ext cx="3246120" cy="420624"/>
          </a:xfrm>
          <a:prstGeom prst="rect">
            <a:avLst/>
          </a:prstGeom>
          <a:noFill/>
          <a:ln/>
        </p:spPr>
        <p:txBody>
          <a:bodyPr wrap="square" lIns="0" tIns="0" rIns="0" bIns="0" rtlCol="0" anchor="ctr"/>
          <a:lstStyle/>
          <a:p>
            <a:pPr indent="0" marL="0">
              <a:buNone/>
            </a:pPr>
            <a:r>
              <a:rPr lang="en-US" sz="1800" b="1" dirty="0">
                <a:solidFill>
                  <a:schemeClr val="tx1"/>
                </a:solidFill>
              </a:rPr>
              <a:t>Design optimiser</a:t>
            </a:r>
            <a:endParaRPr lang="en-US" sz="1800" dirty="0"/>
          </a:p>
        </p:txBody>
      </p:sp>
      <p:sp>
        <p:nvSpPr>
          <p:cNvPr id="16" name="Tool 1 text"/>
          <p:cNvSpPr txBox="1"/>
          <p:nvPr/>
        </p:nvSpPr>
        <p:spPr>
          <a:xfrm>
            <a:off x="8485632" y="1965960"/>
            <a:ext cx="3246120" cy="960120"/>
          </a:xfrm>
          <a:prstGeom prst="rect">
            <a:avLst/>
          </a:prstGeom>
          <a:noFill/>
          <a:ln/>
        </p:spPr>
        <p:txBody>
          <a:bodyPr wrap="square" lIns="0" tIns="0" rIns="0" bIns="0" rtlCol="0" anchor="t"/>
          <a:lstStyle/>
          <a:p>
            <a:pPr indent="0" marL="0">
              <a:buNone/>
            </a:pPr>
            <a:r>
              <a:rPr lang="en-US" sz="1400" dirty="0">
                <a:solidFill>
                  <a:schemeClr val="accent5"/>
                </a:solidFill>
              </a:rPr>
              <a:t>Finds the best settings you allow, or a design that meets targets such as at most 4.0 L and at least 90 % cleaned. About 540 flushes in 4 seconds.</a:t>
            </a:r>
            <a:endParaRPr lang="en-US" sz="1400" dirty="0"/>
          </a:p>
        </p:txBody>
      </p:sp>
      <p:sp>
        <p:nvSpPr>
          <p:cNvPr id="17" name="Tool 2 badge"/>
          <p:cNvSpPr/>
          <p:nvPr/>
        </p:nvSpPr>
        <p:spPr>
          <a:xfrm>
            <a:off x="7955280" y="3099816"/>
            <a:ext cx="384048" cy="384048"/>
          </a:xfrm>
          <a:prstGeom prst="ellipse">
            <a:avLst/>
          </a:prstGeom>
          <a:solidFill>
            <a:schemeClr val="accent3"/>
          </a:solidFill>
          <a:ln w="12700">
            <a:solidFill>
              <a:schemeClr val="accent3"/>
            </a:solidFill>
            <a:prstDash val="solid"/>
          </a:ln>
        </p:spPr>
      </p:sp>
      <p:sp>
        <p:nvSpPr>
          <p:cNvPr id="18" name="Tool 2 number"/>
          <p:cNvSpPr txBox="1"/>
          <p:nvPr/>
        </p:nvSpPr>
        <p:spPr>
          <a:xfrm>
            <a:off x="7955280" y="309981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9" name="Tool 2 title"/>
          <p:cNvSpPr txBox="1"/>
          <p:nvPr/>
        </p:nvSpPr>
        <p:spPr>
          <a:xfrm>
            <a:off x="8485632" y="3081528"/>
            <a:ext cx="3246120" cy="420624"/>
          </a:xfrm>
          <a:prstGeom prst="rect">
            <a:avLst/>
          </a:prstGeom>
          <a:noFill/>
          <a:ln/>
        </p:spPr>
        <p:txBody>
          <a:bodyPr wrap="square" lIns="0" tIns="0" rIns="0" bIns="0" rtlCol="0" anchor="ctr"/>
          <a:lstStyle/>
          <a:p>
            <a:pPr indent="0" marL="0">
              <a:buNone/>
            </a:pPr>
            <a:r>
              <a:rPr lang="en-US" sz="1800" b="1" dirty="0">
                <a:solidFill>
                  <a:schemeClr val="tx1"/>
                </a:solidFill>
              </a:rPr>
              <a:t>Neural surrogate</a:t>
            </a:r>
            <a:endParaRPr lang="en-US" sz="1800" dirty="0"/>
          </a:p>
        </p:txBody>
      </p:sp>
      <p:sp>
        <p:nvSpPr>
          <p:cNvPr id="20" name="Tool 2 text"/>
          <p:cNvSpPr txBox="1"/>
          <p:nvPr/>
        </p:nvSpPr>
        <p:spPr>
          <a:xfrm>
            <a:off x="8485632" y="3538728"/>
            <a:ext cx="3246120" cy="960120"/>
          </a:xfrm>
          <a:prstGeom prst="rect">
            <a:avLst/>
          </a:prstGeom>
          <a:noFill/>
          <a:ln/>
        </p:spPr>
        <p:txBody>
          <a:bodyPr wrap="square" lIns="0" tIns="0" rIns="0" bIns="0" rtlCol="0" anchor="t"/>
          <a:lstStyle/>
          <a:p>
            <a:pPr indent="0" marL="0">
              <a:buNone/>
            </a:pPr>
            <a:r>
              <a:rPr lang="en-US" sz="1400" dirty="0">
                <a:solidFill>
                  <a:schemeClr val="accent5"/>
                </a:solidFill>
              </a:rPr>
              <a:t>Learns the model from 300 flushes and answers roughly a thousand times faster. In practice it would be trained on PreonLab runs.</a:t>
            </a:r>
            <a:endParaRPr lang="en-US" sz="1400" dirty="0"/>
          </a:p>
        </p:txBody>
      </p:sp>
      <p:sp>
        <p:nvSpPr>
          <p:cNvPr id="21" name="Tool 3 badge"/>
          <p:cNvSpPr/>
          <p:nvPr/>
        </p:nvSpPr>
        <p:spPr>
          <a:xfrm>
            <a:off x="7955280" y="4672584"/>
            <a:ext cx="384048" cy="384048"/>
          </a:xfrm>
          <a:prstGeom prst="ellipse">
            <a:avLst/>
          </a:prstGeom>
          <a:solidFill>
            <a:schemeClr val="accent3"/>
          </a:solidFill>
          <a:ln w="12700">
            <a:solidFill>
              <a:schemeClr val="accent3"/>
            </a:solidFill>
            <a:prstDash val="solid"/>
          </a:ln>
        </p:spPr>
      </p:sp>
      <p:sp>
        <p:nvSpPr>
          <p:cNvPr id="22" name="Tool 3 number"/>
          <p:cNvSpPr txBox="1"/>
          <p:nvPr/>
        </p:nvSpPr>
        <p:spPr>
          <a:xfrm>
            <a:off x="7955280" y="467258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3" name="Tool 3 title"/>
          <p:cNvSpPr txBox="1"/>
          <p:nvPr/>
        </p:nvSpPr>
        <p:spPr>
          <a:xfrm>
            <a:off x="8485632" y="4654296"/>
            <a:ext cx="3246120" cy="420624"/>
          </a:xfrm>
          <a:prstGeom prst="rect">
            <a:avLst/>
          </a:prstGeom>
          <a:noFill/>
          <a:ln/>
        </p:spPr>
        <p:txBody>
          <a:bodyPr wrap="square" lIns="0" tIns="0" rIns="0" bIns="0" rtlCol="0" anchor="ctr"/>
          <a:lstStyle/>
          <a:p>
            <a:pPr indent="0" marL="0">
              <a:buNone/>
            </a:pPr>
            <a:r>
              <a:rPr lang="en-US" sz="1800" b="1" dirty="0">
                <a:solidFill>
                  <a:schemeClr val="tx1"/>
                </a:solidFill>
              </a:rPr>
              <a:t>Hybrid calibration</a:t>
            </a:r>
            <a:endParaRPr lang="en-US" sz="1800" dirty="0"/>
          </a:p>
        </p:txBody>
      </p:sp>
      <p:sp>
        <p:nvSpPr>
          <p:cNvPr id="24" name="Tool 3 text"/>
          <p:cNvSpPr txBox="1"/>
          <p:nvPr/>
        </p:nvSpPr>
        <p:spPr>
          <a:xfrm>
            <a:off x="8485632" y="5111496"/>
            <a:ext cx="3246120" cy="960120"/>
          </a:xfrm>
          <a:prstGeom prst="rect">
            <a:avLst/>
          </a:prstGeom>
          <a:noFill/>
          <a:ln/>
        </p:spPr>
        <p:txBody>
          <a:bodyPr wrap="square" lIns="0" tIns="0" rIns="0" bIns="0" rtlCol="0" anchor="t"/>
          <a:lstStyle/>
          <a:p>
            <a:pPr indent="0" marL="0">
              <a:buNone/>
            </a:pPr>
            <a:r>
              <a:rPr lang="en-US" sz="1400" dirty="0">
                <a:solidFill>
                  <a:schemeClr val="accent5"/>
                </a:solidFill>
              </a:rPr>
              <a:t>Fits the model to reference runs and corrects the rest with data. On synthetic test data it cuts the error on unseen designs by about two to eight times.</a:t>
            </a:r>
            <a:endParaRPr lang="en-US" sz="1400" dirty="0"/>
          </a:p>
        </p:txBody>
      </p:sp>
      <p:sp>
        <p:nvSpPr>
          <p:cNvPr id="25" name="AI caveat"/>
          <p:cNvSpPr txBox="1"/>
          <p:nvPr/>
        </p:nvSpPr>
        <p:spPr>
          <a:xfrm>
            <a:off x="457200" y="6089904"/>
            <a:ext cx="11274552" cy="256032"/>
          </a:xfrm>
          <a:prstGeom prst="rect">
            <a:avLst/>
          </a:prstGeom>
          <a:noFill/>
          <a:ln/>
        </p:spPr>
        <p:txBody>
          <a:bodyPr wrap="square" lIns="0" tIns="0" rIns="0" bIns="0" rtlCol="0" anchor="ctr"/>
          <a:lstStyle/>
          <a:p>
            <a:pPr indent="0" marL="0">
              <a:buNone/>
            </a:pPr>
            <a:r>
              <a:rPr lang="en-US" sz="1000" dirty="0">
                <a:solidFill>
                  <a:schemeClr val="accent5"/>
                </a:solidFill>
              </a:rPr>
              <a:t>Results come from the uncalibrated model: suggestions are candidates for a CFD or rig check, not final answers. The calibration demo uses synthetic reference data.</a:t>
            </a:r>
            <a:endParaRPr lang="en-US" sz="1000" dirty="0"/>
          </a:p>
        </p:txBody>
      </p:sp>
      <p:sp>
        <p:nvSpPr>
          <p:cNvPr id="25" name="Slide Number Placeholder 0"/>
          <p:cNvSpPr>
            <a:spLocks noGrp="1"/>
          </p:cNvSpPr>
          <p:nvPr>
            <p:ph type="sldNum" sz="quarter" idx="4294967295"/>
          </p:nvPr>
        </p:nvSpPr>
        <p:spPr>
          <a:xfrm>
            <a:off x="11274552" y="645566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6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85800"/>
          </a:xfrm>
          <a:prstGeom prst="rect">
            <a:avLst/>
          </a:prstGeom>
          <a:noFill/>
          <a:ln/>
        </p:spPr>
        <p:txBody>
          <a:bodyPr wrap="square" lIns="0" tIns="0" rIns="0" bIns="0" rtlCol="0" anchor="t"/>
          <a:lstStyle/>
          <a:p>
            <a:pPr algn="l" indent="0" marL="0">
              <a:buNone/>
            </a:pPr>
            <a:r>
              <a:rPr lang="en-US" sz="3600" b="1" dirty="0">
                <a:solidFill>
                  <a:schemeClr val="tx1"/>
                </a:solidFill>
              </a:rPr>
              <a:t>Guided demo in one minute</a:t>
            </a:r>
            <a:endParaRPr lang="en-US" sz="3600" dirty="0"/>
          </a:p>
        </p:txBody>
      </p:sp>
      <p:sp>
        <p:nvSpPr>
          <p:cNvPr id="3" name="Footer"/>
          <p:cNvSpPr txBox="1"/>
          <p:nvPr/>
        </p:nvSpPr>
        <p:spPr>
          <a:xfrm>
            <a:off x="457200" y="6455664"/>
            <a:ext cx="9601200" cy="274320"/>
          </a:xfrm>
          <a:prstGeom prst="rect">
            <a:avLst/>
          </a:prstGeom>
          <a:noFill/>
          <a:ln/>
        </p:spPr>
        <p:txBody>
          <a:bodyPr wrap="square" lIns="0" tIns="0" rIns="0" bIns="0" rtlCol="0" anchor="ctr"/>
          <a:lstStyle/>
          <a:p>
            <a:pPr indent="0" marL="0">
              <a:buNone/>
            </a:pPr>
            <a:r>
              <a:rPr lang="en-US" sz="1000" b="1" dirty="0">
                <a:solidFill>
                  <a:schemeClr val="accent5"/>
                </a:solidFill>
              </a:rPr>
              <a:t>Peter Fintl</a:t>
            </a:r>
            <a:pPr indent="0" marL="0">
              <a:buNone/>
            </a:pPr>
            <a:r>
              <a:rPr lang="en-US" sz="1000" dirty="0">
                <a:solidFill>
                  <a:schemeClr val="accent5"/>
                </a:solidFill>
              </a:rPr>
              <a:t>   ·   </a:t>
            </a:r>
            <a:pPr indent="0" marL="0">
              <a:buNone/>
            </a:pPr>
            <a:r>
              <a:rPr lang="en-US" sz="1000" u="sng" dirty="0">
                <a:solidFill>
                  <a:schemeClr val="accent5"/>
                </a:solidFill>
                <a:hlinkClick r:id="rId1" invalidUrl="" action="" tgtFrame="" tooltip="Open the repository" history="1" highlightClick="0" endSnd="0">
                  <a:extLst>
                    <a:ext uri="{A12FA001-AC4F-418D-AE19-62706E023703}">
                      <ahyp:hlinkClr xmlns:ahyp="http://schemas.microsoft.com/office/drawing/2018/hyperlinkcolor" val="tx"/>
                    </a:ext>
                  </a:extLst>
                </a:hlinkClick>
              </a:rPr>
              <a:t>github.com/fintlp/jet-flush-model</a:t>
            </a:r>
            <a:pPr indent="0" marL="0">
              <a:buNone/>
            </a:pPr>
            <a:r>
              <a:rPr lang="en-US" sz="1000" dirty="0">
                <a:solidFill>
                  <a:schemeClr val="accent5"/>
                </a:solidFill>
              </a:rPr>
              <a:t>   ·   v1.2.0   ·   20 October 2026</a:t>
            </a:r>
            <a:endParaRPr lang="en-US" sz="1000" dirty="0"/>
          </a:p>
        </p:txBody>
      </p:sp>
      <p:sp>
        <p:nvSpPr>
          <p:cNvPr id="4" name="Text 2"/>
          <p:cNvSpPr txBox="1"/>
          <p:nvPr/>
        </p:nvSpPr>
        <p:spPr>
          <a:xfrm>
            <a:off x="457200" y="960120"/>
            <a:ext cx="11274552" cy="365760"/>
          </a:xfrm>
          <a:prstGeom prst="rect">
            <a:avLst/>
          </a:prstGeom>
          <a:noFill/>
          <a:ln/>
        </p:spPr>
        <p:txBody>
          <a:bodyPr wrap="square" lIns="0" tIns="0" rIns="0" bIns="0" rtlCol="0" anchor="ctr"/>
          <a:lstStyle/>
          <a:p>
            <a:pPr indent="0" marL="0">
              <a:buNone/>
            </a:pPr>
            <a:r>
              <a:rPr lang="en-US" sz="1600" dirty="0">
                <a:solidFill>
                  <a:schemeClr val="tx2"/>
                </a:solidFill>
              </a:rPr>
              <a:t>Play a flush, make the bowl oval, let the AI find a better design, all live in the browser</a:t>
            </a:r>
            <a:endParaRPr lang="en-US" sz="1600" dirty="0"/>
          </a:p>
        </p:txBody>
      </p:sp>
      <p:pic>
        <p:nvPicPr>
          <p:cNvPr id="4" name="Demo walkthrough video">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457200" y="1508760"/>
            <a:ext cx="7223760" cy="4514850"/>
          </a:xfrm>
          <a:prstGeom prst="rect">
            <a:avLst/>
          </a:prstGeom>
        </p:spPr>
      </p:pic>
      <p:sp>
        <p:nvSpPr>
          <p:cNvPr id="6" name="Moment 1 value"/>
          <p:cNvSpPr txBox="1"/>
          <p:nvPr/>
        </p:nvSpPr>
        <p:spPr>
          <a:xfrm>
            <a:off x="8229600" y="1508760"/>
            <a:ext cx="3502152" cy="502920"/>
          </a:xfrm>
          <a:prstGeom prst="rect">
            <a:avLst/>
          </a:prstGeom>
          <a:noFill/>
          <a:ln/>
        </p:spPr>
        <p:txBody>
          <a:bodyPr wrap="square" lIns="0" tIns="0" rIns="0" bIns="0" rtlCol="0" anchor="b"/>
          <a:lstStyle/>
          <a:p>
            <a:pPr indent="0" marL="0">
              <a:buNone/>
            </a:pPr>
            <a:r>
              <a:rPr lang="en-US" sz="2800" b="1" dirty="0">
                <a:solidFill>
                  <a:schemeClr val="tx1"/>
                </a:solidFill>
              </a:rPr>
              <a:t>88 % → 76 %</a:t>
            </a:r>
            <a:endParaRPr lang="en-US" sz="2800" dirty="0"/>
          </a:p>
        </p:txBody>
      </p:sp>
      <p:sp>
        <p:nvSpPr>
          <p:cNvPr id="7" name="Moment 1 label"/>
          <p:cNvSpPr txBox="1"/>
          <p:nvPr/>
        </p:nvSpPr>
        <p:spPr>
          <a:xfrm>
            <a:off x="8229600" y="2039112"/>
            <a:ext cx="3502152" cy="457200"/>
          </a:xfrm>
          <a:prstGeom prst="rect">
            <a:avLst/>
          </a:prstGeom>
          <a:noFill/>
          <a:ln/>
        </p:spPr>
        <p:txBody>
          <a:bodyPr wrap="square" lIns="0" tIns="0" rIns="0" bIns="0" rtlCol="0" anchor="t"/>
          <a:lstStyle/>
          <a:p>
            <a:pPr indent="0" marL="0">
              <a:buNone/>
            </a:pPr>
            <a:r>
              <a:rPr lang="en-US" sz="1400" dirty="0">
                <a:solidFill>
                  <a:schemeClr val="accent5"/>
                </a:solidFill>
              </a:rPr>
              <a:t>cleaning when the bowl turns oval, jets at the ends</a:t>
            </a:r>
            <a:endParaRPr lang="en-US" sz="1400" dirty="0"/>
          </a:p>
        </p:txBody>
      </p:sp>
      <p:sp>
        <p:nvSpPr>
          <p:cNvPr id="8" name="Moment 2 value"/>
          <p:cNvSpPr txBox="1"/>
          <p:nvPr/>
        </p:nvSpPr>
        <p:spPr>
          <a:xfrm>
            <a:off x="8229600" y="2624328"/>
            <a:ext cx="3502152" cy="502920"/>
          </a:xfrm>
          <a:prstGeom prst="rect">
            <a:avLst/>
          </a:prstGeom>
          <a:noFill/>
          <a:ln/>
        </p:spPr>
        <p:txBody>
          <a:bodyPr wrap="square" lIns="0" tIns="0" rIns="0" bIns="0" rtlCol="0" anchor="b"/>
          <a:lstStyle/>
          <a:p>
            <a:pPr indent="0" marL="0">
              <a:buNone/>
            </a:pPr>
            <a:r>
              <a:rPr lang="en-US" sz="2800" b="1" dirty="0">
                <a:solidFill>
                  <a:schemeClr val="tx1"/>
                </a:solidFill>
              </a:rPr>
              <a:t>76 % → 85 %</a:t>
            </a:r>
            <a:endParaRPr lang="en-US" sz="2800" dirty="0"/>
          </a:p>
        </p:txBody>
      </p:sp>
      <p:sp>
        <p:nvSpPr>
          <p:cNvPr id="9" name="Moment 2 label"/>
          <p:cNvSpPr txBox="1"/>
          <p:nvPr/>
        </p:nvSpPr>
        <p:spPr>
          <a:xfrm>
            <a:off x="8229600" y="3154680"/>
            <a:ext cx="3502152" cy="457200"/>
          </a:xfrm>
          <a:prstGeom prst="rect">
            <a:avLst/>
          </a:prstGeom>
          <a:noFill/>
          <a:ln/>
        </p:spPr>
        <p:txBody>
          <a:bodyPr wrap="square" lIns="0" tIns="0" rIns="0" bIns="0" rtlCol="0" anchor="t"/>
          <a:lstStyle/>
          <a:p>
            <a:pPr indent="0" marL="0">
              <a:buNone/>
            </a:pPr>
            <a:r>
              <a:rPr lang="en-US" sz="1400" dirty="0">
                <a:solidFill>
                  <a:schemeClr val="accent5"/>
                </a:solidFill>
              </a:rPr>
              <a:t>after moving the jets to the long sides</a:t>
            </a:r>
            <a:endParaRPr lang="en-US" sz="1400" dirty="0"/>
          </a:p>
        </p:txBody>
      </p:sp>
      <p:sp>
        <p:nvSpPr>
          <p:cNvPr id="10" name="Moment 3 value"/>
          <p:cNvSpPr txBox="1"/>
          <p:nvPr/>
        </p:nvSpPr>
        <p:spPr>
          <a:xfrm>
            <a:off x="8229600" y="3739896"/>
            <a:ext cx="3502152" cy="502920"/>
          </a:xfrm>
          <a:prstGeom prst="rect">
            <a:avLst/>
          </a:prstGeom>
          <a:noFill/>
          <a:ln/>
        </p:spPr>
        <p:txBody>
          <a:bodyPr wrap="square" lIns="0" tIns="0" rIns="0" bIns="0" rtlCol="0" anchor="b"/>
          <a:lstStyle/>
          <a:p>
            <a:pPr indent="0" marL="0">
              <a:buNone/>
            </a:pPr>
            <a:r>
              <a:rPr lang="en-US" sz="2800" b="1" dirty="0">
                <a:solidFill>
                  <a:schemeClr val="accent1"/>
                </a:solidFill>
              </a:rPr>
              <a:t>90 % at 4.0 L</a:t>
            </a:r>
            <a:endParaRPr lang="en-US" sz="2800" dirty="0"/>
          </a:p>
        </p:txBody>
      </p:sp>
      <p:sp>
        <p:nvSpPr>
          <p:cNvPr id="11" name="Moment 3 label"/>
          <p:cNvSpPr txBox="1"/>
          <p:nvPr/>
        </p:nvSpPr>
        <p:spPr>
          <a:xfrm>
            <a:off x="8229600" y="4270248"/>
            <a:ext cx="3502152" cy="457200"/>
          </a:xfrm>
          <a:prstGeom prst="rect">
            <a:avLst/>
          </a:prstGeom>
          <a:noFill/>
          <a:ln/>
        </p:spPr>
        <p:txBody>
          <a:bodyPr wrap="square" lIns="0" tIns="0" rIns="0" bIns="0" rtlCol="0" anchor="t"/>
          <a:lstStyle/>
          <a:p>
            <a:pPr indent="0" marL="0">
              <a:buNone/>
            </a:pPr>
            <a:r>
              <a:rPr lang="en-US" sz="1400" dirty="0">
                <a:solidFill>
                  <a:schemeClr val="accent5"/>
                </a:solidFill>
              </a:rPr>
              <a:t>AI lab design: more cleaning, 0.5 L less water</a:t>
            </a:r>
            <a:endParaRPr lang="en-US" sz="1400" dirty="0"/>
          </a:p>
        </p:txBody>
      </p:sp>
      <p:sp>
        <p:nvSpPr>
          <p:cNvPr id="12" name="Demo link card"/>
          <p:cNvSpPr/>
          <p:nvPr/>
        </p:nvSpPr>
        <p:spPr>
          <a:xfrm>
            <a:off x="8229600" y="4937760"/>
            <a:ext cx="3502152" cy="1033272"/>
          </a:xfrm>
          <a:prstGeom prst="roundRect">
            <a:avLst>
              <a:gd name="adj" fmla="val 7080"/>
            </a:avLst>
          </a:prstGeom>
          <a:solidFill>
            <a:schemeClr val="bg2"/>
          </a:solidFill>
          <a:ln w="12700">
            <a:solidFill>
              <a:schemeClr val="bg2"/>
            </a:solidFill>
            <a:prstDash val="solid"/>
          </a:ln>
        </p:spPr>
      </p:sp>
      <p:sp>
        <p:nvSpPr>
          <p:cNvPr id="13" name="Demo link"/>
          <p:cNvSpPr txBox="1"/>
          <p:nvPr/>
        </p:nvSpPr>
        <p:spPr>
          <a:xfrm>
            <a:off x="8412480" y="5047488"/>
            <a:ext cx="3136392" cy="804672"/>
          </a:xfrm>
          <a:prstGeom prst="rect">
            <a:avLst/>
          </a:prstGeom>
          <a:noFill/>
          <a:ln/>
        </p:spPr>
        <p:txBody>
          <a:bodyPr wrap="square" lIns="0" tIns="0" rIns="0" bIns="0" rtlCol="0" anchor="ctr"/>
          <a:lstStyle/>
          <a:p>
            <a:pPr indent="0" marL="0">
              <a:buNone/>
            </a:pPr>
            <a:r>
              <a:rPr lang="en-US" sz="1400" b="1" dirty="0">
                <a:solidFill>
                  <a:schemeClr val="tx1"/>
                </a:solidFill>
              </a:rPr>
              <a:t>Start it yourself</a:t>
            </a:r>
            <a:endParaRPr lang="en-US" sz="1400" dirty="0"/>
          </a:p>
          <a:p>
            <a:pPr indent="0" marL="0">
              <a:buNone/>
            </a:pPr>
            <a:r>
              <a:rPr lang="en-US" sz="1300" u="sng" dirty="0">
                <a:solidFill>
                  <a:schemeClr val="accent3"/>
                </a:solidFill>
                <a:hlinkClick r:id="rId5" invalidUrl="" action="" tgtFrame="" tooltip="Open the guided demo" history="1" highlightClick="0" endSnd="0">
                  <a:extLst>
                    <a:ext uri="{A12FA001-AC4F-418D-AE19-62706E023703}">
                      <ahyp:hlinkClr xmlns:ahyp="http://schemas.microsoft.com/office/drawing/2018/hyperlinkcolor" val="tx"/>
                    </a:ext>
                  </a:extLst>
                </a:hlinkClick>
              </a:rPr>
              <a:t>fintlp.github.io/jet-flush-model/#demo</a:t>
            </a:r>
            <a:endParaRPr lang="en-US" sz="1400" dirty="0"/>
          </a:p>
        </p:txBody>
      </p:sp>
      <p:sp>
        <p:nvSpPr>
          <p:cNvPr id="14" name="Demo caveat"/>
          <p:cNvSpPr txBox="1"/>
          <p:nvPr/>
        </p:nvSpPr>
        <p:spPr>
          <a:xfrm>
            <a:off x="457200" y="6089904"/>
            <a:ext cx="11274552" cy="256032"/>
          </a:xfrm>
          <a:prstGeom prst="rect">
            <a:avLst/>
          </a:prstGeom>
          <a:noFill/>
          <a:ln/>
        </p:spPr>
        <p:txBody>
          <a:bodyPr wrap="square" lIns="0" tIns="0" rIns="0" bIns="0" rtlCol="0" anchor="ctr"/>
          <a:lstStyle/>
          <a:p>
            <a:pPr indent="0" marL="0">
              <a:buNone/>
            </a:pPr>
            <a:r>
              <a:rPr lang="en-US" sz="1000" dirty="0">
                <a:solidFill>
                  <a:schemeClr val="accent5"/>
                </a:solidFill>
              </a:rPr>
              <a:t>Recorded from the live page on 19 October 2026. Illustrative estimates from the uncalibrated model.</a:t>
            </a:r>
            <a:endParaRPr lang="en-US" sz="1000" dirty="0"/>
          </a:p>
        </p:txBody>
      </p:sp>
      <p:sp>
        <p:nvSpPr>
          <p:cNvPr id="25" name="Slide Number Placeholder 0"/>
          <p:cNvSpPr>
            <a:spLocks noGrp="1"/>
          </p:cNvSpPr>
          <p:nvPr>
            <p:ph type="sldNum" sz="quarter" idx="4294967295"/>
          </p:nvPr>
        </p:nvSpPr>
        <p:spPr>
          <a:xfrm>
            <a:off x="11274552" y="6455664"/>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6F"/>
                </a:solidFill>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Jet Flush">
  <a:themeElements>
    <a:clrScheme name="Jet Flush">
      <a:dk1>
        <a:srgbClr val="13222A"/>
      </a:dk1>
      <a:lt1>
        <a:srgbClr val="FFFFFF"/>
      </a:lt1>
      <a:dk2>
        <a:srgbClr val="1D5F82"/>
      </a:dk2>
      <a:lt2>
        <a:srgbClr val="EDF1F2"/>
      </a:lt2>
      <a:accent1>
        <a:srgbClr val="17876C"/>
      </a:accent1>
      <a:accent2>
        <a:srgbClr val="3A8DB6"/>
      </a:accent2>
      <a:accent3>
        <a:srgbClr val="1F4FBF"/>
      </a:accent3>
      <a:accent4>
        <a:srgbClr val="8A5A2B"/>
      </a:accent4>
      <a:accent5>
        <a:srgbClr val="56676F"/>
      </a:accent5>
      <a:accent6>
        <a:srgbClr val="A86B0C"/>
      </a:accent6>
      <a:hlink>
        <a:srgbClr val="1F4FBF"/>
      </a:hlink>
      <a:folHlink>
        <a:srgbClr val="1D5F82"/>
      </a:folHlink>
    </a:clrScheme>
    <a:fontScheme name="Jet Flus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Tangential Jet Flush Model</dc:title>
  <dc:subject>PptxGenJS Presentation</dc:subject>
  <dc:creator>Peter Fintl</dc:creator>
  <cp:lastModifiedBy>Peter Fintl</cp:lastModifiedBy>
  <cp:revision>1</cp:revision>
  <dcterms:created xsi:type="dcterms:W3CDTF">2026-10-20T06:11:30Z</dcterms:created>
  <dcterms:modified xsi:type="dcterms:W3CDTF">2026-10-20T06:11:30Z</dcterms:modified>
</cp:coreProperties>
</file>