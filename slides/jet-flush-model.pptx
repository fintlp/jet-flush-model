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imulator" id="{f5213436-44f1-4ff5-21d6-7dd3161a1eb5}">
          <p14:sldIdLst>
            <p14:sldId id="25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video shows the first 8 seconds of a full 4.5 L flush at 0.6x speed.
Left view: bowl from above. Green wall areas have received enough shear to count as cleaned. The white dashed lines are the two jet films, and the pool shows the swirl.
Right view: section through cistern, bowl and trap with live water levels.
To show the live simulator on this slide instead of the video, install the Web Viewer add-in from the Office Store (Insert &gt; Get Add-ins), add it to the slide and enter https://fintlp.github.io/jet-flush-model/. It needs internet during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6858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r>
              <a:rPr lang="en-US" sz="3600" b="1" dirty="0">
                <a:solidFill>
                  <a:schemeClr val="tx1"/>
                </a:solidFill>
              </a:rPr>
              <a:t>Title</a:t>
            </a: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hyperlink" Target="https://fintlp.github.io/jet-flush-model/" TargetMode="External"/><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685800"/>
          </a:xfrm>
          <a:prstGeom prst="rect">
            <a:avLst/>
          </a:prstGeom>
          <a:noFill/>
          <a:ln/>
        </p:spPr>
        <p:txBody>
          <a:bodyPr wrap="square" lIns="0" tIns="0" rIns="0" bIns="0" rtlCol="0" anchor="t"/>
          <a:lstStyle/>
          <a:p>
            <a:pPr algn="l" indent="0" marL="0">
              <a:buNone/>
            </a:pPr>
            <a:r>
              <a:rPr lang="en-US" sz="3600" b="1" dirty="0">
                <a:solidFill>
                  <a:schemeClr val="tx1"/>
                </a:solidFill>
              </a:rPr>
              <a:t>Tangential jet flush model</a:t>
            </a:r>
            <a:endParaRPr lang="en-US" sz="3600" dirty="0"/>
          </a:p>
        </p:txBody>
      </p:sp>
      <p:sp>
        <p:nvSpPr>
          <p:cNvPr id="3" name="Text 1"/>
          <p:cNvSpPr txBox="1"/>
          <p:nvPr/>
        </p:nvSpPr>
        <p:spPr>
          <a:xfrm>
            <a:off x="457200" y="960120"/>
            <a:ext cx="11274552" cy="365760"/>
          </a:xfrm>
          <a:prstGeom prst="rect">
            <a:avLst/>
          </a:prstGeom>
          <a:noFill/>
          <a:ln/>
        </p:spPr>
        <p:txBody>
          <a:bodyPr wrap="square" lIns="0" tIns="0" rIns="0" bIns="0" rtlCol="0" anchor="ctr"/>
          <a:lstStyle/>
          <a:p>
            <a:pPr indent="0" marL="0">
              <a:buNone/>
            </a:pPr>
            <a:r>
              <a:rPr lang="en-US" sz="1600" dirty="0">
                <a:solidFill>
                  <a:schemeClr val="tx2"/>
                </a:solidFill>
              </a:rPr>
              <a:t>One flush computed in milliseconds instead of hours of free-surface CFD</a:t>
            </a:r>
            <a:endParaRPr lang="en-US" sz="1600" dirty="0"/>
          </a:p>
        </p:txBody>
      </p:sp>
      <p:pic>
        <p:nvPicPr>
          <p:cNvPr id="3" name="Flush playback vide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508760"/>
            <a:ext cx="6949440" cy="4730234"/>
          </a:xfrm>
          <a:prstGeom prst="rect">
            <a:avLst/>
          </a:prstGeom>
        </p:spPr>
      </p:pic>
      <p:sp>
        <p:nvSpPr>
          <p:cNvPr id="5" name="Stat 1 value"/>
          <p:cNvSpPr txBox="1"/>
          <p:nvPr/>
        </p:nvSpPr>
        <p:spPr>
          <a:xfrm>
            <a:off x="7955280" y="1508760"/>
            <a:ext cx="3776472" cy="621792"/>
          </a:xfrm>
          <a:prstGeom prst="rect">
            <a:avLst/>
          </a:prstGeom>
          <a:noFill/>
          <a:ln/>
        </p:spPr>
        <p:txBody>
          <a:bodyPr wrap="square" lIns="0" tIns="0" rIns="0" bIns="0" rtlCol="0" anchor="b"/>
          <a:lstStyle/>
          <a:p>
            <a:pPr indent="0" marL="0">
              <a:buNone/>
            </a:pPr>
            <a:r>
              <a:rPr lang="en-US" sz="4400" b="1" dirty="0">
                <a:solidFill>
                  <a:schemeClr val="accent1"/>
                </a:solidFill>
              </a:rPr>
              <a:t>87 %</a:t>
            </a:r>
            <a:endParaRPr lang="en-US" sz="4400" dirty="0"/>
          </a:p>
        </p:txBody>
      </p:sp>
      <p:sp>
        <p:nvSpPr>
          <p:cNvPr id="6" name="Stat 1 label"/>
          <p:cNvSpPr txBox="1"/>
          <p:nvPr/>
        </p:nvSpPr>
        <p:spPr>
          <a:xfrm>
            <a:off x="7955280" y="2148840"/>
            <a:ext cx="3776472" cy="411480"/>
          </a:xfrm>
          <a:prstGeom prst="rect">
            <a:avLst/>
          </a:prstGeom>
          <a:noFill/>
          <a:ln/>
        </p:spPr>
        <p:txBody>
          <a:bodyPr wrap="square" lIns="0" tIns="0" rIns="0" bIns="0" rtlCol="0" anchor="t"/>
          <a:lstStyle/>
          <a:p>
            <a:pPr indent="0" marL="0">
              <a:buNone/>
            </a:pPr>
            <a:r>
              <a:rPr lang="en-US" sz="1400" dirty="0">
                <a:solidFill>
                  <a:schemeClr val="accent5"/>
                </a:solidFill>
              </a:rPr>
              <a:t>of the bowl wall above the waterline cleaned</a:t>
            </a:r>
            <a:endParaRPr lang="en-US" sz="1400" dirty="0"/>
          </a:p>
        </p:txBody>
      </p:sp>
      <p:sp>
        <p:nvSpPr>
          <p:cNvPr id="7" name="Stat 2 value"/>
          <p:cNvSpPr txBox="1"/>
          <p:nvPr/>
        </p:nvSpPr>
        <p:spPr>
          <a:xfrm>
            <a:off x="7955280" y="2679192"/>
            <a:ext cx="3776472" cy="621792"/>
          </a:xfrm>
          <a:prstGeom prst="rect">
            <a:avLst/>
          </a:prstGeom>
          <a:noFill/>
          <a:ln/>
        </p:spPr>
        <p:txBody>
          <a:bodyPr wrap="square" lIns="0" tIns="0" rIns="0" bIns="0" rtlCol="0" anchor="b"/>
          <a:lstStyle/>
          <a:p>
            <a:pPr indent="0" marL="0">
              <a:buNone/>
            </a:pPr>
            <a:r>
              <a:rPr lang="en-US" sz="4400" b="1" dirty="0">
                <a:solidFill>
                  <a:schemeClr val="accent2"/>
                </a:solidFill>
              </a:rPr>
              <a:t>99 %</a:t>
            </a:r>
            <a:endParaRPr lang="en-US" sz="4400" dirty="0"/>
          </a:p>
        </p:txBody>
      </p:sp>
      <p:sp>
        <p:nvSpPr>
          <p:cNvPr id="8" name="Stat 2 label"/>
          <p:cNvSpPr txBox="1"/>
          <p:nvPr/>
        </p:nvSpPr>
        <p:spPr>
          <a:xfrm>
            <a:off x="7955280" y="3319272"/>
            <a:ext cx="3776472" cy="411480"/>
          </a:xfrm>
          <a:prstGeom prst="rect">
            <a:avLst/>
          </a:prstGeom>
          <a:noFill/>
          <a:ln/>
        </p:spPr>
        <p:txBody>
          <a:bodyPr wrap="square" lIns="0" tIns="0" rIns="0" bIns="0" rtlCol="0" anchor="t"/>
          <a:lstStyle/>
          <a:p>
            <a:pPr indent="0" marL="0">
              <a:buNone/>
            </a:pPr>
            <a:r>
              <a:rPr lang="en-US" sz="1400" dirty="0">
                <a:solidFill>
                  <a:schemeClr val="accent5"/>
                </a:solidFill>
              </a:rPr>
              <a:t>of a 250 g solid test load removed</a:t>
            </a:r>
            <a:endParaRPr lang="en-US" sz="1400" dirty="0"/>
          </a:p>
        </p:txBody>
      </p:sp>
      <p:sp>
        <p:nvSpPr>
          <p:cNvPr id="9" name="Stat 3 value"/>
          <p:cNvSpPr txBox="1"/>
          <p:nvPr/>
        </p:nvSpPr>
        <p:spPr>
          <a:xfrm>
            <a:off x="7955280" y="3849624"/>
            <a:ext cx="3776472" cy="621792"/>
          </a:xfrm>
          <a:prstGeom prst="rect">
            <a:avLst/>
          </a:prstGeom>
          <a:noFill/>
          <a:ln/>
        </p:spPr>
        <p:txBody>
          <a:bodyPr wrap="square" lIns="0" tIns="0" rIns="0" bIns="0" rtlCol="0" anchor="b"/>
          <a:lstStyle/>
          <a:p>
            <a:pPr indent="0" marL="0">
              <a:buNone/>
            </a:pPr>
            <a:r>
              <a:rPr lang="en-US" sz="4400" b="1" dirty="0">
                <a:solidFill>
                  <a:schemeClr val="tx1"/>
                </a:solidFill>
              </a:rPr>
              <a:t>4.5 L</a:t>
            </a:r>
            <a:endParaRPr lang="en-US" sz="4400" dirty="0"/>
          </a:p>
        </p:txBody>
      </p:sp>
      <p:sp>
        <p:nvSpPr>
          <p:cNvPr id="10" name="Stat 3 label"/>
          <p:cNvSpPr txBox="1"/>
          <p:nvPr/>
        </p:nvSpPr>
        <p:spPr>
          <a:xfrm>
            <a:off x="7955280" y="4489704"/>
            <a:ext cx="3776472" cy="411480"/>
          </a:xfrm>
          <a:prstGeom prst="rect">
            <a:avLst/>
          </a:prstGeom>
          <a:noFill/>
          <a:ln/>
        </p:spPr>
        <p:txBody>
          <a:bodyPr wrap="square" lIns="0" tIns="0" rIns="0" bIns="0" rtlCol="0" anchor="t"/>
          <a:lstStyle/>
          <a:p>
            <a:pPr indent="0" marL="0">
              <a:buNone/>
            </a:pPr>
            <a:r>
              <a:rPr lang="en-US" sz="1400" dirty="0">
                <a:solidFill>
                  <a:schemeClr val="accent5"/>
                </a:solidFill>
              </a:rPr>
              <a:t>water per flush, EU washdown, full flush</a:t>
            </a:r>
            <a:endParaRPr lang="en-US" sz="1400" dirty="0"/>
          </a:p>
        </p:txBody>
      </p:sp>
      <p:sp>
        <p:nvSpPr>
          <p:cNvPr id="11" name="Live link card"/>
          <p:cNvSpPr/>
          <p:nvPr/>
        </p:nvSpPr>
        <p:spPr>
          <a:xfrm>
            <a:off x="7955280" y="5074920"/>
            <a:ext cx="3776472" cy="1033272"/>
          </a:xfrm>
          <a:prstGeom prst="roundRect">
            <a:avLst>
              <a:gd name="adj" fmla="val 7080"/>
            </a:avLst>
          </a:prstGeom>
          <a:solidFill>
            <a:schemeClr val="bg2"/>
          </a:solidFill>
          <a:ln w="12700">
            <a:solidFill>
              <a:schemeClr val="bg2"/>
            </a:solidFill>
            <a:prstDash val="solid"/>
          </a:ln>
        </p:spPr>
      </p:sp>
      <p:sp>
        <p:nvSpPr>
          <p:cNvPr id="12" name="Live link"/>
          <p:cNvSpPr txBox="1"/>
          <p:nvPr/>
        </p:nvSpPr>
        <p:spPr>
          <a:xfrm>
            <a:off x="8138160" y="5184648"/>
            <a:ext cx="3410712" cy="804672"/>
          </a:xfrm>
          <a:prstGeom prst="rect">
            <a:avLst/>
          </a:prstGeom>
          <a:noFill/>
          <a:ln/>
        </p:spPr>
        <p:txBody>
          <a:bodyPr wrap="square" lIns="0" tIns="0" rIns="0" bIns="0" rtlCol="0" anchor="ctr"/>
          <a:lstStyle/>
          <a:p>
            <a:pPr indent="0" marL="0">
              <a:buNone/>
            </a:pPr>
            <a:r>
              <a:rPr lang="en-US" sz="1400" b="1" dirty="0">
                <a:solidFill>
                  <a:schemeClr val="tx1"/>
                </a:solidFill>
              </a:rPr>
              <a:t>Try it live</a:t>
            </a:r>
            <a:endParaRPr lang="en-US" sz="1400" dirty="0"/>
          </a:p>
          <a:p>
            <a:pPr indent="0" marL="0">
              <a:buNone/>
            </a:pPr>
            <a:r>
              <a:rPr lang="en-US" sz="1400" u="sng" dirty="0">
                <a:solidFill>
                  <a:schemeClr val="accent3"/>
                </a:solidFill>
                <a:hlinkClick r:id="rId4" invalidUrl="" action="" tgtFrame="" tooltip="Open the live simulator" history="1" highlightClick="0" endSnd="0">
                  <a:extLst>
                    <a:ext uri="{A12FA001-AC4F-418D-AE19-62706E023703}">
                      <ahyp:hlinkClr xmlns:ahyp="http://schemas.microsoft.com/office/drawing/2018/hyperlinkcolor" val="tx"/>
                    </a:ext>
                  </a:extLst>
                </a:hlinkClick>
              </a:rPr>
              <a:t>fintlp.github.io/jet-flush-model</a:t>
            </a:r>
            <a:endParaRPr lang="en-US" sz="1400" dirty="0"/>
          </a:p>
        </p:txBody>
      </p:sp>
      <p:sp>
        <p:nvSpPr>
          <p:cNvPr id="13" name="Model caveat"/>
          <p:cNvSpPr txBox="1"/>
          <p:nvPr/>
        </p:nvSpPr>
        <p:spPr>
          <a:xfrm>
            <a:off x="457200" y="6400800"/>
            <a:ext cx="11274552" cy="292608"/>
          </a:xfrm>
          <a:prstGeom prst="rect">
            <a:avLst/>
          </a:prstGeom>
          <a:noFill/>
          <a:ln/>
        </p:spPr>
        <p:txBody>
          <a:bodyPr wrap="square" lIns="0" tIns="0" rIns="0" bIns="0" rtlCol="0" anchor="ctr"/>
          <a:lstStyle/>
          <a:p>
            <a:pPr indent="0" marL="0">
              <a:buNone/>
            </a:pPr>
            <a:r>
              <a:rPr lang="en-US" sz="1000" dirty="0">
                <a:solidFill>
                  <a:schemeClr val="accent5"/>
                </a:solidFill>
              </a:rPr>
              <a:t>Reduced-order model. Coefficients are not yet calibrated against CFD or rig data, so results show trends between designs, not validated values.</a:t>
            </a:r>
            <a:endParaRPr lang="en-US" sz="1000" dirty="0"/>
          </a:p>
        </p:txBody>
      </p:sp>
    </p:spTree>
  </p:cSld>
  <p:clrMapOvr>
    <a:masterClrMapping/>
  </p:clrMapOvr>
</p:sld>
</file>

<file path=ppt/theme/theme1.xml><?xml version="1.0" encoding="utf-8"?>
<a:theme xmlns:a="http://schemas.openxmlformats.org/drawingml/2006/main" name="Jet Flush">
  <a:themeElements>
    <a:clrScheme name="Jet Flush">
      <a:dk1>
        <a:srgbClr val="13222A"/>
      </a:dk1>
      <a:lt1>
        <a:srgbClr val="FFFFFF"/>
      </a:lt1>
      <a:dk2>
        <a:srgbClr val="1D5F82"/>
      </a:dk2>
      <a:lt2>
        <a:srgbClr val="EDF1F2"/>
      </a:lt2>
      <a:accent1>
        <a:srgbClr val="17876C"/>
      </a:accent1>
      <a:accent2>
        <a:srgbClr val="3A8DB6"/>
      </a:accent2>
      <a:accent3>
        <a:srgbClr val="1F4FBF"/>
      </a:accent3>
      <a:accent4>
        <a:srgbClr val="8A5A2B"/>
      </a:accent4>
      <a:accent5>
        <a:srgbClr val="56676F"/>
      </a:accent5>
      <a:accent6>
        <a:srgbClr val="A86B0C"/>
      </a:accent6>
      <a:hlink>
        <a:srgbClr val="1F4FBF"/>
      </a:hlink>
      <a:folHlink>
        <a:srgbClr val="1D5F82"/>
      </a:folHlink>
    </a:clrScheme>
    <a:fontScheme name="Jet Flush">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Tangential Jet Flush Model</dc:title>
  <dc:subject>PptxGenJS Presentation</dc:subject>
  <dc:creator>Peter Fintl</dc:creator>
  <cp:lastModifiedBy>Peter Fintl</cp:lastModifiedBy>
  <cp:revision>1</cp:revision>
  <dcterms:created xsi:type="dcterms:W3CDTF">2026-10-19T09:53:05Z</dcterms:created>
  <dcterms:modified xsi:type="dcterms:W3CDTF">2026-10-19T09:53:05Z</dcterms:modified>
</cp:coreProperties>
</file>